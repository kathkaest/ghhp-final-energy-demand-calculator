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4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4011" r:id="rId1"/>
    <p:sldMasterId id="2147483996" r:id="rId2"/>
    <p:sldMasterId id="2147483981" r:id="rId3"/>
    <p:sldMasterId id="2147483937" r:id="rId4"/>
  </p:sldMasterIdLst>
  <p:notesMasterIdLst>
    <p:notesMasterId r:id="rId54"/>
  </p:notesMasterIdLst>
  <p:handoutMasterIdLst>
    <p:handoutMasterId r:id="rId55"/>
  </p:handoutMasterIdLst>
  <p:sldIdLst>
    <p:sldId id="342" r:id="rId5"/>
    <p:sldId id="292" r:id="rId6"/>
    <p:sldId id="343" r:id="rId7"/>
    <p:sldId id="356" r:id="rId8"/>
    <p:sldId id="335" r:id="rId9"/>
    <p:sldId id="344" r:id="rId10"/>
    <p:sldId id="357" r:id="rId11"/>
    <p:sldId id="358" r:id="rId12"/>
    <p:sldId id="359" r:id="rId13"/>
    <p:sldId id="360" r:id="rId14"/>
    <p:sldId id="361" r:id="rId15"/>
    <p:sldId id="362" r:id="rId16"/>
    <p:sldId id="363" r:id="rId17"/>
    <p:sldId id="364" r:id="rId18"/>
    <p:sldId id="365" r:id="rId19"/>
    <p:sldId id="366" r:id="rId20"/>
    <p:sldId id="367" r:id="rId21"/>
    <p:sldId id="351" r:id="rId22"/>
    <p:sldId id="352" r:id="rId23"/>
    <p:sldId id="347" r:id="rId24"/>
    <p:sldId id="368" r:id="rId25"/>
    <p:sldId id="369" r:id="rId26"/>
    <p:sldId id="374" r:id="rId27"/>
    <p:sldId id="370" r:id="rId28"/>
    <p:sldId id="371" r:id="rId29"/>
    <p:sldId id="372" r:id="rId30"/>
    <p:sldId id="373" r:id="rId31"/>
    <p:sldId id="375" r:id="rId32"/>
    <p:sldId id="376" r:id="rId33"/>
    <p:sldId id="378" r:id="rId34"/>
    <p:sldId id="377" r:id="rId35"/>
    <p:sldId id="379" r:id="rId36"/>
    <p:sldId id="381" r:id="rId37"/>
    <p:sldId id="382" r:id="rId38"/>
    <p:sldId id="380" r:id="rId39"/>
    <p:sldId id="383" r:id="rId40"/>
    <p:sldId id="384" r:id="rId41"/>
    <p:sldId id="385" r:id="rId42"/>
    <p:sldId id="353" r:id="rId43"/>
    <p:sldId id="386" r:id="rId44"/>
    <p:sldId id="387" r:id="rId45"/>
    <p:sldId id="388" r:id="rId46"/>
    <p:sldId id="389" r:id="rId47"/>
    <p:sldId id="390" r:id="rId48"/>
    <p:sldId id="391" r:id="rId49"/>
    <p:sldId id="392" r:id="rId50"/>
    <p:sldId id="345" r:id="rId51"/>
    <p:sldId id="346" r:id="rId52"/>
    <p:sldId id="327" r:id="rId5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2273" userDrawn="1">
          <p15:clr>
            <a:srgbClr val="A4A3A4"/>
          </p15:clr>
        </p15:guide>
        <p15:guide id="3" orient="horz" pos="4178" userDrawn="1">
          <p15:clr>
            <a:srgbClr val="A4A3A4"/>
          </p15:clr>
        </p15:guide>
        <p15:guide id="4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A1D1"/>
    <a:srgbClr val="C32B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5" autoAdjust="0"/>
    <p:restoredTop sz="86486"/>
  </p:normalViewPr>
  <p:slideViewPr>
    <p:cSldViewPr snapToGrid="0" snapToObjects="1" showGuides="1">
      <p:cViewPr varScale="1">
        <p:scale>
          <a:sx n="92" d="100"/>
          <a:sy n="92" d="100"/>
        </p:scale>
        <p:origin x="600" y="84"/>
      </p:cViewPr>
      <p:guideLst>
        <p:guide orient="horz" pos="2273"/>
        <p:guide orient="horz" pos="4178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 showGuides="1">
      <p:cViewPr varScale="1">
        <p:scale>
          <a:sx n="136" d="100"/>
          <a:sy n="136" d="100"/>
        </p:scale>
        <p:origin x="4680" y="21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openxmlformats.org/officeDocument/2006/relationships/customXml" Target="../customXml/item2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notesMaster" Target="notesMasters/notesMaster1.xml"/><Relationship Id="rId62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viewProps" Target="view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customXml" Target="../customXml/item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6332D2D1-6FEB-B641-BBEC-98E11D62E5A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D5D1645-F1F4-A840-87D5-28FD3D99949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de-DE"/>
              <a:t>22.03.21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0253904-862B-0844-BB68-16EB7F1CD53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96B9B7C-5D16-E446-B129-2AF25EE72D8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CFDE75-A61B-FA4B-8AC0-A70B5059C9B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1691384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Calibri" panose="020F050202020403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Calibri" panose="020F0502020204030204" pitchFamily="34" charset="0"/>
              </a:defRPr>
            </a:lvl1pPr>
          </a:lstStyle>
          <a:p>
            <a:r>
              <a:rPr lang="de-DE"/>
              <a:t>22.03.21</a:t>
            </a:r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Calibri" panose="020F050202020403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Calibri" panose="020F0502020204030204" pitchFamily="34" charset="0"/>
              </a:defRPr>
            </a:lvl1pPr>
          </a:lstStyle>
          <a:p>
            <a:fld id="{5A2FA115-7FEE-874E-A5F5-BBB3BE5F192D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23459635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2FA115-7FEE-874E-A5F5-BBB3BE5F192D}" type="slidenum">
              <a:rPr lang="de-DE" smtClean="0"/>
              <a:pPr/>
              <a:t>1</a:t>
            </a:fld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1850838-C07A-A348-8666-DCF365895E5F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de-DE" dirty="0"/>
              <a:t>22.03.21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977EF12-7ECD-D543-BB16-75B55D8E522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444176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Heating limit temperature(C°), Length of the heating period(Days/Year), Correction factor for heating period, average outdoor temperature(C°), Global radiation heating period(kWh/m2a)</a:t>
            </a:r>
          </a:p>
          <a:p>
            <a:r>
              <a:rPr lang="en-GB" dirty="0"/>
              <a:t>From IWU table we take the average of radiation from station at S, N, O/W to calculate </a:t>
            </a:r>
            <a:r>
              <a:rPr lang="de-DE" sz="1200" b="1" i="0" u="none" strike="noStrike" dirty="0" err="1">
                <a:solidFill>
                  <a:srgbClr val="000000"/>
                </a:solidFill>
                <a:effectLst/>
                <a:latin typeface="Symbol" panose="05050102010706020507" pitchFamily="18" charset="2"/>
              </a:rPr>
              <a:t>J</a:t>
            </a:r>
            <a:r>
              <a:rPr lang="de-DE" sz="1200" b="1" i="0" u="none" strike="noStrike" baseline="-2500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Strahlung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de-DE"/>
              <a:t>22.03.21</a:t>
            </a:r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2FA115-7FEE-874E-A5F5-BBB3BE5F192D}" type="slidenum">
              <a:rPr lang="de-DE" smtClean="0"/>
              <a:pPr/>
              <a:t>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194710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de-DE"/>
              <a:t>22.03.21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2FA115-7FEE-874E-A5F5-BBB3BE5F192D}" type="slidenum">
              <a:rPr lang="de-DE" smtClean="0"/>
              <a:pPr/>
              <a:t>23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194751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watts per square meter per degree Kelvin (W/(m²·K))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de-DE"/>
              <a:t>22.03.21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2FA115-7FEE-874E-A5F5-BBB3BE5F192D}" type="slidenum">
              <a:rPr lang="de-DE" smtClean="0"/>
              <a:pPr/>
              <a:t>25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243653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watts per square meter per degree Kelvin (W/(m²·K))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de-DE"/>
              <a:t>22.03.21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2FA115-7FEE-874E-A5F5-BBB3BE5F192D}" type="slidenum">
              <a:rPr lang="de-DE" smtClean="0"/>
              <a:pPr/>
              <a:t>26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43115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de-DE"/>
              <a:t>22.03.21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2FA115-7FEE-874E-A5F5-BBB3BE5F192D}" type="slidenum">
              <a:rPr lang="de-DE" smtClean="0"/>
              <a:pPr/>
              <a:t>27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943394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de-DE"/>
              <a:t>22.03.21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2FA115-7FEE-874E-A5F5-BBB3BE5F192D}" type="slidenum">
              <a:rPr lang="de-DE" smtClean="0"/>
              <a:pPr/>
              <a:t>28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130516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de-DE"/>
              <a:t>22.03.21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2FA115-7FEE-874E-A5F5-BBB3BE5F192D}" type="slidenum">
              <a:rPr lang="de-DE" smtClean="0"/>
              <a:pPr/>
              <a:t>29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832485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de-DE"/>
              <a:t>22.03.21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2FA115-7FEE-874E-A5F5-BBB3BE5F192D}" type="slidenum">
              <a:rPr lang="de-DE" smtClean="0"/>
              <a:pPr/>
              <a:t>30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036547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1" dirty="0"/>
              <a:t>Surface floor parameter(</a:t>
            </a:r>
            <a:r>
              <a:rPr lang="en-GB" sz="1200" b="0" i="1" dirty="0" err="1"/>
              <a:t>p_fb</a:t>
            </a:r>
            <a:r>
              <a:rPr lang="en-GB" sz="1200" b="0" i="1" dirty="0"/>
              <a:t>=1.33)</a:t>
            </a:r>
          </a:p>
          <a:p>
            <a:r>
              <a:rPr lang="de-DE" dirty="0" err="1"/>
              <a:t>Window</a:t>
            </a:r>
            <a:r>
              <a:rPr lang="de-DE" dirty="0"/>
              <a:t> </a:t>
            </a:r>
            <a:r>
              <a:rPr lang="de-DE" dirty="0" err="1"/>
              <a:t>surface</a:t>
            </a:r>
            <a:r>
              <a:rPr lang="de-DE" dirty="0"/>
              <a:t> </a:t>
            </a:r>
            <a:r>
              <a:rPr lang="de-DE" dirty="0" err="1"/>
              <a:t>parameter</a:t>
            </a:r>
            <a:r>
              <a:rPr lang="en-GB" sz="1200" b="0" i="1" dirty="0"/>
              <a:t> (</a:t>
            </a:r>
            <a:r>
              <a:rPr lang="en-GB" sz="1200" b="0" i="1" dirty="0" err="1"/>
              <a:t>p_fe</a:t>
            </a:r>
            <a:r>
              <a:rPr lang="en-GB" sz="1200" b="0" i="1" dirty="0"/>
              <a:t> =0.2)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Building envelope </a:t>
            </a:r>
            <a:r>
              <a:rPr lang="en-GB" sz="1600" b="0" dirty="0"/>
              <a:t>- </a:t>
            </a:r>
            <a:r>
              <a:rPr lang="en-GB" sz="1200" dirty="0"/>
              <a:t>total surface area of all the exterior elements of a building that separate the interior spaces from the outside environment</a:t>
            </a:r>
            <a:endParaRPr lang="en-GB" sz="1600" b="0" dirty="0"/>
          </a:p>
          <a:p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de-DE"/>
              <a:t>22.03.21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2FA115-7FEE-874E-A5F5-BBB3BE5F192D}" type="slidenum">
              <a:rPr lang="de-DE" smtClean="0"/>
              <a:pPr/>
              <a:t>31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867940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Thermal bridges are areas where the insulation is not continuous or where there are gaps, resulting in higher thermal conductivity compared to the surrounding insulated areas.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de-DE"/>
              <a:t>22.03.21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2FA115-7FEE-874E-A5F5-BBB3BE5F192D}" type="slidenum">
              <a:rPr lang="de-DE" smtClean="0"/>
              <a:pPr/>
              <a:t>32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628451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Thermal bridges are areas where the insulation is not continuous or where there are gaps, resulting in higher thermal conductivity compared to the surrounding insulated areas.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de-DE"/>
              <a:t>22.03.21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2FA115-7FEE-874E-A5F5-BBB3BE5F192D}" type="slidenum">
              <a:rPr lang="de-DE" smtClean="0"/>
              <a:pPr/>
              <a:t>33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462679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Thermal bridges are areas where the insulation is not continuous or where there are gaps, resulting in higher thermal conductivity compared to the surrounding insulated areas.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de-DE"/>
              <a:t>22.03.21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2FA115-7FEE-874E-A5F5-BBB3BE5F192D}" type="slidenum">
              <a:rPr lang="de-DE" smtClean="0"/>
              <a:pPr/>
              <a:t>34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632244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de-DE"/>
              <a:t>22.03.21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2FA115-7FEE-874E-A5F5-BBB3BE5F192D}" type="slidenum">
              <a:rPr lang="de-DE" smtClean="0"/>
              <a:pPr/>
              <a:t>35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570126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de-DE"/>
              <a:t>22.03.21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2FA115-7FEE-874E-A5F5-BBB3BE5F192D}" type="slidenum">
              <a:rPr lang="de-DE" smtClean="0"/>
              <a:pPr/>
              <a:t>36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490450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izenplatzhalt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GB" sz="1200" b="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Energy reference area: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smtClean="0"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sz="1200" b="0" i="1" smtClean="0">
                            <a:effectLst/>
                            <a:latin typeface="Cambria Math" panose="02040503050406030204" pitchFamily="18" charset="0"/>
                          </a:rPr>
                          <m:t>𝐸𝐵</m:t>
                        </m:r>
                      </m:sub>
                    </m:sSub>
                  </m:oMath>
                </a14:m>
                <a:endParaRPr lang="de-DE" dirty="0"/>
              </a:p>
            </p:txBody>
          </p:sp>
        </mc:Choice>
        <mc:Fallback xmlns="">
          <p:sp>
            <p:nvSpPr>
              <p:cNvPr id="3" name="Notizenplatzhalt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GB" sz="1200" b="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Energy reference area: </a:t>
                </a:r>
                <a:r>
                  <a:rPr lang="en-GB" sz="1200" b="0" i="0">
                    <a:effectLst/>
                    <a:latin typeface="Cambria Math" panose="02040503050406030204" pitchFamily="18" charset="0"/>
                  </a:rPr>
                  <a:t>𝐴_𝐸𝐵</a:t>
                </a:r>
                <a:endParaRPr lang="de-DE" dirty="0"/>
              </a:p>
            </p:txBody>
          </p:sp>
        </mc:Fallback>
      </mc:AlternateContent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de-DE"/>
              <a:t>22.03.21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2FA115-7FEE-874E-A5F5-BBB3BE5F192D}" type="slidenum">
              <a:rPr lang="de-DE" smtClean="0"/>
              <a:pPr/>
              <a:t>37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572672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izenplatzhalt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GB" sz="1200" b="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Energy reference area: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smtClean="0"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sz="1200" b="0" i="1" smtClean="0">
                            <a:effectLst/>
                            <a:latin typeface="Cambria Math" panose="02040503050406030204" pitchFamily="18" charset="0"/>
                          </a:rPr>
                          <m:t>𝐸𝐵</m:t>
                        </m:r>
                      </m:sub>
                    </m:sSub>
                  </m:oMath>
                </a14:m>
                <a:endParaRPr lang="de-DE" dirty="0"/>
              </a:p>
            </p:txBody>
          </p:sp>
        </mc:Choice>
        <mc:Fallback xmlns="">
          <p:sp>
            <p:nvSpPr>
              <p:cNvPr id="3" name="Notizenplatzhalt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GB" sz="1200" b="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Energy reference area: </a:t>
                </a:r>
                <a:r>
                  <a:rPr lang="en-GB" sz="1200" b="0" i="0">
                    <a:effectLst/>
                    <a:latin typeface="Cambria Math" panose="02040503050406030204" pitchFamily="18" charset="0"/>
                  </a:rPr>
                  <a:t>𝐴_𝐸𝐵</a:t>
                </a:r>
                <a:endParaRPr lang="de-DE" dirty="0"/>
              </a:p>
            </p:txBody>
          </p:sp>
        </mc:Fallback>
      </mc:AlternateContent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de-DE"/>
              <a:t>22.03.21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2FA115-7FEE-874E-A5F5-BBB3BE5F192D}" type="slidenum">
              <a:rPr lang="de-DE" smtClean="0"/>
              <a:pPr/>
              <a:t>38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330257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dirty="0"/>
              <a:t>Utilisation rate of heat supply </a:t>
            </a:r>
            <a:r>
              <a:rPr lang="en-GB" b="0" dirty="0" err="1"/>
              <a:t>q_W</a:t>
            </a:r>
            <a:r>
              <a:rPr lang="en-GB" b="0" dirty="0"/>
              <a:t> =12.5</a:t>
            </a:r>
          </a:p>
          <a:p>
            <a:r>
              <a:rPr lang="en-GB" b="0" dirty="0"/>
              <a:t>Alpha_wg1 = 0.6 if you use central  solar thermal system used for warm water otherwise 1</a:t>
            </a:r>
          </a:p>
          <a:p>
            <a:r>
              <a:rPr lang="en-GB" b="0" dirty="0"/>
              <a:t>Alpha_wg2 = 1- Alpha_wg1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de-DE"/>
              <a:t>22.03.21</a:t>
            </a:r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2FA115-7FEE-874E-A5F5-BBB3BE5F192D}" type="slidenum">
              <a:rPr lang="de-DE" smtClean="0"/>
              <a:pPr/>
              <a:t>43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662626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dirty="0"/>
              <a:t>Alpha_hg1 = 0.8 if </a:t>
            </a:r>
            <a:r>
              <a:rPr lang="en-GB" dirty="0"/>
              <a:t>Type of heat generation of heat pump is Heat pump with boiler/heater</a:t>
            </a:r>
            <a:r>
              <a:rPr lang="en-GB" b="0" dirty="0"/>
              <a:t> otherwise 1</a:t>
            </a:r>
          </a:p>
          <a:p>
            <a:r>
              <a:rPr lang="en-GB" b="0" dirty="0"/>
              <a:t>Alpha_hg2 = 1- Alpha_hg1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de-DE"/>
              <a:t>22.03.21</a:t>
            </a:r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2FA115-7FEE-874E-A5F5-BBB3BE5F192D}" type="slidenum">
              <a:rPr lang="de-DE" smtClean="0"/>
              <a:pPr/>
              <a:t>44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707230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de-DE"/>
              <a:t>22.03.21</a:t>
            </a:r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2FA115-7FEE-874E-A5F5-BBB3BE5F192D}" type="slidenum">
              <a:rPr lang="de-DE" smtClean="0"/>
              <a:pPr/>
              <a:t>45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838506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P_wwet</a:t>
            </a:r>
            <a:r>
              <a:rPr lang="en-GB" dirty="0"/>
              <a:t> – is price for hot water generator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de-DE"/>
              <a:t>22.03.21</a:t>
            </a:r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2FA115-7FEE-874E-A5F5-BBB3BE5F192D}" type="slidenum">
              <a:rPr lang="de-DE" smtClean="0"/>
              <a:pPr/>
              <a:t>46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871799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allgeme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C9065DB-D0E1-424B-9B95-96E9FE1575D9}"/>
              </a:ext>
            </a:extLst>
          </p:cNvPr>
          <p:cNvSpPr txBox="1">
            <a:spLocks/>
          </p:cNvSpPr>
          <p:nvPr userDrawn="1"/>
        </p:nvSpPr>
        <p:spPr>
          <a:xfrm>
            <a:off x="766762" y="5057554"/>
            <a:ext cx="7047260" cy="963096"/>
          </a:xfrm>
          <a:prstGeom prst="rect">
            <a:avLst/>
          </a:prstGeom>
        </p:spPr>
        <p:txBody>
          <a:bodyPr vert="horz" lIns="0" tIns="0" rIns="0" bIns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b="1" i="0" kern="1200" baseline="0">
                <a:solidFill>
                  <a:schemeClr val="tx1"/>
                </a:solidFill>
                <a:latin typeface="InfoOTText Semibold" panose="02000506030000020004" pitchFamily="2" charset="77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0" i="0" dirty="0">
              <a:latin typeface="Calibri" panose="020F0502020204030204" pitchFamily="34" charset="0"/>
            </a:endParaRPr>
          </a:p>
          <a:p>
            <a:endParaRPr lang="en-US" sz="1800" b="0" i="0" dirty="0">
              <a:latin typeface="Calibri" panose="020F0502020204030204" pitchFamily="34" charset="0"/>
            </a:endParaRP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8749B178-7B7C-9D4A-9212-CFB4435CD4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447" y="1280130"/>
            <a:ext cx="7058025" cy="1074759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latin typeface="+mj-lt"/>
              </a:defRPr>
            </a:lvl1pPr>
          </a:lstStyle>
          <a:p>
            <a:r>
              <a:rPr lang="de-DE" dirty="0"/>
              <a:t>TITEL DER PRÄSENTATION</a:t>
            </a:r>
            <a:br>
              <a:rPr lang="de-DE" dirty="0"/>
            </a:br>
            <a:r>
              <a:rPr lang="de-DE" dirty="0"/>
              <a:t>HEADLINE ARIAL 32PT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B6E39D74-307F-0747-9E5B-AF30215C47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447" y="2354890"/>
            <a:ext cx="7040909" cy="10795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tIns="0" rIns="0" bIns="0"/>
          <a:lstStyle>
            <a:lvl1pPr marL="0" indent="0">
              <a:buNone/>
              <a:defRPr sz="2400" b="0" i="0">
                <a:solidFill>
                  <a:schemeClr val="tx2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de-DE" dirty="0"/>
              <a:t>Untertitel der Präsentation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7D63204-A0E8-4D46-9521-1F7F73B263C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4868863"/>
            <a:ext cx="5257800" cy="1439862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2000" b="0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de-DE" dirty="0"/>
              <a:t>Referent/in</a:t>
            </a:r>
          </a:p>
          <a:p>
            <a:r>
              <a:rPr lang="de-DE" dirty="0"/>
              <a:t>Referent/in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099F2E0-6CD2-D64D-947F-5ABCBE99D0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12602" y="505876"/>
            <a:ext cx="3743922" cy="989773"/>
          </a:xfrm>
          <a:prstGeom prst="rect">
            <a:avLst/>
          </a:prstGeom>
        </p:spPr>
      </p:pic>
      <p:sp>
        <p:nvSpPr>
          <p:cNvPr id="8" name="Datumsplatzhalter 3">
            <a:extLst>
              <a:ext uri="{FF2B5EF4-FFF2-40B4-BE49-F238E27FC236}">
                <a16:creationId xmlns:a16="http://schemas.microsoft.com/office/drawing/2014/main" id="{17A8345B-C4A2-FF44-89B4-0907FA09C8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4447" y="6397467"/>
            <a:ext cx="1649666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4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C7D60223-B4E2-7E41-B2B3-8A61D9854936}" type="datetime1">
              <a:rPr lang="de-DE" smtClean="0"/>
              <a:t>24.06.2024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55671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C77AC8C-1AEB-B340-BF06-B1D05DFDA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55E40-7A0E-0E4B-B8F7-A21D49F5003D}" type="datetime1">
              <a:rPr lang="de-DE" smtClean="0"/>
              <a:t>24.06.2024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46063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C770EC2-5A6A-3945-B299-AF0B3B206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F274A-1DAB-E748-ADE4-151B07CFBF25}" type="datetime1">
              <a:rPr lang="de-DE" smtClean="0"/>
              <a:t>24.06.2024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06162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_Bild_fre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winkliges Dreieck 9">
            <a:extLst>
              <a:ext uri="{FF2B5EF4-FFF2-40B4-BE49-F238E27FC236}">
                <a16:creationId xmlns:a16="http://schemas.microsoft.com/office/drawing/2014/main" id="{F0458923-1157-E94A-94B7-E4D6D79A7411}"/>
              </a:ext>
            </a:extLst>
          </p:cNvPr>
          <p:cNvSpPr/>
          <p:nvPr userDrawn="1"/>
        </p:nvSpPr>
        <p:spPr>
          <a:xfrm>
            <a:off x="0" y="3070127"/>
            <a:ext cx="9319214" cy="3789362"/>
          </a:xfrm>
          <a:prstGeom prst="rtTriangle">
            <a:avLst/>
          </a:prstGeom>
          <a:gradFill>
            <a:gsLst>
              <a:gs pos="0">
                <a:schemeClr val="tx2">
                  <a:alpha val="23000"/>
                </a:schemeClr>
              </a:gs>
              <a:gs pos="100000">
                <a:schemeClr val="bg2">
                  <a:alpha val="63000"/>
                  <a:lumMod val="80000"/>
                  <a:lumOff val="2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65B2B47D-2F07-1B4E-98A4-F5D87E49FE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0400" y="1989138"/>
            <a:ext cx="7054388" cy="927682"/>
          </a:xfrm>
          <a:prstGeom prst="rect">
            <a:avLst/>
          </a:prstGeom>
        </p:spPr>
        <p:txBody>
          <a:bodyPr vert="horz" lIns="0" tIns="0" rIns="0" bIns="0" anchor="t" anchorCtr="0">
            <a:noAutofit/>
          </a:bodyPr>
          <a:lstStyle>
            <a:lvl1pPr marL="0" indent="0" algn="l">
              <a:tabLst/>
              <a:defRPr sz="3200" b="1" i="0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 der </a:t>
            </a:r>
            <a:br>
              <a:rPr lang="de-DE" dirty="0"/>
            </a:br>
            <a:r>
              <a:rPr lang="de-DE" dirty="0"/>
              <a:t>Präsentation</a:t>
            </a:r>
            <a:br>
              <a:rPr lang="de-DE" dirty="0"/>
            </a:br>
            <a:endParaRPr lang="en-US" dirty="0"/>
          </a:p>
        </p:txBody>
      </p:sp>
      <p:sp>
        <p:nvSpPr>
          <p:cNvPr id="21" name="Textplatzhalter 8">
            <a:extLst>
              <a:ext uri="{FF2B5EF4-FFF2-40B4-BE49-F238E27FC236}">
                <a16:creationId xmlns:a16="http://schemas.microsoft.com/office/drawing/2014/main" id="{311FFC30-815A-9E40-BE52-E671F9E43B2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0400" y="3078862"/>
            <a:ext cx="7040909" cy="143986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i="0">
                <a:solidFill>
                  <a:schemeClr val="tx2"/>
                </a:solidFill>
                <a:latin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Untertitel des Kapitels/freies Bild</a:t>
            </a:r>
          </a:p>
        </p:txBody>
      </p:sp>
      <p:sp>
        <p:nvSpPr>
          <p:cNvPr id="31" name="Textplatzhalter 30">
            <a:extLst>
              <a:ext uri="{FF2B5EF4-FFF2-40B4-BE49-F238E27FC236}">
                <a16:creationId xmlns:a16="http://schemas.microsoft.com/office/drawing/2014/main" id="{B84D64E4-7081-DD47-A383-429F876C37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9938" y="4868863"/>
            <a:ext cx="3454400" cy="1439862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ts val="16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0" i="0">
                <a:latin typeface="Calibri" panose="020F0502020204030204" pitchFamily="34" charset="0"/>
              </a:defRPr>
            </a:lvl1pPr>
          </a:lstStyle>
          <a:p>
            <a:pPr lvl="0"/>
            <a:r>
              <a:rPr lang="de-DE" dirty="0"/>
              <a:t>Referent/in</a:t>
            </a:r>
          </a:p>
          <a:p>
            <a:pPr lvl="0"/>
            <a:r>
              <a:rPr lang="de-DE" dirty="0"/>
              <a:t>Referent/in</a:t>
            </a:r>
          </a:p>
          <a:p>
            <a:pPr lvl="0"/>
            <a:r>
              <a:rPr lang="de-DE" dirty="0"/>
              <a:t>Referent/in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B8DB94FB-9637-5D4A-AB7D-78C177C10E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4611" y="555492"/>
            <a:ext cx="2696700" cy="712921"/>
          </a:xfrm>
          <a:prstGeom prst="rect">
            <a:avLst/>
          </a:prstGeom>
        </p:spPr>
      </p:pic>
      <p:sp>
        <p:nvSpPr>
          <p:cNvPr id="7" name="Datumsplatzhalter 3">
            <a:extLst>
              <a:ext uri="{FF2B5EF4-FFF2-40B4-BE49-F238E27FC236}">
                <a16:creationId xmlns:a16="http://schemas.microsoft.com/office/drawing/2014/main" id="{F1CED9D5-EA5B-1646-B3A5-34F29ECD53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4447" y="6397467"/>
            <a:ext cx="1649666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4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6923581B-6706-044D-B26B-E405284E799E}" type="datetime1">
              <a:rPr lang="de-DE" smtClean="0"/>
              <a:t>24.06.2024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75358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Text ein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80A3DC56-D4A2-1949-AEFF-6C8B1FC933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81349" y="6397467"/>
            <a:ext cx="1649666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solidFill>
                  <a:srgbClr val="10A1D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de-DE" dirty="0"/>
              <a:t> </a:t>
            </a:r>
            <a:r>
              <a:rPr lang="de-DE" sz="1400" dirty="0"/>
              <a:t>Seite </a:t>
            </a:r>
            <a:fld id="{1009E830-1A31-2046-A084-D1E9F200294C}" type="slidenum">
              <a:rPr lang="de-DE" sz="1400" smtClean="0"/>
              <a:pPr/>
              <a:t>‹#›</a:t>
            </a:fld>
            <a:endParaRPr lang="de-DE" sz="1400" dirty="0"/>
          </a:p>
        </p:txBody>
      </p:sp>
      <p:sp>
        <p:nvSpPr>
          <p:cNvPr id="9" name="Datumsplatzhalter 2">
            <a:extLst>
              <a:ext uri="{FF2B5EF4-FFF2-40B4-BE49-F238E27FC236}">
                <a16:creationId xmlns:a16="http://schemas.microsoft.com/office/drawing/2014/main" id="{5F4F7959-A451-C04B-9EAF-12F0D56C28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4447" y="6397467"/>
            <a:ext cx="1649666" cy="365125"/>
          </a:xfrm>
          <a:prstGeom prst="rect">
            <a:avLst/>
          </a:prstGeom>
        </p:spPr>
        <p:txBody>
          <a:bodyPr lIns="0" rIns="0"/>
          <a:lstStyle>
            <a:lvl1pPr>
              <a:defRPr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59543444-5B5D-ED4A-A3A9-AC11216A731C}" type="datetime1">
              <a:rPr lang="de-DE" sz="1400" smtClean="0"/>
              <a:t>24.06.2024</a:t>
            </a:fld>
            <a:endParaRPr lang="de-DE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Fußzeilenplatzhalter 3">
            <a:extLst>
              <a:ext uri="{FF2B5EF4-FFF2-40B4-BE49-F238E27FC236}">
                <a16:creationId xmlns:a16="http://schemas.microsoft.com/office/drawing/2014/main" id="{A21383D9-618F-0942-80C0-C411496D7C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76352" y="6397467"/>
            <a:ext cx="5248435" cy="365125"/>
          </a:xfrm>
          <a:prstGeom prst="rect">
            <a:avLst/>
          </a:prstGeom>
        </p:spPr>
        <p:txBody>
          <a:bodyPr lIns="0" rIns="0"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r>
              <a:rPr lang="de-DE">
                <a:latin typeface="Calibri" panose="020F0502020204030204" pitchFamily="34" charset="0"/>
                <a:cs typeface="Calibri" panose="020F0502020204030204" pitchFamily="34" charset="0"/>
              </a:rPr>
              <a:t>Bitte Fußzeile definieren</a:t>
            </a:r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0C0177A-0EE6-E244-93CE-28BD9C4CC7C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0400" y="549275"/>
            <a:ext cx="8854614" cy="358775"/>
          </a:xfrm>
          <a:prstGeom prst="rect">
            <a:avLst/>
          </a:prstGeom>
        </p:spPr>
        <p:txBody>
          <a:bodyPr vert="horz" lIns="0" tIns="0" rIns="0" bIns="0" anchor="t" anchorCtr="0">
            <a:noAutofit/>
          </a:bodyPr>
          <a:lstStyle>
            <a:lvl1pPr marL="0" indent="0" algn="l">
              <a:tabLst/>
              <a:defRPr sz="2600" b="1" i="0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ÜBERSCHRIFT DES KAPITELS</a:t>
            </a:r>
            <a:br>
              <a:rPr lang="de-DE" dirty="0"/>
            </a:br>
            <a:endParaRPr lang="en-US" dirty="0"/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49E7D2EC-4B98-6C4F-BDAC-E2601EE469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0399" y="1060778"/>
            <a:ext cx="8854613" cy="36036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0" i="0">
                <a:solidFill>
                  <a:schemeClr val="tx2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de-DE" dirty="0"/>
              <a:t>Untertitel: kurz und prägnant</a:t>
            </a:r>
          </a:p>
        </p:txBody>
      </p:sp>
    </p:spTree>
    <p:extLst>
      <p:ext uri="{BB962C8B-B14F-4D97-AF65-F5344CB8AC3E}">
        <p14:creationId xmlns:p14="http://schemas.microsoft.com/office/powerpoint/2010/main" val="4064420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halt_blan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80A3DC56-D4A2-1949-AEFF-6C8B1FC933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81349" y="6397467"/>
            <a:ext cx="1649666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solidFill>
                  <a:srgbClr val="10A1D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de-DE" dirty="0"/>
              <a:t> </a:t>
            </a:r>
            <a:r>
              <a:rPr lang="de-DE" sz="1400" dirty="0"/>
              <a:t>Seite </a:t>
            </a:r>
            <a:fld id="{1009E830-1A31-2046-A084-D1E9F200294C}" type="slidenum">
              <a:rPr lang="de-DE" sz="1400" smtClean="0"/>
              <a:pPr/>
              <a:t>‹#›</a:t>
            </a:fld>
            <a:endParaRPr lang="de-DE" sz="1400" dirty="0"/>
          </a:p>
        </p:txBody>
      </p:sp>
      <p:sp>
        <p:nvSpPr>
          <p:cNvPr id="9" name="Datumsplatzhalter 2">
            <a:extLst>
              <a:ext uri="{FF2B5EF4-FFF2-40B4-BE49-F238E27FC236}">
                <a16:creationId xmlns:a16="http://schemas.microsoft.com/office/drawing/2014/main" id="{5F4F7959-A451-C04B-9EAF-12F0D56C28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4447" y="6397467"/>
            <a:ext cx="1649666" cy="365125"/>
          </a:xfrm>
          <a:prstGeom prst="rect">
            <a:avLst/>
          </a:prstGeom>
        </p:spPr>
        <p:txBody>
          <a:bodyPr lIns="0" rIns="0"/>
          <a:lstStyle>
            <a:lvl1pPr>
              <a:defRPr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52696791-E47E-3B43-93E1-4E007ED0ABBF}" type="datetime1">
              <a:rPr lang="de-DE" sz="1400" smtClean="0"/>
              <a:t>24.06.2024</a:t>
            </a:fld>
            <a:endParaRPr lang="de-DE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Fußzeilenplatzhalter 3">
            <a:extLst>
              <a:ext uri="{FF2B5EF4-FFF2-40B4-BE49-F238E27FC236}">
                <a16:creationId xmlns:a16="http://schemas.microsoft.com/office/drawing/2014/main" id="{A21383D9-618F-0942-80C0-C411496D7C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76352" y="6397467"/>
            <a:ext cx="5248435" cy="365125"/>
          </a:xfrm>
          <a:prstGeom prst="rect">
            <a:avLst/>
          </a:prstGeom>
        </p:spPr>
        <p:txBody>
          <a:bodyPr lIns="0" rIns="0"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r>
              <a:rPr lang="de-DE">
                <a:latin typeface="Calibri" panose="020F0502020204030204" pitchFamily="34" charset="0"/>
                <a:cs typeface="Calibri" panose="020F0502020204030204" pitchFamily="34" charset="0"/>
              </a:rPr>
              <a:t>Bitte Fußzeile definieren</a:t>
            </a:r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E88AF2B-6380-E44F-86A2-648C084A729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0400" y="549275"/>
            <a:ext cx="8854614" cy="358775"/>
          </a:xfrm>
          <a:prstGeom prst="rect">
            <a:avLst/>
          </a:prstGeom>
        </p:spPr>
        <p:txBody>
          <a:bodyPr vert="horz" lIns="0" tIns="0" rIns="0" bIns="0" anchor="t" anchorCtr="0">
            <a:noAutofit/>
          </a:bodyPr>
          <a:lstStyle>
            <a:lvl1pPr marL="0" indent="0" algn="l">
              <a:tabLst/>
              <a:defRPr sz="2600" b="1" i="0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ÜBERSCHRIFT DES KAPITELS</a:t>
            </a:r>
            <a:br>
              <a:rPr lang="de-DE" dirty="0"/>
            </a:br>
            <a:endParaRPr lang="en-US" dirty="0"/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58F04E54-986F-B445-8357-31A04F919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0399" y="1060778"/>
            <a:ext cx="8854613" cy="36036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0" i="0">
                <a:solidFill>
                  <a:schemeClr val="tx2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de-DE" dirty="0"/>
              <a:t>Untertitel: kurz und prägnant</a:t>
            </a:r>
          </a:p>
        </p:txBody>
      </p:sp>
    </p:spTree>
    <p:extLst>
      <p:ext uri="{BB962C8B-B14F-4D97-AF65-F5344CB8AC3E}">
        <p14:creationId xmlns:p14="http://schemas.microsoft.com/office/powerpoint/2010/main" val="3587643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_Text ein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3661DFF0-AF96-5242-967E-1DA33978411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66762" y="1989137"/>
            <a:ext cx="8854612" cy="4318061"/>
          </a:xfrm>
          <a:prstGeom prst="rect">
            <a:avLst/>
          </a:prstGeom>
        </p:spPr>
        <p:txBody>
          <a:bodyPr/>
          <a:lstStyle>
            <a:lvl1pPr marL="342900" indent="-342900">
              <a:buFont typeface="Lucida Grande" panose="020B0600040502020204" pitchFamily="34" charset="0"/>
              <a:buChar char="▸"/>
              <a:defRPr sz="24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>
              <a:buFont typeface="Lucida Grande" panose="020B0600040502020204" pitchFamily="34" charset="0"/>
              <a:buChar char="▸"/>
              <a:defRPr sz="2000" b="0" i="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>
              <a:buFont typeface="Lucida Grande" panose="020B0600040502020204" pitchFamily="34" charset="0"/>
              <a:buChar char="▸"/>
              <a:defRPr sz="16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>
              <a:buFont typeface="Lucida Grande" panose="020B0600040502020204" pitchFamily="34" charset="0"/>
              <a:buChar char="▸"/>
              <a:defRPr sz="1600" b="0" i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>
              <a:buFont typeface="Lucida Grande" panose="020B0600040502020204" pitchFamily="34" charset="0"/>
              <a:buChar char="▸"/>
              <a:defRPr sz="1600" b="0" i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de-DE" dirty="0"/>
              <a:t>Zwischenüberschrift: einspaltig</a:t>
            </a:r>
          </a:p>
          <a:p>
            <a:pPr lvl="1"/>
            <a:r>
              <a:rPr lang="de-DE" dirty="0"/>
              <a:t>Stichpunkte bitte kurz halten</a:t>
            </a:r>
          </a:p>
          <a:p>
            <a:pPr lvl="2"/>
            <a:r>
              <a:rPr lang="de-DE" dirty="0"/>
              <a:t>In der Kürze liegt die Würze</a:t>
            </a:r>
          </a:p>
          <a:p>
            <a:pPr lvl="3"/>
            <a:r>
              <a:rPr lang="de-DE" dirty="0"/>
              <a:t>Weniger ist mehr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80A3DC56-D4A2-1949-AEFF-6C8B1FC933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81349" y="6397467"/>
            <a:ext cx="1649666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solidFill>
                  <a:srgbClr val="10A1D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de-DE" dirty="0"/>
              <a:t> </a:t>
            </a:r>
            <a:r>
              <a:rPr lang="de-DE" sz="1400" dirty="0"/>
              <a:t>Seite </a:t>
            </a:r>
            <a:fld id="{1009E830-1A31-2046-A084-D1E9F200294C}" type="slidenum">
              <a:rPr lang="de-DE" sz="1400" smtClean="0"/>
              <a:pPr/>
              <a:t>‹#›</a:t>
            </a:fld>
            <a:endParaRPr lang="de-DE" sz="1400" dirty="0"/>
          </a:p>
        </p:txBody>
      </p:sp>
      <p:sp>
        <p:nvSpPr>
          <p:cNvPr id="9" name="Datumsplatzhalter 2">
            <a:extLst>
              <a:ext uri="{FF2B5EF4-FFF2-40B4-BE49-F238E27FC236}">
                <a16:creationId xmlns:a16="http://schemas.microsoft.com/office/drawing/2014/main" id="{5F4F7959-A451-C04B-9EAF-12F0D56C28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4447" y="6397467"/>
            <a:ext cx="1649666" cy="365125"/>
          </a:xfrm>
          <a:prstGeom prst="rect">
            <a:avLst/>
          </a:prstGeom>
        </p:spPr>
        <p:txBody>
          <a:bodyPr lIns="0" rIns="0"/>
          <a:lstStyle>
            <a:lvl1pPr>
              <a:defRPr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0EE3BB37-241D-F742-AF57-57B0232CDDCA}" type="datetime1">
              <a:rPr lang="de-DE" sz="1400" smtClean="0"/>
              <a:t>24.06.2024</a:t>
            </a:fld>
            <a:endParaRPr lang="de-DE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Fußzeilenplatzhalter 3">
            <a:extLst>
              <a:ext uri="{FF2B5EF4-FFF2-40B4-BE49-F238E27FC236}">
                <a16:creationId xmlns:a16="http://schemas.microsoft.com/office/drawing/2014/main" id="{A21383D9-618F-0942-80C0-C411496D7C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76352" y="6397467"/>
            <a:ext cx="5248435" cy="365125"/>
          </a:xfrm>
          <a:prstGeom prst="rect">
            <a:avLst/>
          </a:prstGeom>
        </p:spPr>
        <p:txBody>
          <a:bodyPr lIns="0" rIns="0"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r>
              <a:rPr lang="de-DE">
                <a:latin typeface="Calibri" panose="020F0502020204030204" pitchFamily="34" charset="0"/>
                <a:cs typeface="Calibri" panose="020F0502020204030204" pitchFamily="34" charset="0"/>
              </a:rPr>
              <a:t>Bitte Fußzeile definieren</a:t>
            </a:r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E88AF2B-6380-E44F-86A2-648C084A729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0400" y="549275"/>
            <a:ext cx="8854614" cy="358775"/>
          </a:xfrm>
          <a:prstGeom prst="rect">
            <a:avLst/>
          </a:prstGeom>
        </p:spPr>
        <p:txBody>
          <a:bodyPr vert="horz" lIns="0" tIns="0" rIns="0" bIns="0" anchor="t" anchorCtr="0">
            <a:noAutofit/>
          </a:bodyPr>
          <a:lstStyle>
            <a:lvl1pPr marL="0" indent="0" algn="l">
              <a:tabLst/>
              <a:defRPr sz="2600" b="1" i="0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ÜBERSCHRIFT DES KAPITELS</a:t>
            </a:r>
            <a:br>
              <a:rPr lang="de-DE" dirty="0"/>
            </a:br>
            <a:endParaRPr lang="en-US" dirty="0"/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58F04E54-986F-B445-8357-31A04F919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0399" y="1060778"/>
            <a:ext cx="8854613" cy="36036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0" i="0">
                <a:solidFill>
                  <a:schemeClr val="tx2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de-DE" dirty="0"/>
              <a:t>Untertitel: kurz und prägnant</a:t>
            </a:r>
          </a:p>
        </p:txBody>
      </p:sp>
    </p:spTree>
    <p:extLst>
      <p:ext uri="{BB962C8B-B14F-4D97-AF65-F5344CB8AC3E}">
        <p14:creationId xmlns:p14="http://schemas.microsoft.com/office/powerpoint/2010/main" val="992896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inhaltsverzeichn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65B2B47D-2F07-1B4E-98A4-F5D87E49FE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0400" y="549275"/>
            <a:ext cx="7054388" cy="1028513"/>
          </a:xfrm>
          <a:prstGeom prst="rect">
            <a:avLst/>
          </a:prstGeom>
        </p:spPr>
        <p:txBody>
          <a:bodyPr vert="horz" lIns="0" tIns="0" rIns="0" bIns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1" i="0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INHALT DER PRÄSENTATION</a:t>
            </a:r>
            <a:br>
              <a:rPr lang="de-DE" dirty="0"/>
            </a:br>
            <a:br>
              <a:rPr lang="de-DE" dirty="0"/>
            </a:br>
            <a:endParaRPr lang="en-US" dirty="0"/>
          </a:p>
        </p:txBody>
      </p:sp>
      <p:sp>
        <p:nvSpPr>
          <p:cNvPr id="21" name="Textplatzhalter 8">
            <a:extLst>
              <a:ext uri="{FF2B5EF4-FFF2-40B4-BE49-F238E27FC236}">
                <a16:creationId xmlns:a16="http://schemas.microsoft.com/office/drawing/2014/main" id="{311FFC30-815A-9E40-BE52-E671F9E43B2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0400" y="1989137"/>
            <a:ext cx="8854614" cy="42493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tIns="0" rIns="0" bIns="0"/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2000" b="1" i="0" cap="all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buFont typeface="+mj-lt"/>
              <a:buAutoNum type="arabicPeriod"/>
              <a:defRPr sz="1600" b="0" i="0">
                <a:solidFill>
                  <a:schemeClr val="tx2"/>
                </a:solidFill>
                <a:latin typeface="Calibri" panose="020F0502020204030204" pitchFamily="34" charset="0"/>
              </a:defRPr>
            </a:lvl2pPr>
          </a:lstStyle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de-DE" dirty="0"/>
              <a:t>ÜBERSCHRIFT DES KAPITELS</a:t>
            </a:r>
          </a:p>
          <a:p>
            <a:pPr lvl="1"/>
            <a:r>
              <a:rPr lang="de-DE" dirty="0"/>
              <a:t>Kurz und prägnant, einspaltig</a:t>
            </a:r>
          </a:p>
          <a:p>
            <a:pPr lvl="1"/>
            <a:r>
              <a:rPr lang="de-DE" dirty="0"/>
              <a:t>Kurz und prägnant, zweispaltig</a:t>
            </a:r>
          </a:p>
          <a:p>
            <a:pPr lvl="1"/>
            <a:r>
              <a:rPr lang="de-DE" dirty="0"/>
              <a:t>Kurz und prägnant, zweispaltig mit Bild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de-DE" dirty="0"/>
              <a:t>ÜBERSCHRIFT DES KAPITELS</a:t>
            </a:r>
          </a:p>
          <a:p>
            <a:pPr lvl="1"/>
            <a:r>
              <a:rPr lang="de-DE" dirty="0"/>
              <a:t>Darstellung als </a:t>
            </a:r>
            <a:r>
              <a:rPr lang="de-DE" dirty="0" err="1"/>
              <a:t>Kreidiagramm</a:t>
            </a:r>
            <a:r>
              <a:rPr lang="de-DE" dirty="0"/>
              <a:t>, zweispaltig</a:t>
            </a:r>
          </a:p>
          <a:p>
            <a:pPr lvl="1"/>
            <a:r>
              <a:rPr lang="de-DE" dirty="0"/>
              <a:t>Darstellung als </a:t>
            </a:r>
            <a:r>
              <a:rPr lang="de-DE" dirty="0" err="1"/>
              <a:t>Kreidiagramm</a:t>
            </a:r>
            <a:r>
              <a:rPr lang="de-DE" dirty="0"/>
              <a:t>, dreispaltig</a:t>
            </a:r>
          </a:p>
          <a:p>
            <a:pPr lvl="1"/>
            <a:r>
              <a:rPr lang="de-DE" dirty="0"/>
              <a:t>Darstellung als Kreisdiagramm, dreispaltig, Variante 2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de-DE" dirty="0"/>
              <a:t>ÜBERSCHRIFT DES KAPITELS</a:t>
            </a:r>
          </a:p>
          <a:p>
            <a:pPr lvl="1"/>
            <a:r>
              <a:rPr lang="de-DE" dirty="0"/>
              <a:t>Darstellung als Balkendiagramm, zweispaltig</a:t>
            </a:r>
          </a:p>
          <a:p>
            <a:pPr lvl="1"/>
            <a:r>
              <a:rPr lang="de-DE" dirty="0"/>
              <a:t>Darstellung als Balkendiagramm, dreispaltig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de-DE" dirty="0"/>
              <a:t>STRUKTUR DES RWI</a:t>
            </a:r>
          </a:p>
          <a:p>
            <a:pPr lvl="1"/>
            <a:r>
              <a:rPr lang="de-DE" dirty="0"/>
              <a:t>Stand August 2020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de-DE" dirty="0"/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de-DE" dirty="0"/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de-DE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de-DE" dirty="0"/>
          </a:p>
          <a:p>
            <a:pPr lvl="0"/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28C09525-D5DF-7E4C-A39B-F5585C28C79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70400" y="1060778"/>
            <a:ext cx="7054388" cy="36036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0" i="0">
                <a:solidFill>
                  <a:schemeClr val="tx2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de-DE" dirty="0"/>
              <a:t>Untertitel: Inhaltsverzeichnis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de-DE" dirty="0"/>
          </a:p>
          <a:p>
            <a:pPr lvl="0"/>
            <a:endParaRPr lang="de-DE" dirty="0"/>
          </a:p>
        </p:txBody>
      </p:sp>
      <p:sp>
        <p:nvSpPr>
          <p:cNvPr id="7" name="Foliennummernplatzhalter 5">
            <a:extLst>
              <a:ext uri="{FF2B5EF4-FFF2-40B4-BE49-F238E27FC236}">
                <a16:creationId xmlns:a16="http://schemas.microsoft.com/office/drawing/2014/main" id="{F3F9CA71-7EBA-4C48-A154-8D4232CFF8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81349" y="6397467"/>
            <a:ext cx="1649666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solidFill>
                  <a:srgbClr val="10A1D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de-DE" dirty="0"/>
              <a:t> </a:t>
            </a:r>
            <a:r>
              <a:rPr lang="de-DE" sz="1400" dirty="0"/>
              <a:t>Seite </a:t>
            </a:r>
            <a:fld id="{1009E830-1A31-2046-A084-D1E9F200294C}" type="slidenum">
              <a:rPr lang="de-DE" sz="1400" smtClean="0"/>
              <a:pPr/>
              <a:t>‹#›</a:t>
            </a:fld>
            <a:endParaRPr lang="de-DE" sz="1400" dirty="0"/>
          </a:p>
        </p:txBody>
      </p:sp>
      <p:sp>
        <p:nvSpPr>
          <p:cNvPr id="8" name="Datumsplatzhalter 2">
            <a:extLst>
              <a:ext uri="{FF2B5EF4-FFF2-40B4-BE49-F238E27FC236}">
                <a16:creationId xmlns:a16="http://schemas.microsoft.com/office/drawing/2014/main" id="{E04B4511-2182-574A-B98A-F4828BD19B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4447" y="6397467"/>
            <a:ext cx="1649666" cy="365125"/>
          </a:xfrm>
          <a:prstGeom prst="rect">
            <a:avLst/>
          </a:prstGeom>
        </p:spPr>
        <p:txBody>
          <a:bodyPr lIns="0" rIns="0"/>
          <a:lstStyle>
            <a:lvl1pPr>
              <a:defRPr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5835630-B79C-F44D-908B-5B8D7EB95D26}" type="datetime1">
              <a:rPr lang="de-DE" sz="1400" smtClean="0"/>
              <a:t>24.06.2024</a:t>
            </a:fld>
            <a:endParaRPr lang="de-DE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Fußzeilenplatzhalter 3">
            <a:extLst>
              <a:ext uri="{FF2B5EF4-FFF2-40B4-BE49-F238E27FC236}">
                <a16:creationId xmlns:a16="http://schemas.microsoft.com/office/drawing/2014/main" id="{5B83EFA6-D7D9-3C4B-BF11-3A8CE66317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76352" y="6397467"/>
            <a:ext cx="5248435" cy="365125"/>
          </a:xfrm>
          <a:prstGeom prst="rect">
            <a:avLst/>
          </a:prstGeom>
        </p:spPr>
        <p:txBody>
          <a:bodyPr lIns="0" rIns="0"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r>
              <a:rPr lang="de-DE">
                <a:latin typeface="Calibri" panose="020F0502020204030204" pitchFamily="34" charset="0"/>
                <a:cs typeface="Calibri" panose="020F0502020204030204" pitchFamily="34" charset="0"/>
              </a:rPr>
              <a:t>Bitte Fußzeile definieren</a:t>
            </a:r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692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Text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65B2B47D-2F07-1B4E-98A4-F5D87E49FE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0400" y="549275"/>
            <a:ext cx="8854614" cy="358775"/>
          </a:xfrm>
          <a:prstGeom prst="rect">
            <a:avLst/>
          </a:prstGeom>
        </p:spPr>
        <p:txBody>
          <a:bodyPr vert="horz" lIns="0" tIns="0" rIns="0" bIns="0" anchor="t" anchorCtr="0">
            <a:noAutofit/>
          </a:bodyPr>
          <a:lstStyle>
            <a:lvl1pPr marL="0" indent="0" algn="l">
              <a:tabLst/>
              <a:defRPr sz="2600" b="1" i="0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ÜBERSCHRIFT DES KAPITELS</a:t>
            </a:r>
            <a:br>
              <a:rPr lang="de-DE" dirty="0"/>
            </a:br>
            <a:endParaRPr lang="en-US" dirty="0"/>
          </a:p>
        </p:txBody>
      </p:sp>
      <p:sp>
        <p:nvSpPr>
          <p:cNvPr id="21" name="Textplatzhalter 8">
            <a:extLst>
              <a:ext uri="{FF2B5EF4-FFF2-40B4-BE49-F238E27FC236}">
                <a16:creationId xmlns:a16="http://schemas.microsoft.com/office/drawing/2014/main" id="{311FFC30-815A-9E40-BE52-E671F9E43B2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0399" y="1060778"/>
            <a:ext cx="8854613" cy="36036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0" i="0">
                <a:solidFill>
                  <a:schemeClr val="tx2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de-DE" dirty="0"/>
              <a:t>Untertitel: kurz und prägnant</a:t>
            </a:r>
          </a:p>
        </p:txBody>
      </p:sp>
      <p:sp>
        <p:nvSpPr>
          <p:cNvPr id="18" name="Inhaltsplatzhalter 4">
            <a:extLst>
              <a:ext uri="{FF2B5EF4-FFF2-40B4-BE49-F238E27FC236}">
                <a16:creationId xmlns:a16="http://schemas.microsoft.com/office/drawing/2014/main" id="{7CDC50CA-F020-264C-A1FF-FC1DBE426ACE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66762" y="1989137"/>
            <a:ext cx="5254623" cy="3808079"/>
          </a:xfrm>
          <a:prstGeom prst="rect">
            <a:avLst/>
          </a:prstGeom>
        </p:spPr>
        <p:txBody>
          <a:bodyPr/>
          <a:lstStyle>
            <a:lvl1pPr marL="342900" indent="-342900">
              <a:buFont typeface="Lucida Grande" panose="020B0600040502020204" pitchFamily="34" charset="0"/>
              <a:buChar char="▸"/>
              <a:defRPr sz="24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>
              <a:buFont typeface="Lucida Grande" panose="020B0600040502020204" pitchFamily="34" charset="0"/>
              <a:buChar char="▸"/>
              <a:defRPr sz="2000" b="0" i="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>
              <a:buFont typeface="Lucida Grande" panose="020B0600040502020204" pitchFamily="34" charset="0"/>
              <a:buChar char="▸"/>
              <a:defRPr sz="16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>
              <a:buFont typeface="Lucida Grande" panose="020B0600040502020204" pitchFamily="34" charset="0"/>
              <a:buChar char="▸"/>
              <a:defRPr sz="1600" b="0" i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>
              <a:buFont typeface="Lucida Grande" panose="020B0600040502020204" pitchFamily="34" charset="0"/>
              <a:buChar char="▸"/>
              <a:defRPr sz="1600" b="0" i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de-DE" dirty="0"/>
              <a:t>Zwischenüberschrift: zweispaltig</a:t>
            </a:r>
          </a:p>
          <a:p>
            <a:pPr lvl="1"/>
            <a:r>
              <a:rPr lang="de-DE" dirty="0"/>
              <a:t>Stichpunkte bitte kurz halten</a:t>
            </a:r>
          </a:p>
          <a:p>
            <a:pPr lvl="2"/>
            <a:r>
              <a:rPr lang="de-DE" dirty="0"/>
              <a:t>In der Kürze liegt die Würze</a:t>
            </a:r>
          </a:p>
          <a:p>
            <a:pPr lvl="3"/>
            <a:r>
              <a:rPr lang="de-DE" dirty="0"/>
              <a:t>Weniger ist mehr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9" name="Inhaltsplatzhalter 4">
            <a:extLst>
              <a:ext uri="{FF2B5EF4-FFF2-40B4-BE49-F238E27FC236}">
                <a16:creationId xmlns:a16="http://schemas.microsoft.com/office/drawing/2014/main" id="{DEF548C1-A717-4E4D-B026-BD5CC5FD46F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170617" y="1989138"/>
            <a:ext cx="5254623" cy="3808078"/>
          </a:xfrm>
          <a:prstGeom prst="rect">
            <a:avLst/>
          </a:prstGeom>
        </p:spPr>
        <p:txBody>
          <a:bodyPr/>
          <a:lstStyle>
            <a:lvl1pPr marL="342900" indent="-342900">
              <a:buFont typeface="Lucida Grande" panose="020B0600040502020204" pitchFamily="34" charset="0"/>
              <a:buChar char="▸"/>
              <a:defRPr sz="24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>
              <a:buFont typeface="Lucida Grande" panose="020B0600040502020204" pitchFamily="34" charset="0"/>
              <a:buChar char="▸"/>
              <a:defRPr sz="2000" b="0" i="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>
              <a:buFont typeface="Lucida Grande" panose="020B0600040502020204" pitchFamily="34" charset="0"/>
              <a:buChar char="▸"/>
              <a:defRPr sz="16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>
              <a:buFont typeface="Lucida Grande" panose="020B0600040502020204" pitchFamily="34" charset="0"/>
              <a:buChar char="▸"/>
              <a:defRPr sz="1600" b="0" i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>
              <a:buFont typeface="Lucida Grande" panose="020B0600040502020204" pitchFamily="34" charset="0"/>
              <a:buChar char="▸"/>
              <a:defRPr sz="1600" b="0" i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de-DE" dirty="0"/>
              <a:t>Zwischenüberschrift: zweispaltig</a:t>
            </a:r>
          </a:p>
          <a:p>
            <a:pPr lvl="1"/>
            <a:r>
              <a:rPr lang="de-DE" dirty="0"/>
              <a:t>Stichpunkte bitte kurz halten</a:t>
            </a:r>
          </a:p>
          <a:p>
            <a:pPr lvl="2"/>
            <a:r>
              <a:rPr lang="de-DE" dirty="0"/>
              <a:t>In der Kürze liegt die Würze</a:t>
            </a:r>
          </a:p>
          <a:p>
            <a:pPr lvl="3"/>
            <a:r>
              <a:rPr lang="de-DE" dirty="0"/>
              <a:t>Weniger ist mehr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B444C731-19DD-5340-B094-C6AD71E119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81349" y="6397467"/>
            <a:ext cx="1649666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solidFill>
                  <a:srgbClr val="10A1D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de-DE" dirty="0"/>
              <a:t> </a:t>
            </a:r>
            <a:r>
              <a:rPr lang="de-DE" sz="1400" dirty="0"/>
              <a:t>Seite </a:t>
            </a:r>
            <a:fld id="{1009E830-1A31-2046-A084-D1E9F200294C}" type="slidenum">
              <a:rPr lang="de-DE" sz="1400" smtClean="0"/>
              <a:pPr/>
              <a:t>‹#›</a:t>
            </a:fld>
            <a:endParaRPr lang="de-DE" sz="1400" dirty="0"/>
          </a:p>
        </p:txBody>
      </p:sp>
      <p:sp>
        <p:nvSpPr>
          <p:cNvPr id="11" name="Datumsplatzhalter 2">
            <a:extLst>
              <a:ext uri="{FF2B5EF4-FFF2-40B4-BE49-F238E27FC236}">
                <a16:creationId xmlns:a16="http://schemas.microsoft.com/office/drawing/2014/main" id="{EBFC6B8B-445F-4545-89B7-945C2E0A98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4447" y="6397467"/>
            <a:ext cx="1649666" cy="365125"/>
          </a:xfrm>
          <a:prstGeom prst="rect">
            <a:avLst/>
          </a:prstGeom>
        </p:spPr>
        <p:txBody>
          <a:bodyPr lIns="0" rIns="0"/>
          <a:lstStyle>
            <a:lvl1pPr>
              <a:defRPr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6AF834C9-8FDB-D443-8511-FA2B85B454AC}" type="datetime1">
              <a:rPr lang="de-DE" sz="1400" smtClean="0"/>
              <a:t>24.06.2024</a:t>
            </a:fld>
            <a:endParaRPr lang="de-DE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Fußzeilenplatzhalter 3">
            <a:extLst>
              <a:ext uri="{FF2B5EF4-FFF2-40B4-BE49-F238E27FC236}">
                <a16:creationId xmlns:a16="http://schemas.microsoft.com/office/drawing/2014/main" id="{80BE060B-CE70-B54B-B404-B3F6BF06E5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76352" y="6397467"/>
            <a:ext cx="5248435" cy="365125"/>
          </a:xfrm>
          <a:prstGeom prst="rect">
            <a:avLst/>
          </a:prstGeom>
        </p:spPr>
        <p:txBody>
          <a:bodyPr lIns="0" rIns="0"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r>
              <a:rPr lang="de-DE">
                <a:latin typeface="Calibri" panose="020F0502020204030204" pitchFamily="34" charset="0"/>
                <a:cs typeface="Calibri" panose="020F0502020204030204" pitchFamily="34" charset="0"/>
              </a:rPr>
              <a:t>Bitte Fußzeile definieren</a:t>
            </a:r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1819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zweispaltig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65B2B47D-2F07-1B4E-98A4-F5D87E49FE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0400" y="549275"/>
            <a:ext cx="8854614" cy="358775"/>
          </a:xfrm>
          <a:prstGeom prst="rect">
            <a:avLst/>
          </a:prstGeom>
        </p:spPr>
        <p:txBody>
          <a:bodyPr vert="horz" lIns="0" tIns="0" rIns="0" bIns="0" anchor="t" anchorCtr="0">
            <a:noAutofit/>
          </a:bodyPr>
          <a:lstStyle>
            <a:lvl1pPr marL="0" indent="0" algn="l">
              <a:tabLst/>
              <a:defRPr sz="2600" b="1" i="0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ÜBERSCHRIFT DES KAPITELS</a:t>
            </a:r>
            <a:br>
              <a:rPr lang="de-DE" dirty="0"/>
            </a:br>
            <a:endParaRPr lang="en-US" dirty="0"/>
          </a:p>
        </p:txBody>
      </p:sp>
      <p:sp>
        <p:nvSpPr>
          <p:cNvPr id="21" name="Textplatzhalter 8">
            <a:extLst>
              <a:ext uri="{FF2B5EF4-FFF2-40B4-BE49-F238E27FC236}">
                <a16:creationId xmlns:a16="http://schemas.microsoft.com/office/drawing/2014/main" id="{311FFC30-815A-9E40-BE52-E671F9E43B2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0399" y="1060778"/>
            <a:ext cx="8854613" cy="36036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0" i="0">
                <a:solidFill>
                  <a:schemeClr val="tx2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de-DE" dirty="0"/>
              <a:t>Untertitel: kurz und prägnant, zweispaltig Text mit Bild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de-DE" dirty="0"/>
          </a:p>
          <a:p>
            <a:pPr lvl="0"/>
            <a:endParaRPr lang="de-DE" dirty="0"/>
          </a:p>
        </p:txBody>
      </p:sp>
      <p:sp>
        <p:nvSpPr>
          <p:cNvPr id="15" name="Inhaltsplatzhalter 4">
            <a:extLst>
              <a:ext uri="{FF2B5EF4-FFF2-40B4-BE49-F238E27FC236}">
                <a16:creationId xmlns:a16="http://schemas.microsoft.com/office/drawing/2014/main" id="{2F2349DF-04D9-F943-B650-86E6F74373B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66762" y="1989138"/>
            <a:ext cx="5254623" cy="2589212"/>
          </a:xfrm>
          <a:prstGeom prst="rect">
            <a:avLst/>
          </a:prstGeom>
        </p:spPr>
        <p:txBody>
          <a:bodyPr/>
          <a:lstStyle>
            <a:lvl1pPr marL="342900" indent="-342900">
              <a:buFont typeface="Lucida Grande" panose="020B0600040502020204" pitchFamily="34" charset="0"/>
              <a:buChar char="▸"/>
              <a:defRPr sz="24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>
              <a:buFont typeface="Lucida Grande" panose="020B0600040502020204" pitchFamily="34" charset="0"/>
              <a:buChar char="▸"/>
              <a:defRPr sz="2000" b="0" i="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>
              <a:buFont typeface="Lucida Grande" panose="020B0600040502020204" pitchFamily="34" charset="0"/>
              <a:buChar char="▸"/>
              <a:defRPr sz="16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>
              <a:buFont typeface="Lucida Grande" panose="020B0600040502020204" pitchFamily="34" charset="0"/>
              <a:buChar char="▸"/>
              <a:defRPr sz="1600" b="0" i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>
              <a:buFont typeface="Lucida Grande" panose="020B0600040502020204" pitchFamily="34" charset="0"/>
              <a:buChar char="▸"/>
              <a:defRPr sz="1600" b="0" i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de-DE" dirty="0"/>
              <a:t>Zwischenüberschrift</a:t>
            </a:r>
          </a:p>
          <a:p>
            <a:pPr lvl="1"/>
            <a:r>
              <a:rPr lang="de-DE" dirty="0"/>
              <a:t>Stichpunkte bitte kurz halten</a:t>
            </a:r>
          </a:p>
          <a:p>
            <a:pPr lvl="2"/>
            <a:r>
              <a:rPr lang="de-DE" dirty="0"/>
              <a:t>In der Kürze liegt die Würze</a:t>
            </a:r>
          </a:p>
          <a:p>
            <a:pPr lvl="3"/>
            <a:r>
              <a:rPr lang="de-DE" dirty="0"/>
              <a:t>Weniger ist mehr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D314681-78E3-764C-A329-8BE1AE9FC00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67438" y="1989138"/>
            <a:ext cx="5257800" cy="4319587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5D82DF93-52CF-0040-B36B-8744A409BA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81349" y="6397467"/>
            <a:ext cx="1649666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solidFill>
                  <a:srgbClr val="10A1D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de-DE" dirty="0"/>
              <a:t> </a:t>
            </a:r>
            <a:r>
              <a:rPr lang="de-DE" sz="1400" dirty="0"/>
              <a:t>Seite </a:t>
            </a:r>
            <a:fld id="{1009E830-1A31-2046-A084-D1E9F200294C}" type="slidenum">
              <a:rPr lang="de-DE" sz="1400" smtClean="0"/>
              <a:pPr/>
              <a:t>‹#›</a:t>
            </a:fld>
            <a:endParaRPr lang="de-DE" sz="1400" dirty="0"/>
          </a:p>
        </p:txBody>
      </p:sp>
      <p:sp>
        <p:nvSpPr>
          <p:cNvPr id="11" name="Datumsplatzhalter 2">
            <a:extLst>
              <a:ext uri="{FF2B5EF4-FFF2-40B4-BE49-F238E27FC236}">
                <a16:creationId xmlns:a16="http://schemas.microsoft.com/office/drawing/2014/main" id="{3E2B424A-887F-9F43-91D4-BF01620D5B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4447" y="6397467"/>
            <a:ext cx="1649666" cy="365125"/>
          </a:xfrm>
          <a:prstGeom prst="rect">
            <a:avLst/>
          </a:prstGeom>
        </p:spPr>
        <p:txBody>
          <a:bodyPr lIns="0" rIns="0"/>
          <a:lstStyle>
            <a:lvl1pPr>
              <a:defRPr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3DCE8223-893C-7040-9A89-5EB8576CE87D}" type="datetime1">
              <a:rPr lang="de-DE" sz="1400" smtClean="0"/>
              <a:t>24.06.2024</a:t>
            </a:fld>
            <a:endParaRPr lang="de-DE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Fußzeilenplatzhalter 3">
            <a:extLst>
              <a:ext uri="{FF2B5EF4-FFF2-40B4-BE49-F238E27FC236}">
                <a16:creationId xmlns:a16="http://schemas.microsoft.com/office/drawing/2014/main" id="{43BBB815-658D-BD4F-BA4B-77055F4ED9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76352" y="6397467"/>
            <a:ext cx="5248435" cy="365125"/>
          </a:xfrm>
          <a:prstGeom prst="rect">
            <a:avLst/>
          </a:prstGeom>
        </p:spPr>
        <p:txBody>
          <a:bodyPr lIns="0" rIns="0"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r>
              <a:rPr lang="de-DE">
                <a:latin typeface="Calibri" panose="020F0502020204030204" pitchFamily="34" charset="0"/>
                <a:cs typeface="Calibri" panose="020F0502020204030204" pitchFamily="34" charset="0"/>
              </a:rPr>
              <a:t>Bitte Fußzeile definieren</a:t>
            </a:r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1708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zweispaltig_Schau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65B2B47D-2F07-1B4E-98A4-F5D87E49FE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0400" y="549275"/>
            <a:ext cx="7054388" cy="488595"/>
          </a:xfrm>
          <a:prstGeom prst="rect">
            <a:avLst/>
          </a:prstGeom>
        </p:spPr>
        <p:txBody>
          <a:bodyPr vert="horz" lIns="0" tIns="0" rIns="0" bIns="0" anchor="t" anchorCtr="0">
            <a:noAutofit/>
          </a:bodyPr>
          <a:lstStyle>
            <a:lvl1pPr marL="0" indent="0" algn="l">
              <a:tabLst/>
              <a:defRPr sz="2600" b="1" i="0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ÜBERSCHRIFT DES KAPITELS </a:t>
            </a:r>
            <a:br>
              <a:rPr lang="de-DE" dirty="0"/>
            </a:br>
            <a:endParaRPr lang="en-US" dirty="0"/>
          </a:p>
        </p:txBody>
      </p:sp>
      <p:pic>
        <p:nvPicPr>
          <p:cNvPr id="22" name="Grafik 21" descr="Ein Bild, das Zeichnung, Hemd enthält.&#10;&#10;Automatisch generierte Beschreibung">
            <a:extLst>
              <a:ext uri="{FF2B5EF4-FFF2-40B4-BE49-F238E27FC236}">
                <a16:creationId xmlns:a16="http://schemas.microsoft.com/office/drawing/2014/main" id="{DE5CB102-3C38-394D-84C5-01A905ABEB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88620" y="6344142"/>
            <a:ext cx="1039697" cy="335386"/>
          </a:xfrm>
          <a:prstGeom prst="rect">
            <a:avLst/>
          </a:prstGeom>
        </p:spPr>
      </p:pic>
      <p:sp>
        <p:nvSpPr>
          <p:cNvPr id="15" name="Textplatzhalter 8">
            <a:extLst>
              <a:ext uri="{FF2B5EF4-FFF2-40B4-BE49-F238E27FC236}">
                <a16:creationId xmlns:a16="http://schemas.microsoft.com/office/drawing/2014/main" id="{7F703AB3-2B4F-E94C-A37D-9A72D593F6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0400" y="1037870"/>
            <a:ext cx="7054388" cy="33750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0" i="0">
                <a:solidFill>
                  <a:schemeClr val="tx2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de-DE" dirty="0"/>
              <a:t>Untertitel des Kapitels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de-DE" dirty="0"/>
          </a:p>
          <a:p>
            <a:pPr lvl="0"/>
            <a:endParaRPr lang="de-DE" dirty="0"/>
          </a:p>
        </p:txBody>
      </p:sp>
      <p:cxnSp>
        <p:nvCxnSpPr>
          <p:cNvPr id="17" name="Gerade Verbindung 16">
            <a:extLst>
              <a:ext uri="{FF2B5EF4-FFF2-40B4-BE49-F238E27FC236}">
                <a16:creationId xmlns:a16="http://schemas.microsoft.com/office/drawing/2014/main" id="{A200283E-EAD8-DC4A-890F-41D37AFE3D8B}"/>
              </a:ext>
            </a:extLst>
          </p:cNvPr>
          <p:cNvCxnSpPr>
            <a:cxnSpLocks/>
          </p:cNvCxnSpPr>
          <p:nvPr userDrawn="1"/>
        </p:nvCxnSpPr>
        <p:spPr>
          <a:xfrm>
            <a:off x="6160723" y="4882671"/>
            <a:ext cx="526451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Inhaltsplatzhalter 4">
            <a:extLst>
              <a:ext uri="{FF2B5EF4-FFF2-40B4-BE49-F238E27FC236}">
                <a16:creationId xmlns:a16="http://schemas.microsoft.com/office/drawing/2014/main" id="{43A6BEF3-B68B-EE49-827E-2B0D8C7C07A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66762" y="1989137"/>
            <a:ext cx="5254623" cy="4319587"/>
          </a:xfrm>
          <a:prstGeom prst="rect">
            <a:avLst/>
          </a:prstGeom>
        </p:spPr>
        <p:txBody>
          <a:bodyPr/>
          <a:lstStyle>
            <a:lvl1pPr marL="342900" indent="-342900">
              <a:buFont typeface="Lucida Grande" panose="020B0600040502020204" pitchFamily="34" charset="0"/>
              <a:buChar char="▸"/>
              <a:defRPr sz="24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>
              <a:buFont typeface="Lucida Grande" panose="020B0600040502020204" pitchFamily="34" charset="0"/>
              <a:buChar char="▸"/>
              <a:defRPr sz="2000" b="0" i="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>
              <a:buFont typeface="Lucida Grande" panose="020B0600040502020204" pitchFamily="34" charset="0"/>
              <a:buChar char="▸"/>
              <a:defRPr sz="16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>
              <a:buFont typeface="Lucida Grande" panose="020B0600040502020204" pitchFamily="34" charset="0"/>
              <a:buChar char="▸"/>
              <a:defRPr sz="1600" b="0" i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>
              <a:buFont typeface="Lucida Grande" panose="020B0600040502020204" pitchFamily="34" charset="0"/>
              <a:buChar char="▸"/>
              <a:defRPr sz="1600" b="0" i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de-DE" dirty="0"/>
              <a:t>Zwischenüberschrift</a:t>
            </a:r>
          </a:p>
          <a:p>
            <a:pPr lvl="1"/>
            <a:r>
              <a:rPr lang="de-DE" dirty="0"/>
              <a:t>Stichpunkte bitte kurz halten</a:t>
            </a:r>
          </a:p>
          <a:p>
            <a:pPr lvl="2"/>
            <a:r>
              <a:rPr lang="de-DE" dirty="0"/>
              <a:t>In der Kürze liegt die Würze</a:t>
            </a:r>
          </a:p>
          <a:p>
            <a:pPr lvl="3"/>
            <a:r>
              <a:rPr lang="de-DE" dirty="0"/>
              <a:t>Weniger ist mehr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6" name="Textplatzhalter 4">
            <a:extLst>
              <a:ext uri="{FF2B5EF4-FFF2-40B4-BE49-F238E27FC236}">
                <a16:creationId xmlns:a16="http://schemas.microsoft.com/office/drawing/2014/main" id="{E4CFA555-3AA3-7947-B2B7-03E474C4CE0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63802" y="5589589"/>
            <a:ext cx="5254625" cy="719138"/>
          </a:xfrm>
          <a:prstGeom prst="rect">
            <a:avLst/>
          </a:prstGeom>
        </p:spPr>
        <p:txBody>
          <a:bodyPr lIns="0"/>
          <a:lstStyle>
            <a:lvl1pPr marL="0" indent="0">
              <a:buFontTx/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 dirty="0"/>
              <a:t>Quelle:</a:t>
            </a:r>
          </a:p>
        </p:txBody>
      </p:sp>
      <p:sp>
        <p:nvSpPr>
          <p:cNvPr id="18" name="Textplatzhalter 2">
            <a:extLst>
              <a:ext uri="{FF2B5EF4-FFF2-40B4-BE49-F238E27FC236}">
                <a16:creationId xmlns:a16="http://schemas.microsoft.com/office/drawing/2014/main" id="{AEAC1C4B-4234-4E49-8BB6-C6E7A05D6A5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67439" y="4969849"/>
            <a:ext cx="5250988" cy="61973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lang="de-DE" sz="2000" b="1" i="0" smtClean="0">
                <a:effectLst/>
                <a:latin typeface="Calibri" panose="020F0502020204030204" pitchFamily="34" charset="0"/>
              </a:defRPr>
            </a:lvl1pPr>
          </a:lstStyle>
          <a:p>
            <a:pPr lvl="0"/>
            <a:r>
              <a:rPr lang="de-DE" dirty="0"/>
              <a:t>Titel des Schaubildes</a:t>
            </a:r>
          </a:p>
        </p:txBody>
      </p:sp>
      <p:sp>
        <p:nvSpPr>
          <p:cNvPr id="19" name="Diagrammplatzhalter 2">
            <a:extLst>
              <a:ext uri="{FF2B5EF4-FFF2-40B4-BE49-F238E27FC236}">
                <a16:creationId xmlns:a16="http://schemas.microsoft.com/office/drawing/2014/main" id="{9BDAB17D-119B-4249-B3C9-E009464ACD49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181725" y="1989139"/>
            <a:ext cx="5243513" cy="2781416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endParaRPr lang="de-DE" dirty="0"/>
          </a:p>
        </p:txBody>
      </p:sp>
      <p:sp>
        <p:nvSpPr>
          <p:cNvPr id="12" name="Foliennummernplatzhalter 5">
            <a:extLst>
              <a:ext uri="{FF2B5EF4-FFF2-40B4-BE49-F238E27FC236}">
                <a16:creationId xmlns:a16="http://schemas.microsoft.com/office/drawing/2014/main" id="{054F8D4C-DB6E-B44F-9BA6-29C0196A6E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81349" y="6397467"/>
            <a:ext cx="1649666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solidFill>
                  <a:srgbClr val="10A1D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de-DE" dirty="0"/>
              <a:t> </a:t>
            </a:r>
            <a:r>
              <a:rPr lang="de-DE" sz="1400" dirty="0"/>
              <a:t>Seite </a:t>
            </a:r>
            <a:fld id="{1009E830-1A31-2046-A084-D1E9F200294C}" type="slidenum">
              <a:rPr lang="de-DE" sz="1400" smtClean="0"/>
              <a:pPr/>
              <a:t>‹#›</a:t>
            </a:fld>
            <a:endParaRPr lang="de-DE" sz="1400" dirty="0"/>
          </a:p>
        </p:txBody>
      </p:sp>
      <p:sp>
        <p:nvSpPr>
          <p:cNvPr id="20" name="Datumsplatzhalter 2">
            <a:extLst>
              <a:ext uri="{FF2B5EF4-FFF2-40B4-BE49-F238E27FC236}">
                <a16:creationId xmlns:a16="http://schemas.microsoft.com/office/drawing/2014/main" id="{DE826A83-B716-2943-8E13-4A4F869D1E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4447" y="6397467"/>
            <a:ext cx="1649666" cy="365125"/>
          </a:xfrm>
          <a:prstGeom prst="rect">
            <a:avLst/>
          </a:prstGeom>
        </p:spPr>
        <p:txBody>
          <a:bodyPr lIns="0" rIns="0"/>
          <a:lstStyle>
            <a:lvl1pPr>
              <a:defRPr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15ED19F9-A5BE-9849-B2C0-587CB263D801}" type="datetime1">
              <a:rPr lang="de-DE" sz="1400" smtClean="0"/>
              <a:t>24.06.2024</a:t>
            </a:fld>
            <a:endParaRPr lang="de-DE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Fußzeilenplatzhalter 3">
            <a:extLst>
              <a:ext uri="{FF2B5EF4-FFF2-40B4-BE49-F238E27FC236}">
                <a16:creationId xmlns:a16="http://schemas.microsoft.com/office/drawing/2014/main" id="{DC6DDD28-82B9-D34F-9827-73F51C2F83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76352" y="6397467"/>
            <a:ext cx="5248435" cy="365125"/>
          </a:xfrm>
          <a:prstGeom prst="rect">
            <a:avLst/>
          </a:prstGeom>
        </p:spPr>
        <p:txBody>
          <a:bodyPr lIns="0" rIns="0"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r>
              <a:rPr lang="de-DE">
                <a:latin typeface="Calibri" panose="020F0502020204030204" pitchFamily="34" charset="0"/>
                <a:cs typeface="Calibri" panose="020F0502020204030204" pitchFamily="34" charset="0"/>
              </a:rPr>
              <a:t>Bitte Fußzeile definieren</a:t>
            </a:r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59938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226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Folgefolie_dr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platzhalter 2">
            <a:extLst>
              <a:ext uri="{FF2B5EF4-FFF2-40B4-BE49-F238E27FC236}">
                <a16:creationId xmlns:a16="http://schemas.microsoft.com/office/drawing/2014/main" id="{5A13B56B-6F6A-DB41-9801-EE1E50758FE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77106" y="4964113"/>
            <a:ext cx="3453938" cy="28339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lang="de-DE" sz="2000" b="1" i="0" smtClean="0">
                <a:solidFill>
                  <a:schemeClr val="tx1"/>
                </a:solidFill>
                <a:effectLst/>
                <a:latin typeface="Calibri" panose="020F0502020204030204" pitchFamily="34" charset="0"/>
              </a:defRPr>
            </a:lvl1pPr>
          </a:lstStyle>
          <a:p>
            <a:pPr lvl="0"/>
            <a:r>
              <a:rPr lang="de-DE" dirty="0"/>
              <a:t>Titel Schaubild 2</a:t>
            </a:r>
          </a:p>
          <a:p>
            <a:pPr lvl="0"/>
            <a:endParaRPr lang="de-DE" dirty="0"/>
          </a:p>
          <a:p>
            <a:pPr lvl="0"/>
            <a:endParaRPr lang="de-DE" dirty="0"/>
          </a:p>
          <a:p>
            <a:pPr lvl="0"/>
            <a:endParaRPr lang="de-DE" dirty="0"/>
          </a:p>
        </p:txBody>
      </p:sp>
      <p:cxnSp>
        <p:nvCxnSpPr>
          <p:cNvPr id="3" name="Gerade Verbindung 2">
            <a:extLst>
              <a:ext uri="{FF2B5EF4-FFF2-40B4-BE49-F238E27FC236}">
                <a16:creationId xmlns:a16="http://schemas.microsoft.com/office/drawing/2014/main" id="{FFEB92DE-2B1C-6245-974C-89D379012E58}"/>
              </a:ext>
            </a:extLst>
          </p:cNvPr>
          <p:cNvCxnSpPr>
            <a:cxnSpLocks/>
          </p:cNvCxnSpPr>
          <p:nvPr userDrawn="1"/>
        </p:nvCxnSpPr>
        <p:spPr>
          <a:xfrm>
            <a:off x="4377106" y="4868863"/>
            <a:ext cx="345393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platzhalter 2">
            <a:extLst>
              <a:ext uri="{FF2B5EF4-FFF2-40B4-BE49-F238E27FC236}">
                <a16:creationId xmlns:a16="http://schemas.microsoft.com/office/drawing/2014/main" id="{73045693-A9F4-3E41-9566-311390A8BD8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985388" y="4973638"/>
            <a:ext cx="3457575" cy="28338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lang="de-DE" sz="2000" b="1" i="0" smtClean="0">
                <a:solidFill>
                  <a:schemeClr val="tx1"/>
                </a:solidFill>
                <a:effectLst/>
                <a:latin typeface="Calibri" panose="020F0502020204030204" pitchFamily="34" charset="0"/>
              </a:defRPr>
            </a:lvl1pPr>
          </a:lstStyle>
          <a:p>
            <a:pPr lvl="0"/>
            <a:r>
              <a:rPr lang="de-DE" dirty="0"/>
              <a:t>Titel Schaubild 3</a:t>
            </a:r>
          </a:p>
          <a:p>
            <a:pPr lvl="0"/>
            <a:endParaRPr lang="de-DE" dirty="0"/>
          </a:p>
          <a:p>
            <a:pPr lvl="0"/>
            <a:endParaRPr lang="de-DE" dirty="0"/>
          </a:p>
          <a:p>
            <a:pPr lvl="0"/>
            <a:endParaRPr lang="de-DE" dirty="0"/>
          </a:p>
        </p:txBody>
      </p:sp>
      <p:cxnSp>
        <p:nvCxnSpPr>
          <p:cNvPr id="17" name="Gerade Verbindung 16">
            <a:extLst>
              <a:ext uri="{FF2B5EF4-FFF2-40B4-BE49-F238E27FC236}">
                <a16:creationId xmlns:a16="http://schemas.microsoft.com/office/drawing/2014/main" id="{A200283E-EAD8-DC4A-890F-41D37AFE3D8B}"/>
              </a:ext>
            </a:extLst>
          </p:cNvPr>
          <p:cNvCxnSpPr/>
          <p:nvPr userDrawn="1"/>
        </p:nvCxnSpPr>
        <p:spPr>
          <a:xfrm>
            <a:off x="7964950" y="4862697"/>
            <a:ext cx="345393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Grafik 31">
            <a:extLst>
              <a:ext uri="{FF2B5EF4-FFF2-40B4-BE49-F238E27FC236}">
                <a16:creationId xmlns:a16="http://schemas.microsoft.com/office/drawing/2014/main" id="{4A31EA58-2ED9-0D42-B6FE-6647C07FCF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4861685" y="3933737"/>
            <a:ext cx="352988" cy="475766"/>
          </a:xfrm>
          <a:prstGeom prst="rect">
            <a:avLst/>
          </a:prstGeom>
        </p:spPr>
      </p:pic>
      <p:pic>
        <p:nvPicPr>
          <p:cNvPr id="33" name="Grafik 32">
            <a:extLst>
              <a:ext uri="{FF2B5EF4-FFF2-40B4-BE49-F238E27FC236}">
                <a16:creationId xmlns:a16="http://schemas.microsoft.com/office/drawing/2014/main" id="{1F83C332-50A6-0242-B70D-B1EC2B7B28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5639366" y="3922643"/>
            <a:ext cx="352988" cy="475766"/>
          </a:xfrm>
          <a:prstGeom prst="rect">
            <a:avLst/>
          </a:prstGeom>
        </p:spPr>
      </p:pic>
      <p:pic>
        <p:nvPicPr>
          <p:cNvPr id="34" name="Grafik 33">
            <a:extLst>
              <a:ext uri="{FF2B5EF4-FFF2-40B4-BE49-F238E27FC236}">
                <a16:creationId xmlns:a16="http://schemas.microsoft.com/office/drawing/2014/main" id="{5ADD662B-6F8A-6B4A-BD46-B8DF6D76A1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6417047" y="3922643"/>
            <a:ext cx="352988" cy="475766"/>
          </a:xfrm>
          <a:prstGeom prst="rect">
            <a:avLst/>
          </a:prstGeom>
        </p:spPr>
      </p:pic>
      <p:pic>
        <p:nvPicPr>
          <p:cNvPr id="35" name="Grafik 34">
            <a:extLst>
              <a:ext uri="{FF2B5EF4-FFF2-40B4-BE49-F238E27FC236}">
                <a16:creationId xmlns:a16="http://schemas.microsoft.com/office/drawing/2014/main" id="{1314C85A-5A9F-7041-9C2E-BB065DFECE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7122649" y="3922240"/>
            <a:ext cx="352988" cy="475766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5D489F43-A498-EB49-BC7F-D2C7EBBE0AD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 flipH="1">
            <a:off x="8422205" y="3963083"/>
            <a:ext cx="423043" cy="415873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72FE717C-5D60-F94B-9506-2BAAD0C5D28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 flipH="1">
            <a:off x="9201970" y="3988542"/>
            <a:ext cx="423043" cy="415873"/>
          </a:xfrm>
          <a:prstGeom prst="rect">
            <a:avLst/>
          </a:prstGeom>
        </p:spPr>
      </p:pic>
      <p:pic>
        <p:nvPicPr>
          <p:cNvPr id="38" name="Grafik 37">
            <a:extLst>
              <a:ext uri="{FF2B5EF4-FFF2-40B4-BE49-F238E27FC236}">
                <a16:creationId xmlns:a16="http://schemas.microsoft.com/office/drawing/2014/main" id="{8F173759-4709-E44F-99FE-FCB710FEF76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 flipH="1">
            <a:off x="9936689" y="3988542"/>
            <a:ext cx="423043" cy="415873"/>
          </a:xfrm>
          <a:prstGeom prst="rect">
            <a:avLst/>
          </a:prstGeom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EEEB8EB9-B66F-C54B-B161-3CACB7B9A73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 flipH="1">
            <a:off x="10696946" y="3974580"/>
            <a:ext cx="423043" cy="415873"/>
          </a:xfrm>
          <a:prstGeom prst="rect">
            <a:avLst/>
          </a:prstGeom>
        </p:spPr>
      </p:pic>
      <p:sp>
        <p:nvSpPr>
          <p:cNvPr id="28" name="Title 1">
            <a:extLst>
              <a:ext uri="{FF2B5EF4-FFF2-40B4-BE49-F238E27FC236}">
                <a16:creationId xmlns:a16="http://schemas.microsoft.com/office/drawing/2014/main" id="{17DD8DB5-49E9-0C4C-8764-9192253494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6762" y="230191"/>
            <a:ext cx="8854613" cy="232648"/>
          </a:xfrm>
          <a:prstGeom prst="rect">
            <a:avLst/>
          </a:prstGeom>
        </p:spPr>
        <p:txBody>
          <a:bodyPr vert="horz" lIns="0" tIns="0" rIns="0" bIns="0" anchor="t" anchorCtr="0">
            <a:noAutofit/>
          </a:bodyPr>
          <a:lstStyle>
            <a:lvl1pPr marL="0" indent="0" algn="l">
              <a:tabLst/>
              <a:defRPr sz="1400" b="1" i="0" cap="all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KAPITELÜBERSCHRIFT</a:t>
            </a:r>
            <a:endParaRPr lang="en-US" dirty="0"/>
          </a:p>
        </p:txBody>
      </p:sp>
      <p:cxnSp>
        <p:nvCxnSpPr>
          <p:cNvPr id="40" name="Gerade Verbindung 39">
            <a:extLst>
              <a:ext uri="{FF2B5EF4-FFF2-40B4-BE49-F238E27FC236}">
                <a16:creationId xmlns:a16="http://schemas.microsoft.com/office/drawing/2014/main" id="{B33CE7AB-B76C-5C41-B745-4A0DB7110FAA}"/>
              </a:ext>
            </a:extLst>
          </p:cNvPr>
          <p:cNvCxnSpPr>
            <a:cxnSpLocks/>
          </p:cNvCxnSpPr>
          <p:nvPr userDrawn="1"/>
        </p:nvCxnSpPr>
        <p:spPr>
          <a:xfrm>
            <a:off x="763124" y="547687"/>
            <a:ext cx="885825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platzhalter 2">
            <a:extLst>
              <a:ext uri="{FF2B5EF4-FFF2-40B4-BE49-F238E27FC236}">
                <a16:creationId xmlns:a16="http://schemas.microsoft.com/office/drawing/2014/main" id="{BE306332-DC2F-5F45-8A5E-8363E076D42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5444" y="4965618"/>
            <a:ext cx="3453938" cy="28339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lang="de-DE" sz="2000" b="1" i="0" smtClean="0">
                <a:solidFill>
                  <a:schemeClr val="tx1"/>
                </a:solidFill>
                <a:effectLst/>
                <a:latin typeface="Calibri" panose="020F0502020204030204" pitchFamily="34" charset="0"/>
              </a:defRPr>
            </a:lvl1pPr>
          </a:lstStyle>
          <a:p>
            <a:pPr lvl="0"/>
            <a:r>
              <a:rPr lang="de-DE" dirty="0"/>
              <a:t>Titel Schaubild 1</a:t>
            </a:r>
          </a:p>
          <a:p>
            <a:pPr lvl="0"/>
            <a:endParaRPr lang="de-DE" dirty="0"/>
          </a:p>
          <a:p>
            <a:pPr lvl="0"/>
            <a:endParaRPr lang="de-DE" dirty="0"/>
          </a:p>
          <a:p>
            <a:pPr lvl="0"/>
            <a:endParaRPr lang="de-DE" dirty="0"/>
          </a:p>
        </p:txBody>
      </p:sp>
      <p:cxnSp>
        <p:nvCxnSpPr>
          <p:cNvPr id="43" name="Gerade Verbindung 42">
            <a:extLst>
              <a:ext uri="{FF2B5EF4-FFF2-40B4-BE49-F238E27FC236}">
                <a16:creationId xmlns:a16="http://schemas.microsoft.com/office/drawing/2014/main" id="{1E1A5B44-7BDD-D049-8F18-82C0F0A29E66}"/>
              </a:ext>
            </a:extLst>
          </p:cNvPr>
          <p:cNvCxnSpPr>
            <a:cxnSpLocks/>
          </p:cNvCxnSpPr>
          <p:nvPr userDrawn="1"/>
        </p:nvCxnSpPr>
        <p:spPr>
          <a:xfrm>
            <a:off x="765444" y="4870368"/>
            <a:ext cx="345393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afik 44">
            <a:extLst>
              <a:ext uri="{FF2B5EF4-FFF2-40B4-BE49-F238E27FC236}">
                <a16:creationId xmlns:a16="http://schemas.microsoft.com/office/drawing/2014/main" id="{13A25E51-7C5D-6748-BC05-004EB5EF7E41}"/>
              </a:ext>
            </a:extLst>
          </p:cNvPr>
          <p:cNvGrpSpPr/>
          <p:nvPr/>
        </p:nvGrpSpPr>
        <p:grpSpPr>
          <a:xfrm>
            <a:off x="1228148" y="4008909"/>
            <a:ext cx="448758" cy="406979"/>
            <a:chOff x="1228148" y="4008909"/>
            <a:chExt cx="448758" cy="406979"/>
          </a:xfrm>
        </p:grpSpPr>
        <p:sp>
          <p:nvSpPr>
            <p:cNvPr id="4" name="Freihandform 3">
              <a:extLst>
                <a:ext uri="{FF2B5EF4-FFF2-40B4-BE49-F238E27FC236}">
                  <a16:creationId xmlns:a16="http://schemas.microsoft.com/office/drawing/2014/main" id="{D4FF3BAF-D14E-7E4C-8748-8288D20523CE}"/>
                </a:ext>
              </a:extLst>
            </p:cNvPr>
            <p:cNvSpPr/>
            <p:nvPr/>
          </p:nvSpPr>
          <p:spPr>
            <a:xfrm>
              <a:off x="1228148" y="4219901"/>
              <a:ext cx="180018" cy="186620"/>
            </a:xfrm>
            <a:custGeom>
              <a:avLst/>
              <a:gdLst>
                <a:gd name="connsiteX0" fmla="*/ 170390 w 180018"/>
                <a:gd name="connsiteY0" fmla="*/ 84952 h 186620"/>
                <a:gd name="connsiteX1" fmla="*/ 158237 w 180018"/>
                <a:gd name="connsiteY1" fmla="*/ 53705 h 186620"/>
                <a:gd name="connsiteX2" fmla="*/ 159868 w 180018"/>
                <a:gd name="connsiteY2" fmla="*/ 50426 h 186620"/>
                <a:gd name="connsiteX3" fmla="*/ 158395 w 180018"/>
                <a:gd name="connsiteY3" fmla="*/ 32943 h 186620"/>
                <a:gd name="connsiteX4" fmla="*/ 142496 w 180018"/>
                <a:gd name="connsiteY4" fmla="*/ 28572 h 186620"/>
                <a:gd name="connsiteX5" fmla="*/ 142085 w 180018"/>
                <a:gd name="connsiteY5" fmla="*/ 28833 h 186620"/>
                <a:gd name="connsiteX6" fmla="*/ 110518 w 180018"/>
                <a:gd name="connsiteY6" fmla="*/ 11570 h 186620"/>
                <a:gd name="connsiteX7" fmla="*/ 95577 w 180018"/>
                <a:gd name="connsiteY7" fmla="*/ 116 h 186620"/>
                <a:gd name="connsiteX8" fmla="*/ 82634 w 180018"/>
                <a:gd name="connsiteY8" fmla="*/ 10255 h 186620"/>
                <a:gd name="connsiteX9" fmla="*/ 56328 w 180018"/>
                <a:gd name="connsiteY9" fmla="*/ 24284 h 186620"/>
                <a:gd name="connsiteX10" fmla="*/ 49068 w 180018"/>
                <a:gd name="connsiteY10" fmla="*/ 20722 h 186620"/>
                <a:gd name="connsiteX11" fmla="*/ 30759 w 180018"/>
                <a:gd name="connsiteY11" fmla="*/ 23134 h 186620"/>
                <a:gd name="connsiteX12" fmla="*/ 28392 w 180018"/>
                <a:gd name="connsiteY12" fmla="*/ 39849 h 186620"/>
                <a:gd name="connsiteX13" fmla="*/ 11293 w 180018"/>
                <a:gd name="connsiteY13" fmla="*/ 72731 h 186620"/>
                <a:gd name="connsiteX14" fmla="*/ 1244 w 180018"/>
                <a:gd name="connsiteY14" fmla="*/ 82322 h 186620"/>
                <a:gd name="connsiteX15" fmla="*/ 34 w 180018"/>
                <a:gd name="connsiteY15" fmla="*/ 90926 h 186620"/>
                <a:gd name="connsiteX16" fmla="*/ 8610 w 180018"/>
                <a:gd name="connsiteY16" fmla="*/ 101886 h 186620"/>
                <a:gd name="connsiteX17" fmla="*/ 20921 w 180018"/>
                <a:gd name="connsiteY17" fmla="*/ 136906 h 186620"/>
                <a:gd name="connsiteX18" fmla="*/ 20921 w 180018"/>
                <a:gd name="connsiteY18" fmla="*/ 153840 h 186620"/>
                <a:gd name="connsiteX19" fmla="*/ 38809 w 180018"/>
                <a:gd name="connsiteY19" fmla="*/ 158937 h 186620"/>
                <a:gd name="connsiteX20" fmla="*/ 46437 w 180018"/>
                <a:gd name="connsiteY20" fmla="*/ 156526 h 186620"/>
                <a:gd name="connsiteX21" fmla="*/ 70691 w 180018"/>
                <a:gd name="connsiteY21" fmla="*/ 174501 h 186620"/>
                <a:gd name="connsiteX22" fmla="*/ 82108 w 180018"/>
                <a:gd name="connsiteY22" fmla="*/ 186503 h 186620"/>
                <a:gd name="connsiteX23" fmla="*/ 98470 w 180018"/>
                <a:gd name="connsiteY23" fmla="*/ 177461 h 186620"/>
                <a:gd name="connsiteX24" fmla="*/ 132194 w 180018"/>
                <a:gd name="connsiteY24" fmla="*/ 165185 h 186620"/>
                <a:gd name="connsiteX25" fmla="*/ 148705 w 180018"/>
                <a:gd name="connsiteY25" fmla="*/ 164680 h 186620"/>
                <a:gd name="connsiteX26" fmla="*/ 149293 w 180018"/>
                <a:gd name="connsiteY26" fmla="*/ 163979 h 186620"/>
                <a:gd name="connsiteX27" fmla="*/ 153186 w 180018"/>
                <a:gd name="connsiteY27" fmla="*/ 146880 h 186620"/>
                <a:gd name="connsiteX28" fmla="*/ 165139 w 180018"/>
                <a:gd name="connsiteY28" fmla="*/ 115549 h 186620"/>
                <a:gd name="connsiteX29" fmla="*/ 168391 w 180018"/>
                <a:gd name="connsiteY29" fmla="*/ 114382 h 186620"/>
                <a:gd name="connsiteX30" fmla="*/ 179439 w 180018"/>
                <a:gd name="connsiteY30" fmla="*/ 104681 h 186620"/>
                <a:gd name="connsiteX31" fmla="*/ 180018 w 180018"/>
                <a:gd name="connsiteY31" fmla="*/ 95913 h 186620"/>
                <a:gd name="connsiteX32" fmla="*/ 170390 w 180018"/>
                <a:gd name="connsiteY32" fmla="*/ 84952 h 186620"/>
                <a:gd name="connsiteX33" fmla="*/ 133562 w 180018"/>
                <a:gd name="connsiteY33" fmla="*/ 100516 h 186620"/>
                <a:gd name="connsiteX34" fmla="*/ 84998 w 180018"/>
                <a:gd name="connsiteY34" fmla="*/ 140753 h 186620"/>
                <a:gd name="connsiteX35" fmla="*/ 46122 w 180018"/>
                <a:gd name="connsiteY35" fmla="*/ 93556 h 186620"/>
                <a:gd name="connsiteX36" fmla="*/ 46700 w 180018"/>
                <a:gd name="connsiteY36" fmla="*/ 86377 h 186620"/>
                <a:gd name="connsiteX37" fmla="*/ 96819 w 180018"/>
                <a:gd name="connsiteY37" fmla="*/ 48265 h 186620"/>
                <a:gd name="connsiteX38" fmla="*/ 133930 w 180018"/>
                <a:gd name="connsiteY38" fmla="*/ 93063 h 186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80018" h="186620">
                  <a:moveTo>
                    <a:pt x="170390" y="84952"/>
                  </a:moveTo>
                  <a:cubicBezTo>
                    <a:pt x="158750" y="79819"/>
                    <a:pt x="153309" y="65829"/>
                    <a:pt x="158237" y="53705"/>
                  </a:cubicBezTo>
                  <a:cubicBezTo>
                    <a:pt x="158698" y="52570"/>
                    <a:pt x="159244" y="51473"/>
                    <a:pt x="159868" y="50426"/>
                  </a:cubicBezTo>
                  <a:cubicBezTo>
                    <a:pt x="165129" y="43082"/>
                    <a:pt x="162972" y="38753"/>
                    <a:pt x="158395" y="32943"/>
                  </a:cubicBezTo>
                  <a:cubicBezTo>
                    <a:pt x="155163" y="27163"/>
                    <a:pt x="148045" y="25206"/>
                    <a:pt x="142496" y="28572"/>
                  </a:cubicBezTo>
                  <a:cubicBezTo>
                    <a:pt x="142357" y="28656"/>
                    <a:pt x="142220" y="28743"/>
                    <a:pt x="142085" y="28833"/>
                  </a:cubicBezTo>
                  <a:cubicBezTo>
                    <a:pt x="131563" y="34313"/>
                    <a:pt x="112412" y="24668"/>
                    <a:pt x="110518" y="11570"/>
                  </a:cubicBezTo>
                  <a:cubicBezTo>
                    <a:pt x="108993" y="1048"/>
                    <a:pt x="103047" y="993"/>
                    <a:pt x="95577" y="116"/>
                  </a:cubicBezTo>
                  <a:cubicBezTo>
                    <a:pt x="88106" y="-761"/>
                    <a:pt x="84791" y="3404"/>
                    <a:pt x="82634" y="10255"/>
                  </a:cubicBezTo>
                  <a:cubicBezTo>
                    <a:pt x="80477" y="17105"/>
                    <a:pt x="65693" y="24997"/>
                    <a:pt x="56328" y="24284"/>
                  </a:cubicBezTo>
                  <a:cubicBezTo>
                    <a:pt x="53722" y="23562"/>
                    <a:pt x="51262" y="22355"/>
                    <a:pt x="49068" y="20722"/>
                  </a:cubicBezTo>
                  <a:cubicBezTo>
                    <a:pt x="41755" y="13488"/>
                    <a:pt x="36652" y="18037"/>
                    <a:pt x="30759" y="23134"/>
                  </a:cubicBezTo>
                  <a:cubicBezTo>
                    <a:pt x="24867" y="28230"/>
                    <a:pt x="25077" y="33163"/>
                    <a:pt x="28392" y="39849"/>
                  </a:cubicBezTo>
                  <a:cubicBezTo>
                    <a:pt x="33653" y="50809"/>
                    <a:pt x="23709" y="70922"/>
                    <a:pt x="11293" y="72731"/>
                  </a:cubicBezTo>
                  <a:cubicBezTo>
                    <a:pt x="3822" y="73717"/>
                    <a:pt x="2033" y="77389"/>
                    <a:pt x="1244" y="82322"/>
                  </a:cubicBezTo>
                  <a:lnTo>
                    <a:pt x="34" y="90926"/>
                  </a:lnTo>
                  <a:cubicBezTo>
                    <a:pt x="-400" y="96386"/>
                    <a:pt x="3388" y="101228"/>
                    <a:pt x="8610" y="101886"/>
                  </a:cubicBezTo>
                  <a:cubicBezTo>
                    <a:pt x="20710" y="105394"/>
                    <a:pt x="27760" y="127041"/>
                    <a:pt x="20921" y="136906"/>
                  </a:cubicBezTo>
                  <a:cubicBezTo>
                    <a:pt x="16659" y="142989"/>
                    <a:pt x="15660" y="147867"/>
                    <a:pt x="20921" y="153840"/>
                  </a:cubicBezTo>
                  <a:cubicBezTo>
                    <a:pt x="26182" y="159814"/>
                    <a:pt x="30443" y="164801"/>
                    <a:pt x="38809" y="158937"/>
                  </a:cubicBezTo>
                  <a:cubicBezTo>
                    <a:pt x="41202" y="157689"/>
                    <a:pt x="43782" y="156874"/>
                    <a:pt x="46437" y="156526"/>
                  </a:cubicBezTo>
                  <a:cubicBezTo>
                    <a:pt x="55960" y="157348"/>
                    <a:pt x="69534" y="167486"/>
                    <a:pt x="70691" y="174501"/>
                  </a:cubicBezTo>
                  <a:cubicBezTo>
                    <a:pt x="71849" y="181516"/>
                    <a:pt x="74006" y="186284"/>
                    <a:pt x="82108" y="186503"/>
                  </a:cubicBezTo>
                  <a:cubicBezTo>
                    <a:pt x="90210" y="186723"/>
                    <a:pt x="95471" y="187599"/>
                    <a:pt x="98470" y="177461"/>
                  </a:cubicBezTo>
                  <a:cubicBezTo>
                    <a:pt x="102258" y="164801"/>
                    <a:pt x="122356" y="158005"/>
                    <a:pt x="132194" y="165185"/>
                  </a:cubicBezTo>
                  <a:cubicBezTo>
                    <a:pt x="136887" y="169795"/>
                    <a:pt x="144279" y="169569"/>
                    <a:pt x="148705" y="164680"/>
                  </a:cubicBezTo>
                  <a:cubicBezTo>
                    <a:pt x="148909" y="164455"/>
                    <a:pt x="149106" y="164221"/>
                    <a:pt x="149293" y="163979"/>
                  </a:cubicBezTo>
                  <a:cubicBezTo>
                    <a:pt x="154554" y="158937"/>
                    <a:pt x="157290" y="154882"/>
                    <a:pt x="153186" y="146880"/>
                  </a:cubicBezTo>
                  <a:cubicBezTo>
                    <a:pt x="148181" y="134790"/>
                    <a:pt x="153532" y="120763"/>
                    <a:pt x="165139" y="115549"/>
                  </a:cubicBezTo>
                  <a:cubicBezTo>
                    <a:pt x="166193" y="115075"/>
                    <a:pt x="167280" y="114685"/>
                    <a:pt x="168391" y="114382"/>
                  </a:cubicBezTo>
                  <a:cubicBezTo>
                    <a:pt x="173783" y="114194"/>
                    <a:pt x="178349" y="110185"/>
                    <a:pt x="179439" y="104681"/>
                  </a:cubicBezTo>
                  <a:lnTo>
                    <a:pt x="180018" y="95913"/>
                  </a:lnTo>
                  <a:cubicBezTo>
                    <a:pt x="179545" y="90432"/>
                    <a:pt x="177072" y="86980"/>
                    <a:pt x="170390" y="84952"/>
                  </a:cubicBezTo>
                  <a:close/>
                  <a:moveTo>
                    <a:pt x="133562" y="100516"/>
                  </a:moveTo>
                  <a:cubicBezTo>
                    <a:pt x="130818" y="125597"/>
                    <a:pt x="109075" y="143611"/>
                    <a:pt x="84998" y="140753"/>
                  </a:cubicBezTo>
                  <a:cubicBezTo>
                    <a:pt x="62178" y="138044"/>
                    <a:pt x="45225" y="117462"/>
                    <a:pt x="46122" y="93556"/>
                  </a:cubicBezTo>
                  <a:lnTo>
                    <a:pt x="46700" y="86377"/>
                  </a:lnTo>
                  <a:cubicBezTo>
                    <a:pt x="50437" y="61436"/>
                    <a:pt x="72876" y="44373"/>
                    <a:pt x="96819" y="48265"/>
                  </a:cubicBezTo>
                  <a:cubicBezTo>
                    <a:pt x="118052" y="51716"/>
                    <a:pt x="133760" y="70678"/>
                    <a:pt x="133930" y="93063"/>
                  </a:cubicBezTo>
                  <a:close/>
                </a:path>
              </a:pathLst>
            </a:custGeom>
            <a:noFill/>
            <a:ln w="1143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 b="0" i="0" dirty="0">
                <a:latin typeface="Calibri" panose="020F0502020204030204" pitchFamily="34" charset="0"/>
              </a:endParaRPr>
            </a:p>
          </p:txBody>
        </p:sp>
        <p:sp>
          <p:nvSpPr>
            <p:cNvPr id="5" name="Freihandform 4">
              <a:extLst>
                <a:ext uri="{FF2B5EF4-FFF2-40B4-BE49-F238E27FC236}">
                  <a16:creationId xmlns:a16="http://schemas.microsoft.com/office/drawing/2014/main" id="{50387A19-21F5-DE4B-A0F8-E472B34257B6}"/>
                </a:ext>
              </a:extLst>
            </p:cNvPr>
            <p:cNvSpPr/>
            <p:nvPr/>
          </p:nvSpPr>
          <p:spPr>
            <a:xfrm>
              <a:off x="1418267" y="4321588"/>
              <a:ext cx="91124" cy="94300"/>
            </a:xfrm>
            <a:custGeom>
              <a:avLst/>
              <a:gdLst>
                <a:gd name="connsiteX0" fmla="*/ 86126 w 91124"/>
                <a:gd name="connsiteY0" fmla="*/ 42946 h 94300"/>
                <a:gd name="connsiteX1" fmla="*/ 80087 w 91124"/>
                <a:gd name="connsiteY1" fmla="*/ 27015 h 94300"/>
                <a:gd name="connsiteX2" fmla="*/ 80865 w 91124"/>
                <a:gd name="connsiteY2" fmla="*/ 25464 h 94300"/>
                <a:gd name="connsiteX3" fmla="*/ 80181 w 91124"/>
                <a:gd name="connsiteY3" fmla="*/ 16585 h 94300"/>
                <a:gd name="connsiteX4" fmla="*/ 72117 w 91124"/>
                <a:gd name="connsiteY4" fmla="*/ 14395 h 94300"/>
                <a:gd name="connsiteX5" fmla="*/ 71710 w 91124"/>
                <a:gd name="connsiteY5" fmla="*/ 14667 h 94300"/>
                <a:gd name="connsiteX6" fmla="*/ 55927 w 91124"/>
                <a:gd name="connsiteY6" fmla="*/ 5844 h 94300"/>
                <a:gd name="connsiteX7" fmla="*/ 48403 w 91124"/>
                <a:gd name="connsiteY7" fmla="*/ 35 h 94300"/>
                <a:gd name="connsiteX8" fmla="*/ 41827 w 91124"/>
                <a:gd name="connsiteY8" fmla="*/ 5241 h 94300"/>
                <a:gd name="connsiteX9" fmla="*/ 28358 w 91124"/>
                <a:gd name="connsiteY9" fmla="*/ 12311 h 94300"/>
                <a:gd name="connsiteX10" fmla="*/ 24728 w 91124"/>
                <a:gd name="connsiteY10" fmla="*/ 10557 h 94300"/>
                <a:gd name="connsiteX11" fmla="*/ 15416 w 91124"/>
                <a:gd name="connsiteY11" fmla="*/ 11763 h 94300"/>
                <a:gd name="connsiteX12" fmla="*/ 14206 w 91124"/>
                <a:gd name="connsiteY12" fmla="*/ 20202 h 94300"/>
                <a:gd name="connsiteX13" fmla="*/ 5578 w 91124"/>
                <a:gd name="connsiteY13" fmla="*/ 36644 h 94300"/>
                <a:gd name="connsiteX14" fmla="*/ 316 w 91124"/>
                <a:gd name="connsiteY14" fmla="*/ 41521 h 94300"/>
                <a:gd name="connsiteX15" fmla="*/ 1 w 91124"/>
                <a:gd name="connsiteY15" fmla="*/ 45905 h 94300"/>
                <a:gd name="connsiteX16" fmla="*/ 4315 w 91124"/>
                <a:gd name="connsiteY16" fmla="*/ 51386 h 94300"/>
                <a:gd name="connsiteX17" fmla="*/ 10623 w 91124"/>
                <a:gd name="connsiteY17" fmla="*/ 69036 h 94300"/>
                <a:gd name="connsiteX18" fmla="*/ 10576 w 91124"/>
                <a:gd name="connsiteY18" fmla="*/ 69142 h 94300"/>
                <a:gd name="connsiteX19" fmla="*/ 10576 w 91124"/>
                <a:gd name="connsiteY19" fmla="*/ 77637 h 94300"/>
                <a:gd name="connsiteX20" fmla="*/ 19572 w 91124"/>
                <a:gd name="connsiteY20" fmla="*/ 80322 h 94300"/>
                <a:gd name="connsiteX21" fmla="*/ 23465 w 91124"/>
                <a:gd name="connsiteY21" fmla="*/ 79062 h 94300"/>
                <a:gd name="connsiteX22" fmla="*/ 35724 w 91124"/>
                <a:gd name="connsiteY22" fmla="*/ 88159 h 94300"/>
                <a:gd name="connsiteX23" fmla="*/ 41511 w 91124"/>
                <a:gd name="connsiteY23" fmla="*/ 94242 h 94300"/>
                <a:gd name="connsiteX24" fmla="*/ 49824 w 91124"/>
                <a:gd name="connsiteY24" fmla="*/ 89694 h 94300"/>
                <a:gd name="connsiteX25" fmla="*/ 66703 w 91124"/>
                <a:gd name="connsiteY25" fmla="*/ 83390 h 94300"/>
                <a:gd name="connsiteX26" fmla="*/ 66923 w 91124"/>
                <a:gd name="connsiteY26" fmla="*/ 83501 h 94300"/>
                <a:gd name="connsiteX27" fmla="*/ 75396 w 91124"/>
                <a:gd name="connsiteY27" fmla="*/ 83094 h 94300"/>
                <a:gd name="connsiteX28" fmla="*/ 75604 w 91124"/>
                <a:gd name="connsiteY28" fmla="*/ 82843 h 94300"/>
                <a:gd name="connsiteX29" fmla="*/ 77550 w 91124"/>
                <a:gd name="connsiteY29" fmla="*/ 74184 h 94300"/>
                <a:gd name="connsiteX30" fmla="*/ 83675 w 91124"/>
                <a:gd name="connsiteY30" fmla="*/ 58288 h 94300"/>
                <a:gd name="connsiteX31" fmla="*/ 85179 w 91124"/>
                <a:gd name="connsiteY31" fmla="*/ 57743 h 94300"/>
                <a:gd name="connsiteX32" fmla="*/ 90861 w 91124"/>
                <a:gd name="connsiteY32" fmla="*/ 52865 h 94300"/>
                <a:gd name="connsiteX33" fmla="*/ 91124 w 91124"/>
                <a:gd name="connsiteY33" fmla="*/ 48426 h 94300"/>
                <a:gd name="connsiteX34" fmla="*/ 86126 w 91124"/>
                <a:gd name="connsiteY34" fmla="*/ 42946 h 94300"/>
                <a:gd name="connsiteX35" fmla="*/ 67396 w 91124"/>
                <a:gd name="connsiteY35" fmla="*/ 50838 h 94300"/>
                <a:gd name="connsiteX36" fmla="*/ 41744 w 91124"/>
                <a:gd name="connsiteY36" fmla="*/ 69833 h 94300"/>
                <a:gd name="connsiteX37" fmla="*/ 23202 w 91124"/>
                <a:gd name="connsiteY37" fmla="*/ 47440 h 94300"/>
                <a:gd name="connsiteX38" fmla="*/ 23518 w 91124"/>
                <a:gd name="connsiteY38" fmla="*/ 43549 h 94300"/>
                <a:gd name="connsiteX39" fmla="*/ 48862 w 91124"/>
                <a:gd name="connsiteY39" fmla="*/ 24242 h 94300"/>
                <a:gd name="connsiteX40" fmla="*/ 67659 w 91124"/>
                <a:gd name="connsiteY40" fmla="*/ 46947 h 9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91124" h="94300">
                  <a:moveTo>
                    <a:pt x="86126" y="42946"/>
                  </a:moveTo>
                  <a:cubicBezTo>
                    <a:pt x="80235" y="40284"/>
                    <a:pt x="77531" y="33151"/>
                    <a:pt x="80087" y="27015"/>
                  </a:cubicBezTo>
                  <a:cubicBezTo>
                    <a:pt x="80310" y="26479"/>
                    <a:pt x="80570" y="25961"/>
                    <a:pt x="80865" y="25464"/>
                  </a:cubicBezTo>
                  <a:cubicBezTo>
                    <a:pt x="83548" y="21737"/>
                    <a:pt x="82496" y="19545"/>
                    <a:pt x="80181" y="16585"/>
                  </a:cubicBezTo>
                  <a:cubicBezTo>
                    <a:pt x="78535" y="13661"/>
                    <a:pt x="74925" y="12680"/>
                    <a:pt x="72117" y="14395"/>
                  </a:cubicBezTo>
                  <a:cubicBezTo>
                    <a:pt x="71978" y="14480"/>
                    <a:pt x="71842" y="14571"/>
                    <a:pt x="71710" y="14667"/>
                  </a:cubicBezTo>
                  <a:cubicBezTo>
                    <a:pt x="65017" y="16731"/>
                    <a:pt x="57977" y="12795"/>
                    <a:pt x="55927" y="5844"/>
                  </a:cubicBezTo>
                  <a:cubicBezTo>
                    <a:pt x="55138" y="364"/>
                    <a:pt x="52191" y="364"/>
                    <a:pt x="48403" y="35"/>
                  </a:cubicBezTo>
                  <a:cubicBezTo>
                    <a:pt x="44615" y="-294"/>
                    <a:pt x="42879" y="1734"/>
                    <a:pt x="41827" y="5241"/>
                  </a:cubicBezTo>
                  <a:cubicBezTo>
                    <a:pt x="38740" y="9778"/>
                    <a:pt x="33695" y="12426"/>
                    <a:pt x="28358" y="12311"/>
                  </a:cubicBezTo>
                  <a:cubicBezTo>
                    <a:pt x="27060" y="11948"/>
                    <a:pt x="25832" y="11355"/>
                    <a:pt x="24728" y="10557"/>
                  </a:cubicBezTo>
                  <a:cubicBezTo>
                    <a:pt x="20993" y="6830"/>
                    <a:pt x="18415" y="9132"/>
                    <a:pt x="15416" y="11763"/>
                  </a:cubicBezTo>
                  <a:cubicBezTo>
                    <a:pt x="12417" y="14393"/>
                    <a:pt x="12575" y="16805"/>
                    <a:pt x="14206" y="20202"/>
                  </a:cubicBezTo>
                  <a:cubicBezTo>
                    <a:pt x="16144" y="27220"/>
                    <a:pt x="12294" y="34554"/>
                    <a:pt x="5578" y="36644"/>
                  </a:cubicBezTo>
                  <a:cubicBezTo>
                    <a:pt x="2884" y="36627"/>
                    <a:pt x="613" y="38732"/>
                    <a:pt x="316" y="41521"/>
                  </a:cubicBezTo>
                  <a:lnTo>
                    <a:pt x="1" y="45905"/>
                  </a:lnTo>
                  <a:cubicBezTo>
                    <a:pt x="-41" y="48585"/>
                    <a:pt x="1784" y="50904"/>
                    <a:pt x="4315" y="51386"/>
                  </a:cubicBezTo>
                  <a:cubicBezTo>
                    <a:pt x="10736" y="54445"/>
                    <a:pt x="13560" y="62348"/>
                    <a:pt x="10623" y="69036"/>
                  </a:cubicBezTo>
                  <a:cubicBezTo>
                    <a:pt x="10607" y="69071"/>
                    <a:pt x="10591" y="69107"/>
                    <a:pt x="10576" y="69142"/>
                  </a:cubicBezTo>
                  <a:cubicBezTo>
                    <a:pt x="8471" y="72211"/>
                    <a:pt x="7945" y="74623"/>
                    <a:pt x="10576" y="77637"/>
                  </a:cubicBezTo>
                  <a:cubicBezTo>
                    <a:pt x="13206" y="80651"/>
                    <a:pt x="15416" y="83117"/>
                    <a:pt x="19572" y="80322"/>
                  </a:cubicBezTo>
                  <a:cubicBezTo>
                    <a:pt x="20799" y="79692"/>
                    <a:pt x="22112" y="79267"/>
                    <a:pt x="23465" y="79062"/>
                  </a:cubicBezTo>
                  <a:cubicBezTo>
                    <a:pt x="28306" y="79500"/>
                    <a:pt x="35198" y="84542"/>
                    <a:pt x="35724" y="88159"/>
                  </a:cubicBezTo>
                  <a:cubicBezTo>
                    <a:pt x="36250" y="91776"/>
                    <a:pt x="37460" y="94133"/>
                    <a:pt x="41511" y="94242"/>
                  </a:cubicBezTo>
                  <a:cubicBezTo>
                    <a:pt x="45562" y="94352"/>
                    <a:pt x="48298" y="94790"/>
                    <a:pt x="49824" y="89694"/>
                  </a:cubicBezTo>
                  <a:cubicBezTo>
                    <a:pt x="52814" y="83097"/>
                    <a:pt x="60371" y="80276"/>
                    <a:pt x="66703" y="83390"/>
                  </a:cubicBezTo>
                  <a:cubicBezTo>
                    <a:pt x="66777" y="83426"/>
                    <a:pt x="66850" y="83463"/>
                    <a:pt x="66923" y="83501"/>
                  </a:cubicBezTo>
                  <a:cubicBezTo>
                    <a:pt x="69370" y="85826"/>
                    <a:pt x="73164" y="85643"/>
                    <a:pt x="75396" y="83094"/>
                  </a:cubicBezTo>
                  <a:cubicBezTo>
                    <a:pt x="75467" y="83012"/>
                    <a:pt x="75536" y="82929"/>
                    <a:pt x="75604" y="82843"/>
                  </a:cubicBezTo>
                  <a:cubicBezTo>
                    <a:pt x="78287" y="80267"/>
                    <a:pt x="79655" y="78240"/>
                    <a:pt x="77550" y="74184"/>
                  </a:cubicBezTo>
                  <a:cubicBezTo>
                    <a:pt x="75028" y="68033"/>
                    <a:pt x="77770" y="60916"/>
                    <a:pt x="83675" y="58288"/>
                  </a:cubicBezTo>
                  <a:cubicBezTo>
                    <a:pt x="84164" y="58071"/>
                    <a:pt x="84666" y="57889"/>
                    <a:pt x="85179" y="57743"/>
                  </a:cubicBezTo>
                  <a:cubicBezTo>
                    <a:pt x="88704" y="57085"/>
                    <a:pt x="90440" y="55551"/>
                    <a:pt x="90861" y="52865"/>
                  </a:cubicBezTo>
                  <a:lnTo>
                    <a:pt x="91124" y="48426"/>
                  </a:lnTo>
                  <a:cubicBezTo>
                    <a:pt x="90756" y="45851"/>
                    <a:pt x="89546" y="44097"/>
                    <a:pt x="86126" y="42946"/>
                  </a:cubicBezTo>
                  <a:close/>
                  <a:moveTo>
                    <a:pt x="67396" y="50838"/>
                  </a:moveTo>
                  <a:cubicBezTo>
                    <a:pt x="65348" y="63462"/>
                    <a:pt x="53863" y="71966"/>
                    <a:pt x="41744" y="69833"/>
                  </a:cubicBezTo>
                  <a:cubicBezTo>
                    <a:pt x="31202" y="67976"/>
                    <a:pt x="23417" y="58574"/>
                    <a:pt x="23202" y="47440"/>
                  </a:cubicBezTo>
                  <a:lnTo>
                    <a:pt x="23518" y="43549"/>
                  </a:lnTo>
                  <a:cubicBezTo>
                    <a:pt x="25398" y="30927"/>
                    <a:pt x="36745" y="22283"/>
                    <a:pt x="48862" y="24242"/>
                  </a:cubicBezTo>
                  <a:cubicBezTo>
                    <a:pt x="59626" y="25982"/>
                    <a:pt x="67589" y="35600"/>
                    <a:pt x="67659" y="46947"/>
                  </a:cubicBezTo>
                  <a:close/>
                </a:path>
              </a:pathLst>
            </a:custGeom>
            <a:solidFill>
              <a:schemeClr val="bg1"/>
            </a:solidFill>
            <a:ln w="11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b="0" i="0" dirty="0">
                <a:latin typeface="Calibri" panose="020F0502020204030204" pitchFamily="34" charset="0"/>
              </a:endParaRPr>
            </a:p>
          </p:txBody>
        </p:sp>
        <p:sp>
          <p:nvSpPr>
            <p:cNvPr id="6" name="Freihandform 5">
              <a:extLst>
                <a:ext uri="{FF2B5EF4-FFF2-40B4-BE49-F238E27FC236}">
                  <a16:creationId xmlns:a16="http://schemas.microsoft.com/office/drawing/2014/main" id="{E19A78A5-6626-E248-BC2B-8D925FF88C49}"/>
                </a:ext>
              </a:extLst>
            </p:cNvPr>
            <p:cNvSpPr/>
            <p:nvPr/>
          </p:nvSpPr>
          <p:spPr>
            <a:xfrm>
              <a:off x="1366159" y="4008909"/>
              <a:ext cx="310747" cy="322959"/>
            </a:xfrm>
            <a:custGeom>
              <a:avLst/>
              <a:gdLst>
                <a:gd name="connsiteX0" fmla="*/ 309222 w 310747"/>
                <a:gd name="connsiteY0" fmla="*/ 132848 h 322959"/>
                <a:gd name="connsiteX1" fmla="*/ 289019 w 310747"/>
                <a:gd name="connsiteY1" fmla="*/ 117229 h 322959"/>
                <a:gd name="connsiteX2" fmla="*/ 259925 w 310747"/>
                <a:gd name="connsiteY2" fmla="*/ 62425 h 322959"/>
                <a:gd name="connsiteX3" fmla="*/ 251349 w 310747"/>
                <a:gd name="connsiteY3" fmla="*/ 32886 h 322959"/>
                <a:gd name="connsiteX4" fmla="*/ 221729 w 310747"/>
                <a:gd name="connsiteY4" fmla="*/ 32886 h 322959"/>
                <a:gd name="connsiteX5" fmla="*/ 162330 w 310747"/>
                <a:gd name="connsiteY5" fmla="*/ 15020 h 322959"/>
                <a:gd name="connsiteX6" fmla="*/ 133183 w 310747"/>
                <a:gd name="connsiteY6" fmla="*/ 716 h 322959"/>
                <a:gd name="connsiteX7" fmla="*/ 114559 w 310747"/>
                <a:gd name="connsiteY7" fmla="*/ 22638 h 322959"/>
                <a:gd name="connsiteX8" fmla="*/ 74153 w 310747"/>
                <a:gd name="connsiteY8" fmla="*/ 56068 h 322959"/>
                <a:gd name="connsiteX9" fmla="*/ 60737 w 310747"/>
                <a:gd name="connsiteY9" fmla="*/ 52670 h 322959"/>
                <a:gd name="connsiteX10" fmla="*/ 30328 w 310747"/>
                <a:gd name="connsiteY10" fmla="*/ 63631 h 322959"/>
                <a:gd name="connsiteX11" fmla="*/ 31906 w 310747"/>
                <a:gd name="connsiteY11" fmla="*/ 92786 h 322959"/>
                <a:gd name="connsiteX12" fmla="*/ 13913 w 310747"/>
                <a:gd name="connsiteY12" fmla="*/ 154715 h 322959"/>
                <a:gd name="connsiteX13" fmla="*/ 23 w 310747"/>
                <a:gd name="connsiteY13" fmla="*/ 174608 h 322959"/>
                <a:gd name="connsiteX14" fmla="*/ 1865 w 310747"/>
                <a:gd name="connsiteY14" fmla="*/ 189570 h 322959"/>
                <a:gd name="connsiteX15" fmla="*/ 20121 w 310747"/>
                <a:gd name="connsiteY15" fmla="*/ 205189 h 322959"/>
                <a:gd name="connsiteX16" fmla="*/ 52635 w 310747"/>
                <a:gd name="connsiteY16" fmla="*/ 259992 h 322959"/>
                <a:gd name="connsiteX17" fmla="*/ 58212 w 310747"/>
                <a:gd name="connsiteY17" fmla="*/ 288710 h 322959"/>
                <a:gd name="connsiteX18" fmla="*/ 90252 w 310747"/>
                <a:gd name="connsiteY18" fmla="*/ 291011 h 322959"/>
                <a:gd name="connsiteX19" fmla="*/ 102458 w 310747"/>
                <a:gd name="connsiteY19" fmla="*/ 284161 h 322959"/>
                <a:gd name="connsiteX20" fmla="*/ 149809 w 310747"/>
                <a:gd name="connsiteY20" fmla="*/ 306082 h 322959"/>
                <a:gd name="connsiteX21" fmla="*/ 173116 w 310747"/>
                <a:gd name="connsiteY21" fmla="*/ 322524 h 322959"/>
                <a:gd name="connsiteX22" fmla="*/ 197948 w 310747"/>
                <a:gd name="connsiteY22" fmla="*/ 301205 h 322959"/>
                <a:gd name="connsiteX23" fmla="*/ 215784 w 310747"/>
                <a:gd name="connsiteY23" fmla="*/ 274022 h 322959"/>
                <a:gd name="connsiteX24" fmla="*/ 226306 w 310747"/>
                <a:gd name="connsiteY24" fmla="*/ 268542 h 322959"/>
                <a:gd name="connsiteX25" fmla="*/ 250613 w 310747"/>
                <a:gd name="connsiteY25" fmla="*/ 267994 h 322959"/>
                <a:gd name="connsiteX26" fmla="*/ 279286 w 310747"/>
                <a:gd name="connsiteY26" fmla="*/ 259718 h 322959"/>
                <a:gd name="connsiteX27" fmla="*/ 280233 w 310747"/>
                <a:gd name="connsiteY27" fmla="*/ 229302 h 322959"/>
                <a:gd name="connsiteX28" fmla="*/ 294964 w 310747"/>
                <a:gd name="connsiteY28" fmla="*/ 168525 h 322959"/>
                <a:gd name="connsiteX29" fmla="*/ 310748 w 310747"/>
                <a:gd name="connsiteY29" fmla="*/ 148083 h 322959"/>
                <a:gd name="connsiteX30" fmla="*/ 155859 w 310747"/>
                <a:gd name="connsiteY30" fmla="*/ 250237 h 322959"/>
                <a:gd name="connsiteX31" fmla="*/ 70470 w 310747"/>
                <a:gd name="connsiteY31" fmla="*/ 161291 h 322959"/>
                <a:gd name="connsiteX32" fmla="*/ 155859 w 310747"/>
                <a:gd name="connsiteY32" fmla="*/ 72345 h 322959"/>
                <a:gd name="connsiteX33" fmla="*/ 241248 w 310747"/>
                <a:gd name="connsiteY33" fmla="*/ 161291 h 322959"/>
                <a:gd name="connsiteX34" fmla="*/ 155859 w 310747"/>
                <a:gd name="connsiteY34" fmla="*/ 250237 h 322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10747" h="322959">
                  <a:moveTo>
                    <a:pt x="309222" y="132848"/>
                  </a:moveTo>
                  <a:cubicBezTo>
                    <a:pt x="306539" y="123531"/>
                    <a:pt x="301172" y="118654"/>
                    <a:pt x="289019" y="117229"/>
                  </a:cubicBezTo>
                  <a:cubicBezTo>
                    <a:pt x="266554" y="114434"/>
                    <a:pt x="250349" y="83963"/>
                    <a:pt x="259925" y="62425"/>
                  </a:cubicBezTo>
                  <a:cubicBezTo>
                    <a:pt x="266133" y="48067"/>
                    <a:pt x="261030" y="41381"/>
                    <a:pt x="251349" y="32886"/>
                  </a:cubicBezTo>
                  <a:cubicBezTo>
                    <a:pt x="241669" y="24391"/>
                    <a:pt x="232672" y="23624"/>
                    <a:pt x="221729" y="32886"/>
                  </a:cubicBezTo>
                  <a:cubicBezTo>
                    <a:pt x="205419" y="46423"/>
                    <a:pt x="170064" y="36503"/>
                    <a:pt x="162330" y="15020"/>
                  </a:cubicBezTo>
                  <a:cubicBezTo>
                    <a:pt x="156227" y="-2408"/>
                    <a:pt x="146126" y="-435"/>
                    <a:pt x="133183" y="716"/>
                  </a:cubicBezTo>
                  <a:cubicBezTo>
                    <a:pt x="119294" y="2032"/>
                    <a:pt x="115822" y="10307"/>
                    <a:pt x="114559" y="22638"/>
                  </a:cubicBezTo>
                  <a:cubicBezTo>
                    <a:pt x="113296" y="34969"/>
                    <a:pt x="90621" y="53766"/>
                    <a:pt x="74153" y="56068"/>
                  </a:cubicBezTo>
                  <a:cubicBezTo>
                    <a:pt x="69523" y="55774"/>
                    <a:pt x="64980" y="54623"/>
                    <a:pt x="60737" y="52670"/>
                  </a:cubicBezTo>
                  <a:cubicBezTo>
                    <a:pt x="45848" y="42915"/>
                    <a:pt x="38693" y="52670"/>
                    <a:pt x="30328" y="63631"/>
                  </a:cubicBezTo>
                  <a:cubicBezTo>
                    <a:pt x="21962" y="74592"/>
                    <a:pt x="24067" y="82757"/>
                    <a:pt x="31906" y="92786"/>
                  </a:cubicBezTo>
                  <a:cubicBezTo>
                    <a:pt x="44638" y="109228"/>
                    <a:pt x="34379" y="147590"/>
                    <a:pt x="13913" y="154715"/>
                  </a:cubicBezTo>
                  <a:cubicBezTo>
                    <a:pt x="1549" y="159044"/>
                    <a:pt x="-240" y="165675"/>
                    <a:pt x="23" y="174608"/>
                  </a:cubicBezTo>
                  <a:lnTo>
                    <a:pt x="1865" y="189570"/>
                  </a:lnTo>
                  <a:cubicBezTo>
                    <a:pt x="3706" y="198010"/>
                    <a:pt x="7126" y="204257"/>
                    <a:pt x="20121" y="205189"/>
                  </a:cubicBezTo>
                  <a:cubicBezTo>
                    <a:pt x="41692" y="206833"/>
                    <a:pt x="61000" y="240976"/>
                    <a:pt x="52635" y="259992"/>
                  </a:cubicBezTo>
                  <a:cubicBezTo>
                    <a:pt x="47374" y="271830"/>
                    <a:pt x="47374" y="280379"/>
                    <a:pt x="58212" y="288710"/>
                  </a:cubicBezTo>
                  <a:cubicBezTo>
                    <a:pt x="69050" y="297040"/>
                    <a:pt x="78204" y="304438"/>
                    <a:pt x="90252" y="291011"/>
                  </a:cubicBezTo>
                  <a:cubicBezTo>
                    <a:pt x="93906" y="288004"/>
                    <a:pt x="98037" y="285686"/>
                    <a:pt x="102458" y="284161"/>
                  </a:cubicBezTo>
                  <a:cubicBezTo>
                    <a:pt x="118926" y="282078"/>
                    <a:pt x="145337" y="294354"/>
                    <a:pt x="149809" y="306082"/>
                  </a:cubicBezTo>
                  <a:cubicBezTo>
                    <a:pt x="154281" y="317810"/>
                    <a:pt x="159437" y="324825"/>
                    <a:pt x="173116" y="322524"/>
                  </a:cubicBezTo>
                  <a:cubicBezTo>
                    <a:pt x="185953" y="320222"/>
                    <a:pt x="196212" y="319509"/>
                    <a:pt x="197948" y="301205"/>
                  </a:cubicBezTo>
                  <a:cubicBezTo>
                    <a:pt x="199739" y="289841"/>
                    <a:pt x="206270" y="279887"/>
                    <a:pt x="215784" y="274022"/>
                  </a:cubicBezTo>
                  <a:cubicBezTo>
                    <a:pt x="219071" y="271770"/>
                    <a:pt x="222604" y="269931"/>
                    <a:pt x="226306" y="268542"/>
                  </a:cubicBezTo>
                  <a:cubicBezTo>
                    <a:pt x="234051" y="265170"/>
                    <a:pt x="242734" y="264974"/>
                    <a:pt x="250613" y="267994"/>
                  </a:cubicBezTo>
                  <a:cubicBezTo>
                    <a:pt x="263450" y="273913"/>
                    <a:pt x="271394" y="271063"/>
                    <a:pt x="279286" y="259718"/>
                  </a:cubicBezTo>
                  <a:cubicBezTo>
                    <a:pt x="287178" y="248374"/>
                    <a:pt x="289808" y="241414"/>
                    <a:pt x="280233" y="229302"/>
                  </a:cubicBezTo>
                  <a:cubicBezTo>
                    <a:pt x="265712" y="210943"/>
                    <a:pt x="273919" y="177129"/>
                    <a:pt x="294964" y="168525"/>
                  </a:cubicBezTo>
                  <a:cubicBezTo>
                    <a:pt x="306381" y="163922"/>
                    <a:pt x="310327" y="157564"/>
                    <a:pt x="310748" y="148083"/>
                  </a:cubicBezTo>
                  <a:close/>
                  <a:moveTo>
                    <a:pt x="155859" y="250237"/>
                  </a:moveTo>
                  <a:cubicBezTo>
                    <a:pt x="108700" y="250237"/>
                    <a:pt x="70470" y="210415"/>
                    <a:pt x="70470" y="161291"/>
                  </a:cubicBezTo>
                  <a:cubicBezTo>
                    <a:pt x="70470" y="112167"/>
                    <a:pt x="108700" y="72345"/>
                    <a:pt x="155859" y="72345"/>
                  </a:cubicBezTo>
                  <a:cubicBezTo>
                    <a:pt x="203018" y="72345"/>
                    <a:pt x="241248" y="112167"/>
                    <a:pt x="241248" y="161291"/>
                  </a:cubicBezTo>
                  <a:cubicBezTo>
                    <a:pt x="241190" y="210390"/>
                    <a:pt x="202994" y="250177"/>
                    <a:pt x="155859" y="250237"/>
                  </a:cubicBezTo>
                  <a:close/>
                </a:path>
              </a:pathLst>
            </a:custGeom>
            <a:noFill/>
            <a:ln w="1143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 b="0" i="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46" name="Grafik 44">
            <a:extLst>
              <a:ext uri="{FF2B5EF4-FFF2-40B4-BE49-F238E27FC236}">
                <a16:creationId xmlns:a16="http://schemas.microsoft.com/office/drawing/2014/main" id="{CA77326C-C554-624C-AD24-C1E1A9101CED}"/>
              </a:ext>
            </a:extLst>
          </p:cNvPr>
          <p:cNvGrpSpPr/>
          <p:nvPr userDrawn="1"/>
        </p:nvGrpSpPr>
        <p:grpSpPr>
          <a:xfrm>
            <a:off x="1929618" y="4016411"/>
            <a:ext cx="448758" cy="406979"/>
            <a:chOff x="1228148" y="4008909"/>
            <a:chExt cx="448758" cy="406979"/>
          </a:xfrm>
        </p:grpSpPr>
        <p:sp>
          <p:nvSpPr>
            <p:cNvPr id="47" name="Freihandform 46">
              <a:extLst>
                <a:ext uri="{FF2B5EF4-FFF2-40B4-BE49-F238E27FC236}">
                  <a16:creationId xmlns:a16="http://schemas.microsoft.com/office/drawing/2014/main" id="{20F59666-3B63-4C43-80D2-E1D81D9C3EDE}"/>
                </a:ext>
              </a:extLst>
            </p:cNvPr>
            <p:cNvSpPr/>
            <p:nvPr/>
          </p:nvSpPr>
          <p:spPr>
            <a:xfrm>
              <a:off x="1228148" y="4219901"/>
              <a:ext cx="180018" cy="186620"/>
            </a:xfrm>
            <a:custGeom>
              <a:avLst/>
              <a:gdLst>
                <a:gd name="connsiteX0" fmla="*/ 170390 w 180018"/>
                <a:gd name="connsiteY0" fmla="*/ 84952 h 186620"/>
                <a:gd name="connsiteX1" fmla="*/ 158237 w 180018"/>
                <a:gd name="connsiteY1" fmla="*/ 53705 h 186620"/>
                <a:gd name="connsiteX2" fmla="*/ 159868 w 180018"/>
                <a:gd name="connsiteY2" fmla="*/ 50426 h 186620"/>
                <a:gd name="connsiteX3" fmla="*/ 158395 w 180018"/>
                <a:gd name="connsiteY3" fmla="*/ 32943 h 186620"/>
                <a:gd name="connsiteX4" fmla="*/ 142496 w 180018"/>
                <a:gd name="connsiteY4" fmla="*/ 28572 h 186620"/>
                <a:gd name="connsiteX5" fmla="*/ 142085 w 180018"/>
                <a:gd name="connsiteY5" fmla="*/ 28833 h 186620"/>
                <a:gd name="connsiteX6" fmla="*/ 110518 w 180018"/>
                <a:gd name="connsiteY6" fmla="*/ 11570 h 186620"/>
                <a:gd name="connsiteX7" fmla="*/ 95577 w 180018"/>
                <a:gd name="connsiteY7" fmla="*/ 116 h 186620"/>
                <a:gd name="connsiteX8" fmla="*/ 82634 w 180018"/>
                <a:gd name="connsiteY8" fmla="*/ 10255 h 186620"/>
                <a:gd name="connsiteX9" fmla="*/ 56328 w 180018"/>
                <a:gd name="connsiteY9" fmla="*/ 24284 h 186620"/>
                <a:gd name="connsiteX10" fmla="*/ 49068 w 180018"/>
                <a:gd name="connsiteY10" fmla="*/ 20722 h 186620"/>
                <a:gd name="connsiteX11" fmla="*/ 30759 w 180018"/>
                <a:gd name="connsiteY11" fmla="*/ 23134 h 186620"/>
                <a:gd name="connsiteX12" fmla="*/ 28392 w 180018"/>
                <a:gd name="connsiteY12" fmla="*/ 39849 h 186620"/>
                <a:gd name="connsiteX13" fmla="*/ 11293 w 180018"/>
                <a:gd name="connsiteY13" fmla="*/ 72731 h 186620"/>
                <a:gd name="connsiteX14" fmla="*/ 1244 w 180018"/>
                <a:gd name="connsiteY14" fmla="*/ 82322 h 186620"/>
                <a:gd name="connsiteX15" fmla="*/ 34 w 180018"/>
                <a:gd name="connsiteY15" fmla="*/ 90926 h 186620"/>
                <a:gd name="connsiteX16" fmla="*/ 8610 w 180018"/>
                <a:gd name="connsiteY16" fmla="*/ 101886 h 186620"/>
                <a:gd name="connsiteX17" fmla="*/ 20921 w 180018"/>
                <a:gd name="connsiteY17" fmla="*/ 136906 h 186620"/>
                <a:gd name="connsiteX18" fmla="*/ 20921 w 180018"/>
                <a:gd name="connsiteY18" fmla="*/ 153840 h 186620"/>
                <a:gd name="connsiteX19" fmla="*/ 38809 w 180018"/>
                <a:gd name="connsiteY19" fmla="*/ 158937 h 186620"/>
                <a:gd name="connsiteX20" fmla="*/ 46437 w 180018"/>
                <a:gd name="connsiteY20" fmla="*/ 156526 h 186620"/>
                <a:gd name="connsiteX21" fmla="*/ 70691 w 180018"/>
                <a:gd name="connsiteY21" fmla="*/ 174501 h 186620"/>
                <a:gd name="connsiteX22" fmla="*/ 82108 w 180018"/>
                <a:gd name="connsiteY22" fmla="*/ 186503 h 186620"/>
                <a:gd name="connsiteX23" fmla="*/ 98470 w 180018"/>
                <a:gd name="connsiteY23" fmla="*/ 177461 h 186620"/>
                <a:gd name="connsiteX24" fmla="*/ 132194 w 180018"/>
                <a:gd name="connsiteY24" fmla="*/ 165185 h 186620"/>
                <a:gd name="connsiteX25" fmla="*/ 148705 w 180018"/>
                <a:gd name="connsiteY25" fmla="*/ 164680 h 186620"/>
                <a:gd name="connsiteX26" fmla="*/ 149293 w 180018"/>
                <a:gd name="connsiteY26" fmla="*/ 163979 h 186620"/>
                <a:gd name="connsiteX27" fmla="*/ 153186 w 180018"/>
                <a:gd name="connsiteY27" fmla="*/ 146880 h 186620"/>
                <a:gd name="connsiteX28" fmla="*/ 165139 w 180018"/>
                <a:gd name="connsiteY28" fmla="*/ 115549 h 186620"/>
                <a:gd name="connsiteX29" fmla="*/ 168391 w 180018"/>
                <a:gd name="connsiteY29" fmla="*/ 114382 h 186620"/>
                <a:gd name="connsiteX30" fmla="*/ 179439 w 180018"/>
                <a:gd name="connsiteY30" fmla="*/ 104681 h 186620"/>
                <a:gd name="connsiteX31" fmla="*/ 180018 w 180018"/>
                <a:gd name="connsiteY31" fmla="*/ 95913 h 186620"/>
                <a:gd name="connsiteX32" fmla="*/ 170390 w 180018"/>
                <a:gd name="connsiteY32" fmla="*/ 84952 h 186620"/>
                <a:gd name="connsiteX33" fmla="*/ 133562 w 180018"/>
                <a:gd name="connsiteY33" fmla="*/ 100516 h 186620"/>
                <a:gd name="connsiteX34" fmla="*/ 84998 w 180018"/>
                <a:gd name="connsiteY34" fmla="*/ 140753 h 186620"/>
                <a:gd name="connsiteX35" fmla="*/ 46122 w 180018"/>
                <a:gd name="connsiteY35" fmla="*/ 93556 h 186620"/>
                <a:gd name="connsiteX36" fmla="*/ 46700 w 180018"/>
                <a:gd name="connsiteY36" fmla="*/ 86377 h 186620"/>
                <a:gd name="connsiteX37" fmla="*/ 96819 w 180018"/>
                <a:gd name="connsiteY37" fmla="*/ 48265 h 186620"/>
                <a:gd name="connsiteX38" fmla="*/ 133930 w 180018"/>
                <a:gd name="connsiteY38" fmla="*/ 93063 h 186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80018" h="186620">
                  <a:moveTo>
                    <a:pt x="170390" y="84952"/>
                  </a:moveTo>
                  <a:cubicBezTo>
                    <a:pt x="158750" y="79819"/>
                    <a:pt x="153309" y="65829"/>
                    <a:pt x="158237" y="53705"/>
                  </a:cubicBezTo>
                  <a:cubicBezTo>
                    <a:pt x="158698" y="52570"/>
                    <a:pt x="159244" y="51473"/>
                    <a:pt x="159868" y="50426"/>
                  </a:cubicBezTo>
                  <a:cubicBezTo>
                    <a:pt x="165129" y="43082"/>
                    <a:pt x="162972" y="38753"/>
                    <a:pt x="158395" y="32943"/>
                  </a:cubicBezTo>
                  <a:cubicBezTo>
                    <a:pt x="155163" y="27163"/>
                    <a:pt x="148045" y="25206"/>
                    <a:pt x="142496" y="28572"/>
                  </a:cubicBezTo>
                  <a:cubicBezTo>
                    <a:pt x="142357" y="28656"/>
                    <a:pt x="142220" y="28743"/>
                    <a:pt x="142085" y="28833"/>
                  </a:cubicBezTo>
                  <a:cubicBezTo>
                    <a:pt x="131563" y="34313"/>
                    <a:pt x="112412" y="24668"/>
                    <a:pt x="110518" y="11570"/>
                  </a:cubicBezTo>
                  <a:cubicBezTo>
                    <a:pt x="108993" y="1048"/>
                    <a:pt x="103047" y="993"/>
                    <a:pt x="95577" y="116"/>
                  </a:cubicBezTo>
                  <a:cubicBezTo>
                    <a:pt x="88106" y="-761"/>
                    <a:pt x="84791" y="3404"/>
                    <a:pt x="82634" y="10255"/>
                  </a:cubicBezTo>
                  <a:cubicBezTo>
                    <a:pt x="80477" y="17105"/>
                    <a:pt x="65693" y="24997"/>
                    <a:pt x="56328" y="24284"/>
                  </a:cubicBezTo>
                  <a:cubicBezTo>
                    <a:pt x="53722" y="23562"/>
                    <a:pt x="51262" y="22355"/>
                    <a:pt x="49068" y="20722"/>
                  </a:cubicBezTo>
                  <a:cubicBezTo>
                    <a:pt x="41755" y="13488"/>
                    <a:pt x="36652" y="18037"/>
                    <a:pt x="30759" y="23134"/>
                  </a:cubicBezTo>
                  <a:cubicBezTo>
                    <a:pt x="24867" y="28230"/>
                    <a:pt x="25077" y="33163"/>
                    <a:pt x="28392" y="39849"/>
                  </a:cubicBezTo>
                  <a:cubicBezTo>
                    <a:pt x="33653" y="50809"/>
                    <a:pt x="23709" y="70922"/>
                    <a:pt x="11293" y="72731"/>
                  </a:cubicBezTo>
                  <a:cubicBezTo>
                    <a:pt x="3822" y="73717"/>
                    <a:pt x="2033" y="77389"/>
                    <a:pt x="1244" y="82322"/>
                  </a:cubicBezTo>
                  <a:lnTo>
                    <a:pt x="34" y="90926"/>
                  </a:lnTo>
                  <a:cubicBezTo>
                    <a:pt x="-400" y="96386"/>
                    <a:pt x="3388" y="101228"/>
                    <a:pt x="8610" y="101886"/>
                  </a:cubicBezTo>
                  <a:cubicBezTo>
                    <a:pt x="20710" y="105394"/>
                    <a:pt x="27760" y="127041"/>
                    <a:pt x="20921" y="136906"/>
                  </a:cubicBezTo>
                  <a:cubicBezTo>
                    <a:pt x="16659" y="142989"/>
                    <a:pt x="15660" y="147867"/>
                    <a:pt x="20921" y="153840"/>
                  </a:cubicBezTo>
                  <a:cubicBezTo>
                    <a:pt x="26182" y="159814"/>
                    <a:pt x="30443" y="164801"/>
                    <a:pt x="38809" y="158937"/>
                  </a:cubicBezTo>
                  <a:cubicBezTo>
                    <a:pt x="41202" y="157689"/>
                    <a:pt x="43782" y="156874"/>
                    <a:pt x="46437" y="156526"/>
                  </a:cubicBezTo>
                  <a:cubicBezTo>
                    <a:pt x="55960" y="157348"/>
                    <a:pt x="69534" y="167486"/>
                    <a:pt x="70691" y="174501"/>
                  </a:cubicBezTo>
                  <a:cubicBezTo>
                    <a:pt x="71849" y="181516"/>
                    <a:pt x="74006" y="186284"/>
                    <a:pt x="82108" y="186503"/>
                  </a:cubicBezTo>
                  <a:cubicBezTo>
                    <a:pt x="90210" y="186723"/>
                    <a:pt x="95471" y="187599"/>
                    <a:pt x="98470" y="177461"/>
                  </a:cubicBezTo>
                  <a:cubicBezTo>
                    <a:pt x="102258" y="164801"/>
                    <a:pt x="122356" y="158005"/>
                    <a:pt x="132194" y="165185"/>
                  </a:cubicBezTo>
                  <a:cubicBezTo>
                    <a:pt x="136887" y="169795"/>
                    <a:pt x="144279" y="169569"/>
                    <a:pt x="148705" y="164680"/>
                  </a:cubicBezTo>
                  <a:cubicBezTo>
                    <a:pt x="148909" y="164455"/>
                    <a:pt x="149106" y="164221"/>
                    <a:pt x="149293" y="163979"/>
                  </a:cubicBezTo>
                  <a:cubicBezTo>
                    <a:pt x="154554" y="158937"/>
                    <a:pt x="157290" y="154882"/>
                    <a:pt x="153186" y="146880"/>
                  </a:cubicBezTo>
                  <a:cubicBezTo>
                    <a:pt x="148181" y="134790"/>
                    <a:pt x="153532" y="120763"/>
                    <a:pt x="165139" y="115549"/>
                  </a:cubicBezTo>
                  <a:cubicBezTo>
                    <a:pt x="166193" y="115075"/>
                    <a:pt x="167280" y="114685"/>
                    <a:pt x="168391" y="114382"/>
                  </a:cubicBezTo>
                  <a:cubicBezTo>
                    <a:pt x="173783" y="114194"/>
                    <a:pt x="178349" y="110185"/>
                    <a:pt x="179439" y="104681"/>
                  </a:cubicBezTo>
                  <a:lnTo>
                    <a:pt x="180018" y="95913"/>
                  </a:lnTo>
                  <a:cubicBezTo>
                    <a:pt x="179545" y="90432"/>
                    <a:pt x="177072" y="86980"/>
                    <a:pt x="170390" y="84952"/>
                  </a:cubicBezTo>
                  <a:close/>
                  <a:moveTo>
                    <a:pt x="133562" y="100516"/>
                  </a:moveTo>
                  <a:cubicBezTo>
                    <a:pt x="130818" y="125597"/>
                    <a:pt x="109075" y="143611"/>
                    <a:pt x="84998" y="140753"/>
                  </a:cubicBezTo>
                  <a:cubicBezTo>
                    <a:pt x="62178" y="138044"/>
                    <a:pt x="45225" y="117462"/>
                    <a:pt x="46122" y="93556"/>
                  </a:cubicBezTo>
                  <a:lnTo>
                    <a:pt x="46700" y="86377"/>
                  </a:lnTo>
                  <a:cubicBezTo>
                    <a:pt x="50437" y="61436"/>
                    <a:pt x="72876" y="44373"/>
                    <a:pt x="96819" y="48265"/>
                  </a:cubicBezTo>
                  <a:cubicBezTo>
                    <a:pt x="118052" y="51716"/>
                    <a:pt x="133760" y="70678"/>
                    <a:pt x="133930" y="93063"/>
                  </a:cubicBezTo>
                  <a:close/>
                </a:path>
              </a:pathLst>
            </a:custGeom>
            <a:noFill/>
            <a:ln w="1143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 b="0" i="0" dirty="0">
                <a:latin typeface="Calibri" panose="020F0502020204030204" pitchFamily="34" charset="0"/>
              </a:endParaRPr>
            </a:p>
          </p:txBody>
        </p:sp>
        <p:sp>
          <p:nvSpPr>
            <p:cNvPr id="48" name="Freihandform 47">
              <a:extLst>
                <a:ext uri="{FF2B5EF4-FFF2-40B4-BE49-F238E27FC236}">
                  <a16:creationId xmlns:a16="http://schemas.microsoft.com/office/drawing/2014/main" id="{42560E58-D390-FC4C-A17A-A6B29CD2163B}"/>
                </a:ext>
              </a:extLst>
            </p:cNvPr>
            <p:cNvSpPr/>
            <p:nvPr/>
          </p:nvSpPr>
          <p:spPr>
            <a:xfrm>
              <a:off x="1418267" y="4321588"/>
              <a:ext cx="91124" cy="94300"/>
            </a:xfrm>
            <a:custGeom>
              <a:avLst/>
              <a:gdLst>
                <a:gd name="connsiteX0" fmla="*/ 86126 w 91124"/>
                <a:gd name="connsiteY0" fmla="*/ 42946 h 94300"/>
                <a:gd name="connsiteX1" fmla="*/ 80087 w 91124"/>
                <a:gd name="connsiteY1" fmla="*/ 27015 h 94300"/>
                <a:gd name="connsiteX2" fmla="*/ 80865 w 91124"/>
                <a:gd name="connsiteY2" fmla="*/ 25464 h 94300"/>
                <a:gd name="connsiteX3" fmla="*/ 80181 w 91124"/>
                <a:gd name="connsiteY3" fmla="*/ 16585 h 94300"/>
                <a:gd name="connsiteX4" fmla="*/ 72117 w 91124"/>
                <a:gd name="connsiteY4" fmla="*/ 14395 h 94300"/>
                <a:gd name="connsiteX5" fmla="*/ 71710 w 91124"/>
                <a:gd name="connsiteY5" fmla="*/ 14667 h 94300"/>
                <a:gd name="connsiteX6" fmla="*/ 55927 w 91124"/>
                <a:gd name="connsiteY6" fmla="*/ 5844 h 94300"/>
                <a:gd name="connsiteX7" fmla="*/ 48403 w 91124"/>
                <a:gd name="connsiteY7" fmla="*/ 35 h 94300"/>
                <a:gd name="connsiteX8" fmla="*/ 41827 w 91124"/>
                <a:gd name="connsiteY8" fmla="*/ 5241 h 94300"/>
                <a:gd name="connsiteX9" fmla="*/ 28358 w 91124"/>
                <a:gd name="connsiteY9" fmla="*/ 12311 h 94300"/>
                <a:gd name="connsiteX10" fmla="*/ 24728 w 91124"/>
                <a:gd name="connsiteY10" fmla="*/ 10557 h 94300"/>
                <a:gd name="connsiteX11" fmla="*/ 15416 w 91124"/>
                <a:gd name="connsiteY11" fmla="*/ 11763 h 94300"/>
                <a:gd name="connsiteX12" fmla="*/ 14206 w 91124"/>
                <a:gd name="connsiteY12" fmla="*/ 20202 h 94300"/>
                <a:gd name="connsiteX13" fmla="*/ 5578 w 91124"/>
                <a:gd name="connsiteY13" fmla="*/ 36644 h 94300"/>
                <a:gd name="connsiteX14" fmla="*/ 316 w 91124"/>
                <a:gd name="connsiteY14" fmla="*/ 41521 h 94300"/>
                <a:gd name="connsiteX15" fmla="*/ 1 w 91124"/>
                <a:gd name="connsiteY15" fmla="*/ 45905 h 94300"/>
                <a:gd name="connsiteX16" fmla="*/ 4315 w 91124"/>
                <a:gd name="connsiteY16" fmla="*/ 51386 h 94300"/>
                <a:gd name="connsiteX17" fmla="*/ 10623 w 91124"/>
                <a:gd name="connsiteY17" fmla="*/ 69036 h 94300"/>
                <a:gd name="connsiteX18" fmla="*/ 10576 w 91124"/>
                <a:gd name="connsiteY18" fmla="*/ 69142 h 94300"/>
                <a:gd name="connsiteX19" fmla="*/ 10576 w 91124"/>
                <a:gd name="connsiteY19" fmla="*/ 77637 h 94300"/>
                <a:gd name="connsiteX20" fmla="*/ 19572 w 91124"/>
                <a:gd name="connsiteY20" fmla="*/ 80322 h 94300"/>
                <a:gd name="connsiteX21" fmla="*/ 23465 w 91124"/>
                <a:gd name="connsiteY21" fmla="*/ 79062 h 94300"/>
                <a:gd name="connsiteX22" fmla="*/ 35724 w 91124"/>
                <a:gd name="connsiteY22" fmla="*/ 88159 h 94300"/>
                <a:gd name="connsiteX23" fmla="*/ 41511 w 91124"/>
                <a:gd name="connsiteY23" fmla="*/ 94242 h 94300"/>
                <a:gd name="connsiteX24" fmla="*/ 49824 w 91124"/>
                <a:gd name="connsiteY24" fmla="*/ 89694 h 94300"/>
                <a:gd name="connsiteX25" fmla="*/ 66703 w 91124"/>
                <a:gd name="connsiteY25" fmla="*/ 83390 h 94300"/>
                <a:gd name="connsiteX26" fmla="*/ 66923 w 91124"/>
                <a:gd name="connsiteY26" fmla="*/ 83501 h 94300"/>
                <a:gd name="connsiteX27" fmla="*/ 75396 w 91124"/>
                <a:gd name="connsiteY27" fmla="*/ 83094 h 94300"/>
                <a:gd name="connsiteX28" fmla="*/ 75604 w 91124"/>
                <a:gd name="connsiteY28" fmla="*/ 82843 h 94300"/>
                <a:gd name="connsiteX29" fmla="*/ 77550 w 91124"/>
                <a:gd name="connsiteY29" fmla="*/ 74184 h 94300"/>
                <a:gd name="connsiteX30" fmla="*/ 83675 w 91124"/>
                <a:gd name="connsiteY30" fmla="*/ 58288 h 94300"/>
                <a:gd name="connsiteX31" fmla="*/ 85179 w 91124"/>
                <a:gd name="connsiteY31" fmla="*/ 57743 h 94300"/>
                <a:gd name="connsiteX32" fmla="*/ 90861 w 91124"/>
                <a:gd name="connsiteY32" fmla="*/ 52865 h 94300"/>
                <a:gd name="connsiteX33" fmla="*/ 91124 w 91124"/>
                <a:gd name="connsiteY33" fmla="*/ 48426 h 94300"/>
                <a:gd name="connsiteX34" fmla="*/ 86126 w 91124"/>
                <a:gd name="connsiteY34" fmla="*/ 42946 h 94300"/>
                <a:gd name="connsiteX35" fmla="*/ 67396 w 91124"/>
                <a:gd name="connsiteY35" fmla="*/ 50838 h 94300"/>
                <a:gd name="connsiteX36" fmla="*/ 41744 w 91124"/>
                <a:gd name="connsiteY36" fmla="*/ 69833 h 94300"/>
                <a:gd name="connsiteX37" fmla="*/ 23202 w 91124"/>
                <a:gd name="connsiteY37" fmla="*/ 47440 h 94300"/>
                <a:gd name="connsiteX38" fmla="*/ 23518 w 91124"/>
                <a:gd name="connsiteY38" fmla="*/ 43549 h 94300"/>
                <a:gd name="connsiteX39" fmla="*/ 48862 w 91124"/>
                <a:gd name="connsiteY39" fmla="*/ 24242 h 94300"/>
                <a:gd name="connsiteX40" fmla="*/ 67659 w 91124"/>
                <a:gd name="connsiteY40" fmla="*/ 46947 h 9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91124" h="94300">
                  <a:moveTo>
                    <a:pt x="86126" y="42946"/>
                  </a:moveTo>
                  <a:cubicBezTo>
                    <a:pt x="80235" y="40284"/>
                    <a:pt x="77531" y="33151"/>
                    <a:pt x="80087" y="27015"/>
                  </a:cubicBezTo>
                  <a:cubicBezTo>
                    <a:pt x="80310" y="26479"/>
                    <a:pt x="80570" y="25961"/>
                    <a:pt x="80865" y="25464"/>
                  </a:cubicBezTo>
                  <a:cubicBezTo>
                    <a:pt x="83548" y="21737"/>
                    <a:pt x="82496" y="19545"/>
                    <a:pt x="80181" y="16585"/>
                  </a:cubicBezTo>
                  <a:cubicBezTo>
                    <a:pt x="78535" y="13661"/>
                    <a:pt x="74925" y="12680"/>
                    <a:pt x="72117" y="14395"/>
                  </a:cubicBezTo>
                  <a:cubicBezTo>
                    <a:pt x="71978" y="14480"/>
                    <a:pt x="71842" y="14571"/>
                    <a:pt x="71710" y="14667"/>
                  </a:cubicBezTo>
                  <a:cubicBezTo>
                    <a:pt x="65017" y="16731"/>
                    <a:pt x="57977" y="12795"/>
                    <a:pt x="55927" y="5844"/>
                  </a:cubicBezTo>
                  <a:cubicBezTo>
                    <a:pt x="55138" y="364"/>
                    <a:pt x="52191" y="364"/>
                    <a:pt x="48403" y="35"/>
                  </a:cubicBezTo>
                  <a:cubicBezTo>
                    <a:pt x="44615" y="-294"/>
                    <a:pt x="42879" y="1734"/>
                    <a:pt x="41827" y="5241"/>
                  </a:cubicBezTo>
                  <a:cubicBezTo>
                    <a:pt x="38740" y="9778"/>
                    <a:pt x="33695" y="12426"/>
                    <a:pt x="28358" y="12311"/>
                  </a:cubicBezTo>
                  <a:cubicBezTo>
                    <a:pt x="27060" y="11948"/>
                    <a:pt x="25832" y="11355"/>
                    <a:pt x="24728" y="10557"/>
                  </a:cubicBezTo>
                  <a:cubicBezTo>
                    <a:pt x="20993" y="6830"/>
                    <a:pt x="18415" y="9132"/>
                    <a:pt x="15416" y="11763"/>
                  </a:cubicBezTo>
                  <a:cubicBezTo>
                    <a:pt x="12417" y="14393"/>
                    <a:pt x="12575" y="16805"/>
                    <a:pt x="14206" y="20202"/>
                  </a:cubicBezTo>
                  <a:cubicBezTo>
                    <a:pt x="16144" y="27220"/>
                    <a:pt x="12294" y="34554"/>
                    <a:pt x="5578" y="36644"/>
                  </a:cubicBezTo>
                  <a:cubicBezTo>
                    <a:pt x="2884" y="36627"/>
                    <a:pt x="613" y="38732"/>
                    <a:pt x="316" y="41521"/>
                  </a:cubicBezTo>
                  <a:lnTo>
                    <a:pt x="1" y="45905"/>
                  </a:lnTo>
                  <a:cubicBezTo>
                    <a:pt x="-41" y="48585"/>
                    <a:pt x="1784" y="50904"/>
                    <a:pt x="4315" y="51386"/>
                  </a:cubicBezTo>
                  <a:cubicBezTo>
                    <a:pt x="10736" y="54445"/>
                    <a:pt x="13560" y="62348"/>
                    <a:pt x="10623" y="69036"/>
                  </a:cubicBezTo>
                  <a:cubicBezTo>
                    <a:pt x="10607" y="69071"/>
                    <a:pt x="10591" y="69107"/>
                    <a:pt x="10576" y="69142"/>
                  </a:cubicBezTo>
                  <a:cubicBezTo>
                    <a:pt x="8471" y="72211"/>
                    <a:pt x="7945" y="74623"/>
                    <a:pt x="10576" y="77637"/>
                  </a:cubicBezTo>
                  <a:cubicBezTo>
                    <a:pt x="13206" y="80651"/>
                    <a:pt x="15416" y="83117"/>
                    <a:pt x="19572" y="80322"/>
                  </a:cubicBezTo>
                  <a:cubicBezTo>
                    <a:pt x="20799" y="79692"/>
                    <a:pt x="22112" y="79267"/>
                    <a:pt x="23465" y="79062"/>
                  </a:cubicBezTo>
                  <a:cubicBezTo>
                    <a:pt x="28306" y="79500"/>
                    <a:pt x="35198" y="84542"/>
                    <a:pt x="35724" y="88159"/>
                  </a:cubicBezTo>
                  <a:cubicBezTo>
                    <a:pt x="36250" y="91776"/>
                    <a:pt x="37460" y="94133"/>
                    <a:pt x="41511" y="94242"/>
                  </a:cubicBezTo>
                  <a:cubicBezTo>
                    <a:pt x="45562" y="94352"/>
                    <a:pt x="48298" y="94790"/>
                    <a:pt x="49824" y="89694"/>
                  </a:cubicBezTo>
                  <a:cubicBezTo>
                    <a:pt x="52814" y="83097"/>
                    <a:pt x="60371" y="80276"/>
                    <a:pt x="66703" y="83390"/>
                  </a:cubicBezTo>
                  <a:cubicBezTo>
                    <a:pt x="66777" y="83426"/>
                    <a:pt x="66850" y="83463"/>
                    <a:pt x="66923" y="83501"/>
                  </a:cubicBezTo>
                  <a:cubicBezTo>
                    <a:pt x="69370" y="85826"/>
                    <a:pt x="73164" y="85643"/>
                    <a:pt x="75396" y="83094"/>
                  </a:cubicBezTo>
                  <a:cubicBezTo>
                    <a:pt x="75467" y="83012"/>
                    <a:pt x="75536" y="82929"/>
                    <a:pt x="75604" y="82843"/>
                  </a:cubicBezTo>
                  <a:cubicBezTo>
                    <a:pt x="78287" y="80267"/>
                    <a:pt x="79655" y="78240"/>
                    <a:pt x="77550" y="74184"/>
                  </a:cubicBezTo>
                  <a:cubicBezTo>
                    <a:pt x="75028" y="68033"/>
                    <a:pt x="77770" y="60916"/>
                    <a:pt x="83675" y="58288"/>
                  </a:cubicBezTo>
                  <a:cubicBezTo>
                    <a:pt x="84164" y="58071"/>
                    <a:pt x="84666" y="57889"/>
                    <a:pt x="85179" y="57743"/>
                  </a:cubicBezTo>
                  <a:cubicBezTo>
                    <a:pt x="88704" y="57085"/>
                    <a:pt x="90440" y="55551"/>
                    <a:pt x="90861" y="52865"/>
                  </a:cubicBezTo>
                  <a:lnTo>
                    <a:pt x="91124" y="48426"/>
                  </a:lnTo>
                  <a:cubicBezTo>
                    <a:pt x="90756" y="45851"/>
                    <a:pt x="89546" y="44097"/>
                    <a:pt x="86126" y="42946"/>
                  </a:cubicBezTo>
                  <a:close/>
                  <a:moveTo>
                    <a:pt x="67396" y="50838"/>
                  </a:moveTo>
                  <a:cubicBezTo>
                    <a:pt x="65348" y="63462"/>
                    <a:pt x="53863" y="71966"/>
                    <a:pt x="41744" y="69833"/>
                  </a:cubicBezTo>
                  <a:cubicBezTo>
                    <a:pt x="31202" y="67976"/>
                    <a:pt x="23417" y="58574"/>
                    <a:pt x="23202" y="47440"/>
                  </a:cubicBezTo>
                  <a:lnTo>
                    <a:pt x="23518" y="43549"/>
                  </a:lnTo>
                  <a:cubicBezTo>
                    <a:pt x="25398" y="30927"/>
                    <a:pt x="36745" y="22283"/>
                    <a:pt x="48862" y="24242"/>
                  </a:cubicBezTo>
                  <a:cubicBezTo>
                    <a:pt x="59626" y="25982"/>
                    <a:pt x="67589" y="35600"/>
                    <a:pt x="67659" y="46947"/>
                  </a:cubicBezTo>
                  <a:close/>
                </a:path>
              </a:pathLst>
            </a:custGeom>
            <a:solidFill>
              <a:schemeClr val="bg1"/>
            </a:solidFill>
            <a:ln w="11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b="0" i="0" dirty="0">
                <a:latin typeface="Calibri" panose="020F0502020204030204" pitchFamily="34" charset="0"/>
              </a:endParaRPr>
            </a:p>
          </p:txBody>
        </p:sp>
        <p:sp>
          <p:nvSpPr>
            <p:cNvPr id="49" name="Freihandform 48">
              <a:extLst>
                <a:ext uri="{FF2B5EF4-FFF2-40B4-BE49-F238E27FC236}">
                  <a16:creationId xmlns:a16="http://schemas.microsoft.com/office/drawing/2014/main" id="{FA92A01E-6DA3-B849-8FCF-7CF640E85F9C}"/>
                </a:ext>
              </a:extLst>
            </p:cNvPr>
            <p:cNvSpPr/>
            <p:nvPr/>
          </p:nvSpPr>
          <p:spPr>
            <a:xfrm>
              <a:off x="1366159" y="4008909"/>
              <a:ext cx="310747" cy="322959"/>
            </a:xfrm>
            <a:custGeom>
              <a:avLst/>
              <a:gdLst>
                <a:gd name="connsiteX0" fmla="*/ 309222 w 310747"/>
                <a:gd name="connsiteY0" fmla="*/ 132848 h 322959"/>
                <a:gd name="connsiteX1" fmla="*/ 289019 w 310747"/>
                <a:gd name="connsiteY1" fmla="*/ 117229 h 322959"/>
                <a:gd name="connsiteX2" fmla="*/ 259925 w 310747"/>
                <a:gd name="connsiteY2" fmla="*/ 62425 h 322959"/>
                <a:gd name="connsiteX3" fmla="*/ 251349 w 310747"/>
                <a:gd name="connsiteY3" fmla="*/ 32886 h 322959"/>
                <a:gd name="connsiteX4" fmla="*/ 221729 w 310747"/>
                <a:gd name="connsiteY4" fmla="*/ 32886 h 322959"/>
                <a:gd name="connsiteX5" fmla="*/ 162330 w 310747"/>
                <a:gd name="connsiteY5" fmla="*/ 15020 h 322959"/>
                <a:gd name="connsiteX6" fmla="*/ 133183 w 310747"/>
                <a:gd name="connsiteY6" fmla="*/ 716 h 322959"/>
                <a:gd name="connsiteX7" fmla="*/ 114559 w 310747"/>
                <a:gd name="connsiteY7" fmla="*/ 22638 h 322959"/>
                <a:gd name="connsiteX8" fmla="*/ 74153 w 310747"/>
                <a:gd name="connsiteY8" fmla="*/ 56068 h 322959"/>
                <a:gd name="connsiteX9" fmla="*/ 60737 w 310747"/>
                <a:gd name="connsiteY9" fmla="*/ 52670 h 322959"/>
                <a:gd name="connsiteX10" fmla="*/ 30328 w 310747"/>
                <a:gd name="connsiteY10" fmla="*/ 63631 h 322959"/>
                <a:gd name="connsiteX11" fmla="*/ 31906 w 310747"/>
                <a:gd name="connsiteY11" fmla="*/ 92786 h 322959"/>
                <a:gd name="connsiteX12" fmla="*/ 13913 w 310747"/>
                <a:gd name="connsiteY12" fmla="*/ 154715 h 322959"/>
                <a:gd name="connsiteX13" fmla="*/ 23 w 310747"/>
                <a:gd name="connsiteY13" fmla="*/ 174608 h 322959"/>
                <a:gd name="connsiteX14" fmla="*/ 1865 w 310747"/>
                <a:gd name="connsiteY14" fmla="*/ 189570 h 322959"/>
                <a:gd name="connsiteX15" fmla="*/ 20121 w 310747"/>
                <a:gd name="connsiteY15" fmla="*/ 205189 h 322959"/>
                <a:gd name="connsiteX16" fmla="*/ 52635 w 310747"/>
                <a:gd name="connsiteY16" fmla="*/ 259992 h 322959"/>
                <a:gd name="connsiteX17" fmla="*/ 58212 w 310747"/>
                <a:gd name="connsiteY17" fmla="*/ 288710 h 322959"/>
                <a:gd name="connsiteX18" fmla="*/ 90252 w 310747"/>
                <a:gd name="connsiteY18" fmla="*/ 291011 h 322959"/>
                <a:gd name="connsiteX19" fmla="*/ 102458 w 310747"/>
                <a:gd name="connsiteY19" fmla="*/ 284161 h 322959"/>
                <a:gd name="connsiteX20" fmla="*/ 149809 w 310747"/>
                <a:gd name="connsiteY20" fmla="*/ 306082 h 322959"/>
                <a:gd name="connsiteX21" fmla="*/ 173116 w 310747"/>
                <a:gd name="connsiteY21" fmla="*/ 322524 h 322959"/>
                <a:gd name="connsiteX22" fmla="*/ 197948 w 310747"/>
                <a:gd name="connsiteY22" fmla="*/ 301205 h 322959"/>
                <a:gd name="connsiteX23" fmla="*/ 215784 w 310747"/>
                <a:gd name="connsiteY23" fmla="*/ 274022 h 322959"/>
                <a:gd name="connsiteX24" fmla="*/ 226306 w 310747"/>
                <a:gd name="connsiteY24" fmla="*/ 268542 h 322959"/>
                <a:gd name="connsiteX25" fmla="*/ 250613 w 310747"/>
                <a:gd name="connsiteY25" fmla="*/ 267994 h 322959"/>
                <a:gd name="connsiteX26" fmla="*/ 279286 w 310747"/>
                <a:gd name="connsiteY26" fmla="*/ 259718 h 322959"/>
                <a:gd name="connsiteX27" fmla="*/ 280233 w 310747"/>
                <a:gd name="connsiteY27" fmla="*/ 229302 h 322959"/>
                <a:gd name="connsiteX28" fmla="*/ 294964 w 310747"/>
                <a:gd name="connsiteY28" fmla="*/ 168525 h 322959"/>
                <a:gd name="connsiteX29" fmla="*/ 310748 w 310747"/>
                <a:gd name="connsiteY29" fmla="*/ 148083 h 322959"/>
                <a:gd name="connsiteX30" fmla="*/ 155859 w 310747"/>
                <a:gd name="connsiteY30" fmla="*/ 250237 h 322959"/>
                <a:gd name="connsiteX31" fmla="*/ 70470 w 310747"/>
                <a:gd name="connsiteY31" fmla="*/ 161291 h 322959"/>
                <a:gd name="connsiteX32" fmla="*/ 155859 w 310747"/>
                <a:gd name="connsiteY32" fmla="*/ 72345 h 322959"/>
                <a:gd name="connsiteX33" fmla="*/ 241248 w 310747"/>
                <a:gd name="connsiteY33" fmla="*/ 161291 h 322959"/>
                <a:gd name="connsiteX34" fmla="*/ 155859 w 310747"/>
                <a:gd name="connsiteY34" fmla="*/ 250237 h 322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10747" h="322959">
                  <a:moveTo>
                    <a:pt x="309222" y="132848"/>
                  </a:moveTo>
                  <a:cubicBezTo>
                    <a:pt x="306539" y="123531"/>
                    <a:pt x="301172" y="118654"/>
                    <a:pt x="289019" y="117229"/>
                  </a:cubicBezTo>
                  <a:cubicBezTo>
                    <a:pt x="266554" y="114434"/>
                    <a:pt x="250349" y="83963"/>
                    <a:pt x="259925" y="62425"/>
                  </a:cubicBezTo>
                  <a:cubicBezTo>
                    <a:pt x="266133" y="48067"/>
                    <a:pt x="261030" y="41381"/>
                    <a:pt x="251349" y="32886"/>
                  </a:cubicBezTo>
                  <a:cubicBezTo>
                    <a:pt x="241669" y="24391"/>
                    <a:pt x="232672" y="23624"/>
                    <a:pt x="221729" y="32886"/>
                  </a:cubicBezTo>
                  <a:cubicBezTo>
                    <a:pt x="205419" y="46423"/>
                    <a:pt x="170064" y="36503"/>
                    <a:pt x="162330" y="15020"/>
                  </a:cubicBezTo>
                  <a:cubicBezTo>
                    <a:pt x="156227" y="-2408"/>
                    <a:pt x="146126" y="-435"/>
                    <a:pt x="133183" y="716"/>
                  </a:cubicBezTo>
                  <a:cubicBezTo>
                    <a:pt x="119294" y="2032"/>
                    <a:pt x="115822" y="10307"/>
                    <a:pt x="114559" y="22638"/>
                  </a:cubicBezTo>
                  <a:cubicBezTo>
                    <a:pt x="113296" y="34969"/>
                    <a:pt x="90621" y="53766"/>
                    <a:pt x="74153" y="56068"/>
                  </a:cubicBezTo>
                  <a:cubicBezTo>
                    <a:pt x="69523" y="55774"/>
                    <a:pt x="64980" y="54623"/>
                    <a:pt x="60737" y="52670"/>
                  </a:cubicBezTo>
                  <a:cubicBezTo>
                    <a:pt x="45848" y="42915"/>
                    <a:pt x="38693" y="52670"/>
                    <a:pt x="30328" y="63631"/>
                  </a:cubicBezTo>
                  <a:cubicBezTo>
                    <a:pt x="21962" y="74592"/>
                    <a:pt x="24067" y="82757"/>
                    <a:pt x="31906" y="92786"/>
                  </a:cubicBezTo>
                  <a:cubicBezTo>
                    <a:pt x="44638" y="109228"/>
                    <a:pt x="34379" y="147590"/>
                    <a:pt x="13913" y="154715"/>
                  </a:cubicBezTo>
                  <a:cubicBezTo>
                    <a:pt x="1549" y="159044"/>
                    <a:pt x="-240" y="165675"/>
                    <a:pt x="23" y="174608"/>
                  </a:cubicBezTo>
                  <a:lnTo>
                    <a:pt x="1865" y="189570"/>
                  </a:lnTo>
                  <a:cubicBezTo>
                    <a:pt x="3706" y="198010"/>
                    <a:pt x="7126" y="204257"/>
                    <a:pt x="20121" y="205189"/>
                  </a:cubicBezTo>
                  <a:cubicBezTo>
                    <a:pt x="41692" y="206833"/>
                    <a:pt x="61000" y="240976"/>
                    <a:pt x="52635" y="259992"/>
                  </a:cubicBezTo>
                  <a:cubicBezTo>
                    <a:pt x="47374" y="271830"/>
                    <a:pt x="47374" y="280379"/>
                    <a:pt x="58212" y="288710"/>
                  </a:cubicBezTo>
                  <a:cubicBezTo>
                    <a:pt x="69050" y="297040"/>
                    <a:pt x="78204" y="304438"/>
                    <a:pt x="90252" y="291011"/>
                  </a:cubicBezTo>
                  <a:cubicBezTo>
                    <a:pt x="93906" y="288004"/>
                    <a:pt x="98037" y="285686"/>
                    <a:pt x="102458" y="284161"/>
                  </a:cubicBezTo>
                  <a:cubicBezTo>
                    <a:pt x="118926" y="282078"/>
                    <a:pt x="145337" y="294354"/>
                    <a:pt x="149809" y="306082"/>
                  </a:cubicBezTo>
                  <a:cubicBezTo>
                    <a:pt x="154281" y="317810"/>
                    <a:pt x="159437" y="324825"/>
                    <a:pt x="173116" y="322524"/>
                  </a:cubicBezTo>
                  <a:cubicBezTo>
                    <a:pt x="185953" y="320222"/>
                    <a:pt x="196212" y="319509"/>
                    <a:pt x="197948" y="301205"/>
                  </a:cubicBezTo>
                  <a:cubicBezTo>
                    <a:pt x="199739" y="289841"/>
                    <a:pt x="206270" y="279887"/>
                    <a:pt x="215784" y="274022"/>
                  </a:cubicBezTo>
                  <a:cubicBezTo>
                    <a:pt x="219071" y="271770"/>
                    <a:pt x="222604" y="269931"/>
                    <a:pt x="226306" y="268542"/>
                  </a:cubicBezTo>
                  <a:cubicBezTo>
                    <a:pt x="234051" y="265170"/>
                    <a:pt x="242734" y="264974"/>
                    <a:pt x="250613" y="267994"/>
                  </a:cubicBezTo>
                  <a:cubicBezTo>
                    <a:pt x="263450" y="273913"/>
                    <a:pt x="271394" y="271063"/>
                    <a:pt x="279286" y="259718"/>
                  </a:cubicBezTo>
                  <a:cubicBezTo>
                    <a:pt x="287178" y="248374"/>
                    <a:pt x="289808" y="241414"/>
                    <a:pt x="280233" y="229302"/>
                  </a:cubicBezTo>
                  <a:cubicBezTo>
                    <a:pt x="265712" y="210943"/>
                    <a:pt x="273919" y="177129"/>
                    <a:pt x="294964" y="168525"/>
                  </a:cubicBezTo>
                  <a:cubicBezTo>
                    <a:pt x="306381" y="163922"/>
                    <a:pt x="310327" y="157564"/>
                    <a:pt x="310748" y="148083"/>
                  </a:cubicBezTo>
                  <a:close/>
                  <a:moveTo>
                    <a:pt x="155859" y="250237"/>
                  </a:moveTo>
                  <a:cubicBezTo>
                    <a:pt x="108700" y="250237"/>
                    <a:pt x="70470" y="210415"/>
                    <a:pt x="70470" y="161291"/>
                  </a:cubicBezTo>
                  <a:cubicBezTo>
                    <a:pt x="70470" y="112167"/>
                    <a:pt x="108700" y="72345"/>
                    <a:pt x="155859" y="72345"/>
                  </a:cubicBezTo>
                  <a:cubicBezTo>
                    <a:pt x="203018" y="72345"/>
                    <a:pt x="241248" y="112167"/>
                    <a:pt x="241248" y="161291"/>
                  </a:cubicBezTo>
                  <a:cubicBezTo>
                    <a:pt x="241190" y="210390"/>
                    <a:pt x="202994" y="250177"/>
                    <a:pt x="155859" y="250237"/>
                  </a:cubicBezTo>
                  <a:close/>
                </a:path>
              </a:pathLst>
            </a:custGeom>
            <a:noFill/>
            <a:ln w="1143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 b="0" i="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50" name="Grafik 44">
            <a:extLst>
              <a:ext uri="{FF2B5EF4-FFF2-40B4-BE49-F238E27FC236}">
                <a16:creationId xmlns:a16="http://schemas.microsoft.com/office/drawing/2014/main" id="{C16E1EA4-48EB-0343-B04E-789D9E1DA6D0}"/>
              </a:ext>
            </a:extLst>
          </p:cNvPr>
          <p:cNvGrpSpPr/>
          <p:nvPr userDrawn="1"/>
        </p:nvGrpSpPr>
        <p:grpSpPr>
          <a:xfrm>
            <a:off x="2693964" y="3997436"/>
            <a:ext cx="448758" cy="406979"/>
            <a:chOff x="1228148" y="4008909"/>
            <a:chExt cx="448758" cy="406979"/>
          </a:xfrm>
        </p:grpSpPr>
        <p:sp>
          <p:nvSpPr>
            <p:cNvPr id="51" name="Freihandform 50">
              <a:extLst>
                <a:ext uri="{FF2B5EF4-FFF2-40B4-BE49-F238E27FC236}">
                  <a16:creationId xmlns:a16="http://schemas.microsoft.com/office/drawing/2014/main" id="{D7968ACA-6624-A94F-893E-1EF6DED6E4EF}"/>
                </a:ext>
              </a:extLst>
            </p:cNvPr>
            <p:cNvSpPr/>
            <p:nvPr/>
          </p:nvSpPr>
          <p:spPr>
            <a:xfrm>
              <a:off x="1228148" y="4219901"/>
              <a:ext cx="180018" cy="186620"/>
            </a:xfrm>
            <a:custGeom>
              <a:avLst/>
              <a:gdLst>
                <a:gd name="connsiteX0" fmla="*/ 170390 w 180018"/>
                <a:gd name="connsiteY0" fmla="*/ 84952 h 186620"/>
                <a:gd name="connsiteX1" fmla="*/ 158237 w 180018"/>
                <a:gd name="connsiteY1" fmla="*/ 53705 h 186620"/>
                <a:gd name="connsiteX2" fmla="*/ 159868 w 180018"/>
                <a:gd name="connsiteY2" fmla="*/ 50426 h 186620"/>
                <a:gd name="connsiteX3" fmla="*/ 158395 w 180018"/>
                <a:gd name="connsiteY3" fmla="*/ 32943 h 186620"/>
                <a:gd name="connsiteX4" fmla="*/ 142496 w 180018"/>
                <a:gd name="connsiteY4" fmla="*/ 28572 h 186620"/>
                <a:gd name="connsiteX5" fmla="*/ 142085 w 180018"/>
                <a:gd name="connsiteY5" fmla="*/ 28833 h 186620"/>
                <a:gd name="connsiteX6" fmla="*/ 110518 w 180018"/>
                <a:gd name="connsiteY6" fmla="*/ 11570 h 186620"/>
                <a:gd name="connsiteX7" fmla="*/ 95577 w 180018"/>
                <a:gd name="connsiteY7" fmla="*/ 116 h 186620"/>
                <a:gd name="connsiteX8" fmla="*/ 82634 w 180018"/>
                <a:gd name="connsiteY8" fmla="*/ 10255 h 186620"/>
                <a:gd name="connsiteX9" fmla="*/ 56328 w 180018"/>
                <a:gd name="connsiteY9" fmla="*/ 24284 h 186620"/>
                <a:gd name="connsiteX10" fmla="*/ 49068 w 180018"/>
                <a:gd name="connsiteY10" fmla="*/ 20722 h 186620"/>
                <a:gd name="connsiteX11" fmla="*/ 30759 w 180018"/>
                <a:gd name="connsiteY11" fmla="*/ 23134 h 186620"/>
                <a:gd name="connsiteX12" fmla="*/ 28392 w 180018"/>
                <a:gd name="connsiteY12" fmla="*/ 39849 h 186620"/>
                <a:gd name="connsiteX13" fmla="*/ 11293 w 180018"/>
                <a:gd name="connsiteY13" fmla="*/ 72731 h 186620"/>
                <a:gd name="connsiteX14" fmla="*/ 1244 w 180018"/>
                <a:gd name="connsiteY14" fmla="*/ 82322 h 186620"/>
                <a:gd name="connsiteX15" fmla="*/ 34 w 180018"/>
                <a:gd name="connsiteY15" fmla="*/ 90926 h 186620"/>
                <a:gd name="connsiteX16" fmla="*/ 8610 w 180018"/>
                <a:gd name="connsiteY16" fmla="*/ 101886 h 186620"/>
                <a:gd name="connsiteX17" fmla="*/ 20921 w 180018"/>
                <a:gd name="connsiteY17" fmla="*/ 136906 h 186620"/>
                <a:gd name="connsiteX18" fmla="*/ 20921 w 180018"/>
                <a:gd name="connsiteY18" fmla="*/ 153840 h 186620"/>
                <a:gd name="connsiteX19" fmla="*/ 38809 w 180018"/>
                <a:gd name="connsiteY19" fmla="*/ 158937 h 186620"/>
                <a:gd name="connsiteX20" fmla="*/ 46437 w 180018"/>
                <a:gd name="connsiteY20" fmla="*/ 156526 h 186620"/>
                <a:gd name="connsiteX21" fmla="*/ 70691 w 180018"/>
                <a:gd name="connsiteY21" fmla="*/ 174501 h 186620"/>
                <a:gd name="connsiteX22" fmla="*/ 82108 w 180018"/>
                <a:gd name="connsiteY22" fmla="*/ 186503 h 186620"/>
                <a:gd name="connsiteX23" fmla="*/ 98470 w 180018"/>
                <a:gd name="connsiteY23" fmla="*/ 177461 h 186620"/>
                <a:gd name="connsiteX24" fmla="*/ 132194 w 180018"/>
                <a:gd name="connsiteY24" fmla="*/ 165185 h 186620"/>
                <a:gd name="connsiteX25" fmla="*/ 148705 w 180018"/>
                <a:gd name="connsiteY25" fmla="*/ 164680 h 186620"/>
                <a:gd name="connsiteX26" fmla="*/ 149293 w 180018"/>
                <a:gd name="connsiteY26" fmla="*/ 163979 h 186620"/>
                <a:gd name="connsiteX27" fmla="*/ 153186 w 180018"/>
                <a:gd name="connsiteY27" fmla="*/ 146880 h 186620"/>
                <a:gd name="connsiteX28" fmla="*/ 165139 w 180018"/>
                <a:gd name="connsiteY28" fmla="*/ 115549 h 186620"/>
                <a:gd name="connsiteX29" fmla="*/ 168391 w 180018"/>
                <a:gd name="connsiteY29" fmla="*/ 114382 h 186620"/>
                <a:gd name="connsiteX30" fmla="*/ 179439 w 180018"/>
                <a:gd name="connsiteY30" fmla="*/ 104681 h 186620"/>
                <a:gd name="connsiteX31" fmla="*/ 180018 w 180018"/>
                <a:gd name="connsiteY31" fmla="*/ 95913 h 186620"/>
                <a:gd name="connsiteX32" fmla="*/ 170390 w 180018"/>
                <a:gd name="connsiteY32" fmla="*/ 84952 h 186620"/>
                <a:gd name="connsiteX33" fmla="*/ 133562 w 180018"/>
                <a:gd name="connsiteY33" fmla="*/ 100516 h 186620"/>
                <a:gd name="connsiteX34" fmla="*/ 84998 w 180018"/>
                <a:gd name="connsiteY34" fmla="*/ 140753 h 186620"/>
                <a:gd name="connsiteX35" fmla="*/ 46122 w 180018"/>
                <a:gd name="connsiteY35" fmla="*/ 93556 h 186620"/>
                <a:gd name="connsiteX36" fmla="*/ 46700 w 180018"/>
                <a:gd name="connsiteY36" fmla="*/ 86377 h 186620"/>
                <a:gd name="connsiteX37" fmla="*/ 96819 w 180018"/>
                <a:gd name="connsiteY37" fmla="*/ 48265 h 186620"/>
                <a:gd name="connsiteX38" fmla="*/ 133930 w 180018"/>
                <a:gd name="connsiteY38" fmla="*/ 93063 h 186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80018" h="186620">
                  <a:moveTo>
                    <a:pt x="170390" y="84952"/>
                  </a:moveTo>
                  <a:cubicBezTo>
                    <a:pt x="158750" y="79819"/>
                    <a:pt x="153309" y="65829"/>
                    <a:pt x="158237" y="53705"/>
                  </a:cubicBezTo>
                  <a:cubicBezTo>
                    <a:pt x="158698" y="52570"/>
                    <a:pt x="159244" y="51473"/>
                    <a:pt x="159868" y="50426"/>
                  </a:cubicBezTo>
                  <a:cubicBezTo>
                    <a:pt x="165129" y="43082"/>
                    <a:pt x="162972" y="38753"/>
                    <a:pt x="158395" y="32943"/>
                  </a:cubicBezTo>
                  <a:cubicBezTo>
                    <a:pt x="155163" y="27163"/>
                    <a:pt x="148045" y="25206"/>
                    <a:pt x="142496" y="28572"/>
                  </a:cubicBezTo>
                  <a:cubicBezTo>
                    <a:pt x="142357" y="28656"/>
                    <a:pt x="142220" y="28743"/>
                    <a:pt x="142085" y="28833"/>
                  </a:cubicBezTo>
                  <a:cubicBezTo>
                    <a:pt x="131563" y="34313"/>
                    <a:pt x="112412" y="24668"/>
                    <a:pt x="110518" y="11570"/>
                  </a:cubicBezTo>
                  <a:cubicBezTo>
                    <a:pt x="108993" y="1048"/>
                    <a:pt x="103047" y="993"/>
                    <a:pt x="95577" y="116"/>
                  </a:cubicBezTo>
                  <a:cubicBezTo>
                    <a:pt x="88106" y="-761"/>
                    <a:pt x="84791" y="3404"/>
                    <a:pt x="82634" y="10255"/>
                  </a:cubicBezTo>
                  <a:cubicBezTo>
                    <a:pt x="80477" y="17105"/>
                    <a:pt x="65693" y="24997"/>
                    <a:pt x="56328" y="24284"/>
                  </a:cubicBezTo>
                  <a:cubicBezTo>
                    <a:pt x="53722" y="23562"/>
                    <a:pt x="51262" y="22355"/>
                    <a:pt x="49068" y="20722"/>
                  </a:cubicBezTo>
                  <a:cubicBezTo>
                    <a:pt x="41755" y="13488"/>
                    <a:pt x="36652" y="18037"/>
                    <a:pt x="30759" y="23134"/>
                  </a:cubicBezTo>
                  <a:cubicBezTo>
                    <a:pt x="24867" y="28230"/>
                    <a:pt x="25077" y="33163"/>
                    <a:pt x="28392" y="39849"/>
                  </a:cubicBezTo>
                  <a:cubicBezTo>
                    <a:pt x="33653" y="50809"/>
                    <a:pt x="23709" y="70922"/>
                    <a:pt x="11293" y="72731"/>
                  </a:cubicBezTo>
                  <a:cubicBezTo>
                    <a:pt x="3822" y="73717"/>
                    <a:pt x="2033" y="77389"/>
                    <a:pt x="1244" y="82322"/>
                  </a:cubicBezTo>
                  <a:lnTo>
                    <a:pt x="34" y="90926"/>
                  </a:lnTo>
                  <a:cubicBezTo>
                    <a:pt x="-400" y="96386"/>
                    <a:pt x="3388" y="101228"/>
                    <a:pt x="8610" y="101886"/>
                  </a:cubicBezTo>
                  <a:cubicBezTo>
                    <a:pt x="20710" y="105394"/>
                    <a:pt x="27760" y="127041"/>
                    <a:pt x="20921" y="136906"/>
                  </a:cubicBezTo>
                  <a:cubicBezTo>
                    <a:pt x="16659" y="142989"/>
                    <a:pt x="15660" y="147867"/>
                    <a:pt x="20921" y="153840"/>
                  </a:cubicBezTo>
                  <a:cubicBezTo>
                    <a:pt x="26182" y="159814"/>
                    <a:pt x="30443" y="164801"/>
                    <a:pt x="38809" y="158937"/>
                  </a:cubicBezTo>
                  <a:cubicBezTo>
                    <a:pt x="41202" y="157689"/>
                    <a:pt x="43782" y="156874"/>
                    <a:pt x="46437" y="156526"/>
                  </a:cubicBezTo>
                  <a:cubicBezTo>
                    <a:pt x="55960" y="157348"/>
                    <a:pt x="69534" y="167486"/>
                    <a:pt x="70691" y="174501"/>
                  </a:cubicBezTo>
                  <a:cubicBezTo>
                    <a:pt x="71849" y="181516"/>
                    <a:pt x="74006" y="186284"/>
                    <a:pt x="82108" y="186503"/>
                  </a:cubicBezTo>
                  <a:cubicBezTo>
                    <a:pt x="90210" y="186723"/>
                    <a:pt x="95471" y="187599"/>
                    <a:pt x="98470" y="177461"/>
                  </a:cubicBezTo>
                  <a:cubicBezTo>
                    <a:pt x="102258" y="164801"/>
                    <a:pt x="122356" y="158005"/>
                    <a:pt x="132194" y="165185"/>
                  </a:cubicBezTo>
                  <a:cubicBezTo>
                    <a:pt x="136887" y="169795"/>
                    <a:pt x="144279" y="169569"/>
                    <a:pt x="148705" y="164680"/>
                  </a:cubicBezTo>
                  <a:cubicBezTo>
                    <a:pt x="148909" y="164455"/>
                    <a:pt x="149106" y="164221"/>
                    <a:pt x="149293" y="163979"/>
                  </a:cubicBezTo>
                  <a:cubicBezTo>
                    <a:pt x="154554" y="158937"/>
                    <a:pt x="157290" y="154882"/>
                    <a:pt x="153186" y="146880"/>
                  </a:cubicBezTo>
                  <a:cubicBezTo>
                    <a:pt x="148181" y="134790"/>
                    <a:pt x="153532" y="120763"/>
                    <a:pt x="165139" y="115549"/>
                  </a:cubicBezTo>
                  <a:cubicBezTo>
                    <a:pt x="166193" y="115075"/>
                    <a:pt x="167280" y="114685"/>
                    <a:pt x="168391" y="114382"/>
                  </a:cubicBezTo>
                  <a:cubicBezTo>
                    <a:pt x="173783" y="114194"/>
                    <a:pt x="178349" y="110185"/>
                    <a:pt x="179439" y="104681"/>
                  </a:cubicBezTo>
                  <a:lnTo>
                    <a:pt x="180018" y="95913"/>
                  </a:lnTo>
                  <a:cubicBezTo>
                    <a:pt x="179545" y="90432"/>
                    <a:pt x="177072" y="86980"/>
                    <a:pt x="170390" y="84952"/>
                  </a:cubicBezTo>
                  <a:close/>
                  <a:moveTo>
                    <a:pt x="133562" y="100516"/>
                  </a:moveTo>
                  <a:cubicBezTo>
                    <a:pt x="130818" y="125597"/>
                    <a:pt x="109075" y="143611"/>
                    <a:pt x="84998" y="140753"/>
                  </a:cubicBezTo>
                  <a:cubicBezTo>
                    <a:pt x="62178" y="138044"/>
                    <a:pt x="45225" y="117462"/>
                    <a:pt x="46122" y="93556"/>
                  </a:cubicBezTo>
                  <a:lnTo>
                    <a:pt x="46700" y="86377"/>
                  </a:lnTo>
                  <a:cubicBezTo>
                    <a:pt x="50437" y="61436"/>
                    <a:pt x="72876" y="44373"/>
                    <a:pt x="96819" y="48265"/>
                  </a:cubicBezTo>
                  <a:cubicBezTo>
                    <a:pt x="118052" y="51716"/>
                    <a:pt x="133760" y="70678"/>
                    <a:pt x="133930" y="93063"/>
                  </a:cubicBezTo>
                  <a:close/>
                </a:path>
              </a:pathLst>
            </a:custGeom>
            <a:noFill/>
            <a:ln w="1143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 b="0" i="0" dirty="0">
                <a:latin typeface="Calibri" panose="020F0502020204030204" pitchFamily="34" charset="0"/>
              </a:endParaRPr>
            </a:p>
          </p:txBody>
        </p:sp>
        <p:sp>
          <p:nvSpPr>
            <p:cNvPr id="52" name="Freihandform 51">
              <a:extLst>
                <a:ext uri="{FF2B5EF4-FFF2-40B4-BE49-F238E27FC236}">
                  <a16:creationId xmlns:a16="http://schemas.microsoft.com/office/drawing/2014/main" id="{4F010765-1E19-6A48-B022-72E4E8E278AC}"/>
                </a:ext>
              </a:extLst>
            </p:cNvPr>
            <p:cNvSpPr/>
            <p:nvPr/>
          </p:nvSpPr>
          <p:spPr>
            <a:xfrm>
              <a:off x="1418267" y="4321588"/>
              <a:ext cx="91124" cy="94300"/>
            </a:xfrm>
            <a:custGeom>
              <a:avLst/>
              <a:gdLst>
                <a:gd name="connsiteX0" fmla="*/ 86126 w 91124"/>
                <a:gd name="connsiteY0" fmla="*/ 42946 h 94300"/>
                <a:gd name="connsiteX1" fmla="*/ 80087 w 91124"/>
                <a:gd name="connsiteY1" fmla="*/ 27015 h 94300"/>
                <a:gd name="connsiteX2" fmla="*/ 80865 w 91124"/>
                <a:gd name="connsiteY2" fmla="*/ 25464 h 94300"/>
                <a:gd name="connsiteX3" fmla="*/ 80181 w 91124"/>
                <a:gd name="connsiteY3" fmla="*/ 16585 h 94300"/>
                <a:gd name="connsiteX4" fmla="*/ 72117 w 91124"/>
                <a:gd name="connsiteY4" fmla="*/ 14395 h 94300"/>
                <a:gd name="connsiteX5" fmla="*/ 71710 w 91124"/>
                <a:gd name="connsiteY5" fmla="*/ 14667 h 94300"/>
                <a:gd name="connsiteX6" fmla="*/ 55927 w 91124"/>
                <a:gd name="connsiteY6" fmla="*/ 5844 h 94300"/>
                <a:gd name="connsiteX7" fmla="*/ 48403 w 91124"/>
                <a:gd name="connsiteY7" fmla="*/ 35 h 94300"/>
                <a:gd name="connsiteX8" fmla="*/ 41827 w 91124"/>
                <a:gd name="connsiteY8" fmla="*/ 5241 h 94300"/>
                <a:gd name="connsiteX9" fmla="*/ 28358 w 91124"/>
                <a:gd name="connsiteY9" fmla="*/ 12311 h 94300"/>
                <a:gd name="connsiteX10" fmla="*/ 24728 w 91124"/>
                <a:gd name="connsiteY10" fmla="*/ 10557 h 94300"/>
                <a:gd name="connsiteX11" fmla="*/ 15416 w 91124"/>
                <a:gd name="connsiteY11" fmla="*/ 11763 h 94300"/>
                <a:gd name="connsiteX12" fmla="*/ 14206 w 91124"/>
                <a:gd name="connsiteY12" fmla="*/ 20202 h 94300"/>
                <a:gd name="connsiteX13" fmla="*/ 5578 w 91124"/>
                <a:gd name="connsiteY13" fmla="*/ 36644 h 94300"/>
                <a:gd name="connsiteX14" fmla="*/ 316 w 91124"/>
                <a:gd name="connsiteY14" fmla="*/ 41521 h 94300"/>
                <a:gd name="connsiteX15" fmla="*/ 1 w 91124"/>
                <a:gd name="connsiteY15" fmla="*/ 45905 h 94300"/>
                <a:gd name="connsiteX16" fmla="*/ 4315 w 91124"/>
                <a:gd name="connsiteY16" fmla="*/ 51386 h 94300"/>
                <a:gd name="connsiteX17" fmla="*/ 10623 w 91124"/>
                <a:gd name="connsiteY17" fmla="*/ 69036 h 94300"/>
                <a:gd name="connsiteX18" fmla="*/ 10576 w 91124"/>
                <a:gd name="connsiteY18" fmla="*/ 69142 h 94300"/>
                <a:gd name="connsiteX19" fmla="*/ 10576 w 91124"/>
                <a:gd name="connsiteY19" fmla="*/ 77637 h 94300"/>
                <a:gd name="connsiteX20" fmla="*/ 19572 w 91124"/>
                <a:gd name="connsiteY20" fmla="*/ 80322 h 94300"/>
                <a:gd name="connsiteX21" fmla="*/ 23465 w 91124"/>
                <a:gd name="connsiteY21" fmla="*/ 79062 h 94300"/>
                <a:gd name="connsiteX22" fmla="*/ 35724 w 91124"/>
                <a:gd name="connsiteY22" fmla="*/ 88159 h 94300"/>
                <a:gd name="connsiteX23" fmla="*/ 41511 w 91124"/>
                <a:gd name="connsiteY23" fmla="*/ 94242 h 94300"/>
                <a:gd name="connsiteX24" fmla="*/ 49824 w 91124"/>
                <a:gd name="connsiteY24" fmla="*/ 89694 h 94300"/>
                <a:gd name="connsiteX25" fmla="*/ 66703 w 91124"/>
                <a:gd name="connsiteY25" fmla="*/ 83390 h 94300"/>
                <a:gd name="connsiteX26" fmla="*/ 66923 w 91124"/>
                <a:gd name="connsiteY26" fmla="*/ 83501 h 94300"/>
                <a:gd name="connsiteX27" fmla="*/ 75396 w 91124"/>
                <a:gd name="connsiteY27" fmla="*/ 83094 h 94300"/>
                <a:gd name="connsiteX28" fmla="*/ 75604 w 91124"/>
                <a:gd name="connsiteY28" fmla="*/ 82843 h 94300"/>
                <a:gd name="connsiteX29" fmla="*/ 77550 w 91124"/>
                <a:gd name="connsiteY29" fmla="*/ 74184 h 94300"/>
                <a:gd name="connsiteX30" fmla="*/ 83675 w 91124"/>
                <a:gd name="connsiteY30" fmla="*/ 58288 h 94300"/>
                <a:gd name="connsiteX31" fmla="*/ 85179 w 91124"/>
                <a:gd name="connsiteY31" fmla="*/ 57743 h 94300"/>
                <a:gd name="connsiteX32" fmla="*/ 90861 w 91124"/>
                <a:gd name="connsiteY32" fmla="*/ 52865 h 94300"/>
                <a:gd name="connsiteX33" fmla="*/ 91124 w 91124"/>
                <a:gd name="connsiteY33" fmla="*/ 48426 h 94300"/>
                <a:gd name="connsiteX34" fmla="*/ 86126 w 91124"/>
                <a:gd name="connsiteY34" fmla="*/ 42946 h 94300"/>
                <a:gd name="connsiteX35" fmla="*/ 67396 w 91124"/>
                <a:gd name="connsiteY35" fmla="*/ 50838 h 94300"/>
                <a:gd name="connsiteX36" fmla="*/ 41744 w 91124"/>
                <a:gd name="connsiteY36" fmla="*/ 69833 h 94300"/>
                <a:gd name="connsiteX37" fmla="*/ 23202 w 91124"/>
                <a:gd name="connsiteY37" fmla="*/ 47440 h 94300"/>
                <a:gd name="connsiteX38" fmla="*/ 23518 w 91124"/>
                <a:gd name="connsiteY38" fmla="*/ 43549 h 94300"/>
                <a:gd name="connsiteX39" fmla="*/ 48862 w 91124"/>
                <a:gd name="connsiteY39" fmla="*/ 24242 h 94300"/>
                <a:gd name="connsiteX40" fmla="*/ 67659 w 91124"/>
                <a:gd name="connsiteY40" fmla="*/ 46947 h 9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91124" h="94300">
                  <a:moveTo>
                    <a:pt x="86126" y="42946"/>
                  </a:moveTo>
                  <a:cubicBezTo>
                    <a:pt x="80235" y="40284"/>
                    <a:pt x="77531" y="33151"/>
                    <a:pt x="80087" y="27015"/>
                  </a:cubicBezTo>
                  <a:cubicBezTo>
                    <a:pt x="80310" y="26479"/>
                    <a:pt x="80570" y="25961"/>
                    <a:pt x="80865" y="25464"/>
                  </a:cubicBezTo>
                  <a:cubicBezTo>
                    <a:pt x="83548" y="21737"/>
                    <a:pt x="82496" y="19545"/>
                    <a:pt x="80181" y="16585"/>
                  </a:cubicBezTo>
                  <a:cubicBezTo>
                    <a:pt x="78535" y="13661"/>
                    <a:pt x="74925" y="12680"/>
                    <a:pt x="72117" y="14395"/>
                  </a:cubicBezTo>
                  <a:cubicBezTo>
                    <a:pt x="71978" y="14480"/>
                    <a:pt x="71842" y="14571"/>
                    <a:pt x="71710" y="14667"/>
                  </a:cubicBezTo>
                  <a:cubicBezTo>
                    <a:pt x="65017" y="16731"/>
                    <a:pt x="57977" y="12795"/>
                    <a:pt x="55927" y="5844"/>
                  </a:cubicBezTo>
                  <a:cubicBezTo>
                    <a:pt x="55138" y="364"/>
                    <a:pt x="52191" y="364"/>
                    <a:pt x="48403" y="35"/>
                  </a:cubicBezTo>
                  <a:cubicBezTo>
                    <a:pt x="44615" y="-294"/>
                    <a:pt x="42879" y="1734"/>
                    <a:pt x="41827" y="5241"/>
                  </a:cubicBezTo>
                  <a:cubicBezTo>
                    <a:pt x="38740" y="9778"/>
                    <a:pt x="33695" y="12426"/>
                    <a:pt x="28358" y="12311"/>
                  </a:cubicBezTo>
                  <a:cubicBezTo>
                    <a:pt x="27060" y="11948"/>
                    <a:pt x="25832" y="11355"/>
                    <a:pt x="24728" y="10557"/>
                  </a:cubicBezTo>
                  <a:cubicBezTo>
                    <a:pt x="20993" y="6830"/>
                    <a:pt x="18415" y="9132"/>
                    <a:pt x="15416" y="11763"/>
                  </a:cubicBezTo>
                  <a:cubicBezTo>
                    <a:pt x="12417" y="14393"/>
                    <a:pt x="12575" y="16805"/>
                    <a:pt x="14206" y="20202"/>
                  </a:cubicBezTo>
                  <a:cubicBezTo>
                    <a:pt x="16144" y="27220"/>
                    <a:pt x="12294" y="34554"/>
                    <a:pt x="5578" y="36644"/>
                  </a:cubicBezTo>
                  <a:cubicBezTo>
                    <a:pt x="2884" y="36627"/>
                    <a:pt x="613" y="38732"/>
                    <a:pt x="316" y="41521"/>
                  </a:cubicBezTo>
                  <a:lnTo>
                    <a:pt x="1" y="45905"/>
                  </a:lnTo>
                  <a:cubicBezTo>
                    <a:pt x="-41" y="48585"/>
                    <a:pt x="1784" y="50904"/>
                    <a:pt x="4315" y="51386"/>
                  </a:cubicBezTo>
                  <a:cubicBezTo>
                    <a:pt x="10736" y="54445"/>
                    <a:pt x="13560" y="62348"/>
                    <a:pt x="10623" y="69036"/>
                  </a:cubicBezTo>
                  <a:cubicBezTo>
                    <a:pt x="10607" y="69071"/>
                    <a:pt x="10591" y="69107"/>
                    <a:pt x="10576" y="69142"/>
                  </a:cubicBezTo>
                  <a:cubicBezTo>
                    <a:pt x="8471" y="72211"/>
                    <a:pt x="7945" y="74623"/>
                    <a:pt x="10576" y="77637"/>
                  </a:cubicBezTo>
                  <a:cubicBezTo>
                    <a:pt x="13206" y="80651"/>
                    <a:pt x="15416" y="83117"/>
                    <a:pt x="19572" y="80322"/>
                  </a:cubicBezTo>
                  <a:cubicBezTo>
                    <a:pt x="20799" y="79692"/>
                    <a:pt x="22112" y="79267"/>
                    <a:pt x="23465" y="79062"/>
                  </a:cubicBezTo>
                  <a:cubicBezTo>
                    <a:pt x="28306" y="79500"/>
                    <a:pt x="35198" y="84542"/>
                    <a:pt x="35724" y="88159"/>
                  </a:cubicBezTo>
                  <a:cubicBezTo>
                    <a:pt x="36250" y="91776"/>
                    <a:pt x="37460" y="94133"/>
                    <a:pt x="41511" y="94242"/>
                  </a:cubicBezTo>
                  <a:cubicBezTo>
                    <a:pt x="45562" y="94352"/>
                    <a:pt x="48298" y="94790"/>
                    <a:pt x="49824" y="89694"/>
                  </a:cubicBezTo>
                  <a:cubicBezTo>
                    <a:pt x="52814" y="83097"/>
                    <a:pt x="60371" y="80276"/>
                    <a:pt x="66703" y="83390"/>
                  </a:cubicBezTo>
                  <a:cubicBezTo>
                    <a:pt x="66777" y="83426"/>
                    <a:pt x="66850" y="83463"/>
                    <a:pt x="66923" y="83501"/>
                  </a:cubicBezTo>
                  <a:cubicBezTo>
                    <a:pt x="69370" y="85826"/>
                    <a:pt x="73164" y="85643"/>
                    <a:pt x="75396" y="83094"/>
                  </a:cubicBezTo>
                  <a:cubicBezTo>
                    <a:pt x="75467" y="83012"/>
                    <a:pt x="75536" y="82929"/>
                    <a:pt x="75604" y="82843"/>
                  </a:cubicBezTo>
                  <a:cubicBezTo>
                    <a:pt x="78287" y="80267"/>
                    <a:pt x="79655" y="78240"/>
                    <a:pt x="77550" y="74184"/>
                  </a:cubicBezTo>
                  <a:cubicBezTo>
                    <a:pt x="75028" y="68033"/>
                    <a:pt x="77770" y="60916"/>
                    <a:pt x="83675" y="58288"/>
                  </a:cubicBezTo>
                  <a:cubicBezTo>
                    <a:pt x="84164" y="58071"/>
                    <a:pt x="84666" y="57889"/>
                    <a:pt x="85179" y="57743"/>
                  </a:cubicBezTo>
                  <a:cubicBezTo>
                    <a:pt x="88704" y="57085"/>
                    <a:pt x="90440" y="55551"/>
                    <a:pt x="90861" y="52865"/>
                  </a:cubicBezTo>
                  <a:lnTo>
                    <a:pt x="91124" y="48426"/>
                  </a:lnTo>
                  <a:cubicBezTo>
                    <a:pt x="90756" y="45851"/>
                    <a:pt x="89546" y="44097"/>
                    <a:pt x="86126" y="42946"/>
                  </a:cubicBezTo>
                  <a:close/>
                  <a:moveTo>
                    <a:pt x="67396" y="50838"/>
                  </a:moveTo>
                  <a:cubicBezTo>
                    <a:pt x="65348" y="63462"/>
                    <a:pt x="53863" y="71966"/>
                    <a:pt x="41744" y="69833"/>
                  </a:cubicBezTo>
                  <a:cubicBezTo>
                    <a:pt x="31202" y="67976"/>
                    <a:pt x="23417" y="58574"/>
                    <a:pt x="23202" y="47440"/>
                  </a:cubicBezTo>
                  <a:lnTo>
                    <a:pt x="23518" y="43549"/>
                  </a:lnTo>
                  <a:cubicBezTo>
                    <a:pt x="25398" y="30927"/>
                    <a:pt x="36745" y="22283"/>
                    <a:pt x="48862" y="24242"/>
                  </a:cubicBezTo>
                  <a:cubicBezTo>
                    <a:pt x="59626" y="25982"/>
                    <a:pt x="67589" y="35600"/>
                    <a:pt x="67659" y="46947"/>
                  </a:cubicBezTo>
                  <a:close/>
                </a:path>
              </a:pathLst>
            </a:custGeom>
            <a:solidFill>
              <a:schemeClr val="bg1"/>
            </a:solidFill>
            <a:ln w="11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b="0" i="0" dirty="0">
                <a:latin typeface="Calibri" panose="020F0502020204030204" pitchFamily="34" charset="0"/>
              </a:endParaRPr>
            </a:p>
          </p:txBody>
        </p:sp>
        <p:sp>
          <p:nvSpPr>
            <p:cNvPr id="53" name="Freihandform 52">
              <a:extLst>
                <a:ext uri="{FF2B5EF4-FFF2-40B4-BE49-F238E27FC236}">
                  <a16:creationId xmlns:a16="http://schemas.microsoft.com/office/drawing/2014/main" id="{37125705-882E-C647-8F51-B9679352E2FA}"/>
                </a:ext>
              </a:extLst>
            </p:cNvPr>
            <p:cNvSpPr/>
            <p:nvPr/>
          </p:nvSpPr>
          <p:spPr>
            <a:xfrm>
              <a:off x="1366159" y="4008909"/>
              <a:ext cx="310747" cy="322959"/>
            </a:xfrm>
            <a:custGeom>
              <a:avLst/>
              <a:gdLst>
                <a:gd name="connsiteX0" fmla="*/ 309222 w 310747"/>
                <a:gd name="connsiteY0" fmla="*/ 132848 h 322959"/>
                <a:gd name="connsiteX1" fmla="*/ 289019 w 310747"/>
                <a:gd name="connsiteY1" fmla="*/ 117229 h 322959"/>
                <a:gd name="connsiteX2" fmla="*/ 259925 w 310747"/>
                <a:gd name="connsiteY2" fmla="*/ 62425 h 322959"/>
                <a:gd name="connsiteX3" fmla="*/ 251349 w 310747"/>
                <a:gd name="connsiteY3" fmla="*/ 32886 h 322959"/>
                <a:gd name="connsiteX4" fmla="*/ 221729 w 310747"/>
                <a:gd name="connsiteY4" fmla="*/ 32886 h 322959"/>
                <a:gd name="connsiteX5" fmla="*/ 162330 w 310747"/>
                <a:gd name="connsiteY5" fmla="*/ 15020 h 322959"/>
                <a:gd name="connsiteX6" fmla="*/ 133183 w 310747"/>
                <a:gd name="connsiteY6" fmla="*/ 716 h 322959"/>
                <a:gd name="connsiteX7" fmla="*/ 114559 w 310747"/>
                <a:gd name="connsiteY7" fmla="*/ 22638 h 322959"/>
                <a:gd name="connsiteX8" fmla="*/ 74153 w 310747"/>
                <a:gd name="connsiteY8" fmla="*/ 56068 h 322959"/>
                <a:gd name="connsiteX9" fmla="*/ 60737 w 310747"/>
                <a:gd name="connsiteY9" fmla="*/ 52670 h 322959"/>
                <a:gd name="connsiteX10" fmla="*/ 30328 w 310747"/>
                <a:gd name="connsiteY10" fmla="*/ 63631 h 322959"/>
                <a:gd name="connsiteX11" fmla="*/ 31906 w 310747"/>
                <a:gd name="connsiteY11" fmla="*/ 92786 h 322959"/>
                <a:gd name="connsiteX12" fmla="*/ 13913 w 310747"/>
                <a:gd name="connsiteY12" fmla="*/ 154715 h 322959"/>
                <a:gd name="connsiteX13" fmla="*/ 23 w 310747"/>
                <a:gd name="connsiteY13" fmla="*/ 174608 h 322959"/>
                <a:gd name="connsiteX14" fmla="*/ 1865 w 310747"/>
                <a:gd name="connsiteY14" fmla="*/ 189570 h 322959"/>
                <a:gd name="connsiteX15" fmla="*/ 20121 w 310747"/>
                <a:gd name="connsiteY15" fmla="*/ 205189 h 322959"/>
                <a:gd name="connsiteX16" fmla="*/ 52635 w 310747"/>
                <a:gd name="connsiteY16" fmla="*/ 259992 h 322959"/>
                <a:gd name="connsiteX17" fmla="*/ 58212 w 310747"/>
                <a:gd name="connsiteY17" fmla="*/ 288710 h 322959"/>
                <a:gd name="connsiteX18" fmla="*/ 90252 w 310747"/>
                <a:gd name="connsiteY18" fmla="*/ 291011 h 322959"/>
                <a:gd name="connsiteX19" fmla="*/ 102458 w 310747"/>
                <a:gd name="connsiteY19" fmla="*/ 284161 h 322959"/>
                <a:gd name="connsiteX20" fmla="*/ 149809 w 310747"/>
                <a:gd name="connsiteY20" fmla="*/ 306082 h 322959"/>
                <a:gd name="connsiteX21" fmla="*/ 173116 w 310747"/>
                <a:gd name="connsiteY21" fmla="*/ 322524 h 322959"/>
                <a:gd name="connsiteX22" fmla="*/ 197948 w 310747"/>
                <a:gd name="connsiteY22" fmla="*/ 301205 h 322959"/>
                <a:gd name="connsiteX23" fmla="*/ 215784 w 310747"/>
                <a:gd name="connsiteY23" fmla="*/ 274022 h 322959"/>
                <a:gd name="connsiteX24" fmla="*/ 226306 w 310747"/>
                <a:gd name="connsiteY24" fmla="*/ 268542 h 322959"/>
                <a:gd name="connsiteX25" fmla="*/ 250613 w 310747"/>
                <a:gd name="connsiteY25" fmla="*/ 267994 h 322959"/>
                <a:gd name="connsiteX26" fmla="*/ 279286 w 310747"/>
                <a:gd name="connsiteY26" fmla="*/ 259718 h 322959"/>
                <a:gd name="connsiteX27" fmla="*/ 280233 w 310747"/>
                <a:gd name="connsiteY27" fmla="*/ 229302 h 322959"/>
                <a:gd name="connsiteX28" fmla="*/ 294964 w 310747"/>
                <a:gd name="connsiteY28" fmla="*/ 168525 h 322959"/>
                <a:gd name="connsiteX29" fmla="*/ 310748 w 310747"/>
                <a:gd name="connsiteY29" fmla="*/ 148083 h 322959"/>
                <a:gd name="connsiteX30" fmla="*/ 155859 w 310747"/>
                <a:gd name="connsiteY30" fmla="*/ 250237 h 322959"/>
                <a:gd name="connsiteX31" fmla="*/ 70470 w 310747"/>
                <a:gd name="connsiteY31" fmla="*/ 161291 h 322959"/>
                <a:gd name="connsiteX32" fmla="*/ 155859 w 310747"/>
                <a:gd name="connsiteY32" fmla="*/ 72345 h 322959"/>
                <a:gd name="connsiteX33" fmla="*/ 241248 w 310747"/>
                <a:gd name="connsiteY33" fmla="*/ 161291 h 322959"/>
                <a:gd name="connsiteX34" fmla="*/ 155859 w 310747"/>
                <a:gd name="connsiteY34" fmla="*/ 250237 h 322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10747" h="322959">
                  <a:moveTo>
                    <a:pt x="309222" y="132848"/>
                  </a:moveTo>
                  <a:cubicBezTo>
                    <a:pt x="306539" y="123531"/>
                    <a:pt x="301172" y="118654"/>
                    <a:pt x="289019" y="117229"/>
                  </a:cubicBezTo>
                  <a:cubicBezTo>
                    <a:pt x="266554" y="114434"/>
                    <a:pt x="250349" y="83963"/>
                    <a:pt x="259925" y="62425"/>
                  </a:cubicBezTo>
                  <a:cubicBezTo>
                    <a:pt x="266133" y="48067"/>
                    <a:pt x="261030" y="41381"/>
                    <a:pt x="251349" y="32886"/>
                  </a:cubicBezTo>
                  <a:cubicBezTo>
                    <a:pt x="241669" y="24391"/>
                    <a:pt x="232672" y="23624"/>
                    <a:pt x="221729" y="32886"/>
                  </a:cubicBezTo>
                  <a:cubicBezTo>
                    <a:pt x="205419" y="46423"/>
                    <a:pt x="170064" y="36503"/>
                    <a:pt x="162330" y="15020"/>
                  </a:cubicBezTo>
                  <a:cubicBezTo>
                    <a:pt x="156227" y="-2408"/>
                    <a:pt x="146126" y="-435"/>
                    <a:pt x="133183" y="716"/>
                  </a:cubicBezTo>
                  <a:cubicBezTo>
                    <a:pt x="119294" y="2032"/>
                    <a:pt x="115822" y="10307"/>
                    <a:pt x="114559" y="22638"/>
                  </a:cubicBezTo>
                  <a:cubicBezTo>
                    <a:pt x="113296" y="34969"/>
                    <a:pt x="90621" y="53766"/>
                    <a:pt x="74153" y="56068"/>
                  </a:cubicBezTo>
                  <a:cubicBezTo>
                    <a:pt x="69523" y="55774"/>
                    <a:pt x="64980" y="54623"/>
                    <a:pt x="60737" y="52670"/>
                  </a:cubicBezTo>
                  <a:cubicBezTo>
                    <a:pt x="45848" y="42915"/>
                    <a:pt x="38693" y="52670"/>
                    <a:pt x="30328" y="63631"/>
                  </a:cubicBezTo>
                  <a:cubicBezTo>
                    <a:pt x="21962" y="74592"/>
                    <a:pt x="24067" y="82757"/>
                    <a:pt x="31906" y="92786"/>
                  </a:cubicBezTo>
                  <a:cubicBezTo>
                    <a:pt x="44638" y="109228"/>
                    <a:pt x="34379" y="147590"/>
                    <a:pt x="13913" y="154715"/>
                  </a:cubicBezTo>
                  <a:cubicBezTo>
                    <a:pt x="1549" y="159044"/>
                    <a:pt x="-240" y="165675"/>
                    <a:pt x="23" y="174608"/>
                  </a:cubicBezTo>
                  <a:lnTo>
                    <a:pt x="1865" y="189570"/>
                  </a:lnTo>
                  <a:cubicBezTo>
                    <a:pt x="3706" y="198010"/>
                    <a:pt x="7126" y="204257"/>
                    <a:pt x="20121" y="205189"/>
                  </a:cubicBezTo>
                  <a:cubicBezTo>
                    <a:pt x="41692" y="206833"/>
                    <a:pt x="61000" y="240976"/>
                    <a:pt x="52635" y="259992"/>
                  </a:cubicBezTo>
                  <a:cubicBezTo>
                    <a:pt x="47374" y="271830"/>
                    <a:pt x="47374" y="280379"/>
                    <a:pt x="58212" y="288710"/>
                  </a:cubicBezTo>
                  <a:cubicBezTo>
                    <a:pt x="69050" y="297040"/>
                    <a:pt x="78204" y="304438"/>
                    <a:pt x="90252" y="291011"/>
                  </a:cubicBezTo>
                  <a:cubicBezTo>
                    <a:pt x="93906" y="288004"/>
                    <a:pt x="98037" y="285686"/>
                    <a:pt x="102458" y="284161"/>
                  </a:cubicBezTo>
                  <a:cubicBezTo>
                    <a:pt x="118926" y="282078"/>
                    <a:pt x="145337" y="294354"/>
                    <a:pt x="149809" y="306082"/>
                  </a:cubicBezTo>
                  <a:cubicBezTo>
                    <a:pt x="154281" y="317810"/>
                    <a:pt x="159437" y="324825"/>
                    <a:pt x="173116" y="322524"/>
                  </a:cubicBezTo>
                  <a:cubicBezTo>
                    <a:pt x="185953" y="320222"/>
                    <a:pt x="196212" y="319509"/>
                    <a:pt x="197948" y="301205"/>
                  </a:cubicBezTo>
                  <a:cubicBezTo>
                    <a:pt x="199739" y="289841"/>
                    <a:pt x="206270" y="279887"/>
                    <a:pt x="215784" y="274022"/>
                  </a:cubicBezTo>
                  <a:cubicBezTo>
                    <a:pt x="219071" y="271770"/>
                    <a:pt x="222604" y="269931"/>
                    <a:pt x="226306" y="268542"/>
                  </a:cubicBezTo>
                  <a:cubicBezTo>
                    <a:pt x="234051" y="265170"/>
                    <a:pt x="242734" y="264974"/>
                    <a:pt x="250613" y="267994"/>
                  </a:cubicBezTo>
                  <a:cubicBezTo>
                    <a:pt x="263450" y="273913"/>
                    <a:pt x="271394" y="271063"/>
                    <a:pt x="279286" y="259718"/>
                  </a:cubicBezTo>
                  <a:cubicBezTo>
                    <a:pt x="287178" y="248374"/>
                    <a:pt x="289808" y="241414"/>
                    <a:pt x="280233" y="229302"/>
                  </a:cubicBezTo>
                  <a:cubicBezTo>
                    <a:pt x="265712" y="210943"/>
                    <a:pt x="273919" y="177129"/>
                    <a:pt x="294964" y="168525"/>
                  </a:cubicBezTo>
                  <a:cubicBezTo>
                    <a:pt x="306381" y="163922"/>
                    <a:pt x="310327" y="157564"/>
                    <a:pt x="310748" y="148083"/>
                  </a:cubicBezTo>
                  <a:close/>
                  <a:moveTo>
                    <a:pt x="155859" y="250237"/>
                  </a:moveTo>
                  <a:cubicBezTo>
                    <a:pt x="108700" y="250237"/>
                    <a:pt x="70470" y="210415"/>
                    <a:pt x="70470" y="161291"/>
                  </a:cubicBezTo>
                  <a:cubicBezTo>
                    <a:pt x="70470" y="112167"/>
                    <a:pt x="108700" y="72345"/>
                    <a:pt x="155859" y="72345"/>
                  </a:cubicBezTo>
                  <a:cubicBezTo>
                    <a:pt x="203018" y="72345"/>
                    <a:pt x="241248" y="112167"/>
                    <a:pt x="241248" y="161291"/>
                  </a:cubicBezTo>
                  <a:cubicBezTo>
                    <a:pt x="241190" y="210390"/>
                    <a:pt x="202994" y="250177"/>
                    <a:pt x="155859" y="250237"/>
                  </a:cubicBezTo>
                  <a:close/>
                </a:path>
              </a:pathLst>
            </a:custGeom>
            <a:noFill/>
            <a:ln w="1143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 b="0" i="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54" name="Grafik 44">
            <a:extLst>
              <a:ext uri="{FF2B5EF4-FFF2-40B4-BE49-F238E27FC236}">
                <a16:creationId xmlns:a16="http://schemas.microsoft.com/office/drawing/2014/main" id="{B6CFA194-8761-4D41-9519-3697E905AE51}"/>
              </a:ext>
            </a:extLst>
          </p:cNvPr>
          <p:cNvGrpSpPr/>
          <p:nvPr userDrawn="1"/>
        </p:nvGrpSpPr>
        <p:grpSpPr>
          <a:xfrm>
            <a:off x="3434932" y="3982557"/>
            <a:ext cx="448758" cy="406979"/>
            <a:chOff x="1228148" y="4008909"/>
            <a:chExt cx="448758" cy="406979"/>
          </a:xfrm>
        </p:grpSpPr>
        <p:sp>
          <p:nvSpPr>
            <p:cNvPr id="55" name="Freihandform 54">
              <a:extLst>
                <a:ext uri="{FF2B5EF4-FFF2-40B4-BE49-F238E27FC236}">
                  <a16:creationId xmlns:a16="http://schemas.microsoft.com/office/drawing/2014/main" id="{E5D11D69-CBC8-CA48-BEC0-41F1C8C45DF0}"/>
                </a:ext>
              </a:extLst>
            </p:cNvPr>
            <p:cNvSpPr/>
            <p:nvPr/>
          </p:nvSpPr>
          <p:spPr>
            <a:xfrm>
              <a:off x="1228148" y="4219901"/>
              <a:ext cx="180018" cy="186620"/>
            </a:xfrm>
            <a:custGeom>
              <a:avLst/>
              <a:gdLst>
                <a:gd name="connsiteX0" fmla="*/ 170390 w 180018"/>
                <a:gd name="connsiteY0" fmla="*/ 84952 h 186620"/>
                <a:gd name="connsiteX1" fmla="*/ 158237 w 180018"/>
                <a:gd name="connsiteY1" fmla="*/ 53705 h 186620"/>
                <a:gd name="connsiteX2" fmla="*/ 159868 w 180018"/>
                <a:gd name="connsiteY2" fmla="*/ 50426 h 186620"/>
                <a:gd name="connsiteX3" fmla="*/ 158395 w 180018"/>
                <a:gd name="connsiteY3" fmla="*/ 32943 h 186620"/>
                <a:gd name="connsiteX4" fmla="*/ 142496 w 180018"/>
                <a:gd name="connsiteY4" fmla="*/ 28572 h 186620"/>
                <a:gd name="connsiteX5" fmla="*/ 142085 w 180018"/>
                <a:gd name="connsiteY5" fmla="*/ 28833 h 186620"/>
                <a:gd name="connsiteX6" fmla="*/ 110518 w 180018"/>
                <a:gd name="connsiteY6" fmla="*/ 11570 h 186620"/>
                <a:gd name="connsiteX7" fmla="*/ 95577 w 180018"/>
                <a:gd name="connsiteY7" fmla="*/ 116 h 186620"/>
                <a:gd name="connsiteX8" fmla="*/ 82634 w 180018"/>
                <a:gd name="connsiteY8" fmla="*/ 10255 h 186620"/>
                <a:gd name="connsiteX9" fmla="*/ 56328 w 180018"/>
                <a:gd name="connsiteY9" fmla="*/ 24284 h 186620"/>
                <a:gd name="connsiteX10" fmla="*/ 49068 w 180018"/>
                <a:gd name="connsiteY10" fmla="*/ 20722 h 186620"/>
                <a:gd name="connsiteX11" fmla="*/ 30759 w 180018"/>
                <a:gd name="connsiteY11" fmla="*/ 23134 h 186620"/>
                <a:gd name="connsiteX12" fmla="*/ 28392 w 180018"/>
                <a:gd name="connsiteY12" fmla="*/ 39849 h 186620"/>
                <a:gd name="connsiteX13" fmla="*/ 11293 w 180018"/>
                <a:gd name="connsiteY13" fmla="*/ 72731 h 186620"/>
                <a:gd name="connsiteX14" fmla="*/ 1244 w 180018"/>
                <a:gd name="connsiteY14" fmla="*/ 82322 h 186620"/>
                <a:gd name="connsiteX15" fmla="*/ 34 w 180018"/>
                <a:gd name="connsiteY15" fmla="*/ 90926 h 186620"/>
                <a:gd name="connsiteX16" fmla="*/ 8610 w 180018"/>
                <a:gd name="connsiteY16" fmla="*/ 101886 h 186620"/>
                <a:gd name="connsiteX17" fmla="*/ 20921 w 180018"/>
                <a:gd name="connsiteY17" fmla="*/ 136906 h 186620"/>
                <a:gd name="connsiteX18" fmla="*/ 20921 w 180018"/>
                <a:gd name="connsiteY18" fmla="*/ 153840 h 186620"/>
                <a:gd name="connsiteX19" fmla="*/ 38809 w 180018"/>
                <a:gd name="connsiteY19" fmla="*/ 158937 h 186620"/>
                <a:gd name="connsiteX20" fmla="*/ 46437 w 180018"/>
                <a:gd name="connsiteY20" fmla="*/ 156526 h 186620"/>
                <a:gd name="connsiteX21" fmla="*/ 70691 w 180018"/>
                <a:gd name="connsiteY21" fmla="*/ 174501 h 186620"/>
                <a:gd name="connsiteX22" fmla="*/ 82108 w 180018"/>
                <a:gd name="connsiteY22" fmla="*/ 186503 h 186620"/>
                <a:gd name="connsiteX23" fmla="*/ 98470 w 180018"/>
                <a:gd name="connsiteY23" fmla="*/ 177461 h 186620"/>
                <a:gd name="connsiteX24" fmla="*/ 132194 w 180018"/>
                <a:gd name="connsiteY24" fmla="*/ 165185 h 186620"/>
                <a:gd name="connsiteX25" fmla="*/ 148705 w 180018"/>
                <a:gd name="connsiteY25" fmla="*/ 164680 h 186620"/>
                <a:gd name="connsiteX26" fmla="*/ 149293 w 180018"/>
                <a:gd name="connsiteY26" fmla="*/ 163979 h 186620"/>
                <a:gd name="connsiteX27" fmla="*/ 153186 w 180018"/>
                <a:gd name="connsiteY27" fmla="*/ 146880 h 186620"/>
                <a:gd name="connsiteX28" fmla="*/ 165139 w 180018"/>
                <a:gd name="connsiteY28" fmla="*/ 115549 h 186620"/>
                <a:gd name="connsiteX29" fmla="*/ 168391 w 180018"/>
                <a:gd name="connsiteY29" fmla="*/ 114382 h 186620"/>
                <a:gd name="connsiteX30" fmla="*/ 179439 w 180018"/>
                <a:gd name="connsiteY30" fmla="*/ 104681 h 186620"/>
                <a:gd name="connsiteX31" fmla="*/ 180018 w 180018"/>
                <a:gd name="connsiteY31" fmla="*/ 95913 h 186620"/>
                <a:gd name="connsiteX32" fmla="*/ 170390 w 180018"/>
                <a:gd name="connsiteY32" fmla="*/ 84952 h 186620"/>
                <a:gd name="connsiteX33" fmla="*/ 133562 w 180018"/>
                <a:gd name="connsiteY33" fmla="*/ 100516 h 186620"/>
                <a:gd name="connsiteX34" fmla="*/ 84998 w 180018"/>
                <a:gd name="connsiteY34" fmla="*/ 140753 h 186620"/>
                <a:gd name="connsiteX35" fmla="*/ 46122 w 180018"/>
                <a:gd name="connsiteY35" fmla="*/ 93556 h 186620"/>
                <a:gd name="connsiteX36" fmla="*/ 46700 w 180018"/>
                <a:gd name="connsiteY36" fmla="*/ 86377 h 186620"/>
                <a:gd name="connsiteX37" fmla="*/ 96819 w 180018"/>
                <a:gd name="connsiteY37" fmla="*/ 48265 h 186620"/>
                <a:gd name="connsiteX38" fmla="*/ 133930 w 180018"/>
                <a:gd name="connsiteY38" fmla="*/ 93063 h 186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80018" h="186620">
                  <a:moveTo>
                    <a:pt x="170390" y="84952"/>
                  </a:moveTo>
                  <a:cubicBezTo>
                    <a:pt x="158750" y="79819"/>
                    <a:pt x="153309" y="65829"/>
                    <a:pt x="158237" y="53705"/>
                  </a:cubicBezTo>
                  <a:cubicBezTo>
                    <a:pt x="158698" y="52570"/>
                    <a:pt x="159244" y="51473"/>
                    <a:pt x="159868" y="50426"/>
                  </a:cubicBezTo>
                  <a:cubicBezTo>
                    <a:pt x="165129" y="43082"/>
                    <a:pt x="162972" y="38753"/>
                    <a:pt x="158395" y="32943"/>
                  </a:cubicBezTo>
                  <a:cubicBezTo>
                    <a:pt x="155163" y="27163"/>
                    <a:pt x="148045" y="25206"/>
                    <a:pt x="142496" y="28572"/>
                  </a:cubicBezTo>
                  <a:cubicBezTo>
                    <a:pt x="142357" y="28656"/>
                    <a:pt x="142220" y="28743"/>
                    <a:pt x="142085" y="28833"/>
                  </a:cubicBezTo>
                  <a:cubicBezTo>
                    <a:pt x="131563" y="34313"/>
                    <a:pt x="112412" y="24668"/>
                    <a:pt x="110518" y="11570"/>
                  </a:cubicBezTo>
                  <a:cubicBezTo>
                    <a:pt x="108993" y="1048"/>
                    <a:pt x="103047" y="993"/>
                    <a:pt x="95577" y="116"/>
                  </a:cubicBezTo>
                  <a:cubicBezTo>
                    <a:pt x="88106" y="-761"/>
                    <a:pt x="84791" y="3404"/>
                    <a:pt x="82634" y="10255"/>
                  </a:cubicBezTo>
                  <a:cubicBezTo>
                    <a:pt x="80477" y="17105"/>
                    <a:pt x="65693" y="24997"/>
                    <a:pt x="56328" y="24284"/>
                  </a:cubicBezTo>
                  <a:cubicBezTo>
                    <a:pt x="53722" y="23562"/>
                    <a:pt x="51262" y="22355"/>
                    <a:pt x="49068" y="20722"/>
                  </a:cubicBezTo>
                  <a:cubicBezTo>
                    <a:pt x="41755" y="13488"/>
                    <a:pt x="36652" y="18037"/>
                    <a:pt x="30759" y="23134"/>
                  </a:cubicBezTo>
                  <a:cubicBezTo>
                    <a:pt x="24867" y="28230"/>
                    <a:pt x="25077" y="33163"/>
                    <a:pt x="28392" y="39849"/>
                  </a:cubicBezTo>
                  <a:cubicBezTo>
                    <a:pt x="33653" y="50809"/>
                    <a:pt x="23709" y="70922"/>
                    <a:pt x="11293" y="72731"/>
                  </a:cubicBezTo>
                  <a:cubicBezTo>
                    <a:pt x="3822" y="73717"/>
                    <a:pt x="2033" y="77389"/>
                    <a:pt x="1244" y="82322"/>
                  </a:cubicBezTo>
                  <a:lnTo>
                    <a:pt x="34" y="90926"/>
                  </a:lnTo>
                  <a:cubicBezTo>
                    <a:pt x="-400" y="96386"/>
                    <a:pt x="3388" y="101228"/>
                    <a:pt x="8610" y="101886"/>
                  </a:cubicBezTo>
                  <a:cubicBezTo>
                    <a:pt x="20710" y="105394"/>
                    <a:pt x="27760" y="127041"/>
                    <a:pt x="20921" y="136906"/>
                  </a:cubicBezTo>
                  <a:cubicBezTo>
                    <a:pt x="16659" y="142989"/>
                    <a:pt x="15660" y="147867"/>
                    <a:pt x="20921" y="153840"/>
                  </a:cubicBezTo>
                  <a:cubicBezTo>
                    <a:pt x="26182" y="159814"/>
                    <a:pt x="30443" y="164801"/>
                    <a:pt x="38809" y="158937"/>
                  </a:cubicBezTo>
                  <a:cubicBezTo>
                    <a:pt x="41202" y="157689"/>
                    <a:pt x="43782" y="156874"/>
                    <a:pt x="46437" y="156526"/>
                  </a:cubicBezTo>
                  <a:cubicBezTo>
                    <a:pt x="55960" y="157348"/>
                    <a:pt x="69534" y="167486"/>
                    <a:pt x="70691" y="174501"/>
                  </a:cubicBezTo>
                  <a:cubicBezTo>
                    <a:pt x="71849" y="181516"/>
                    <a:pt x="74006" y="186284"/>
                    <a:pt x="82108" y="186503"/>
                  </a:cubicBezTo>
                  <a:cubicBezTo>
                    <a:pt x="90210" y="186723"/>
                    <a:pt x="95471" y="187599"/>
                    <a:pt x="98470" y="177461"/>
                  </a:cubicBezTo>
                  <a:cubicBezTo>
                    <a:pt x="102258" y="164801"/>
                    <a:pt x="122356" y="158005"/>
                    <a:pt x="132194" y="165185"/>
                  </a:cubicBezTo>
                  <a:cubicBezTo>
                    <a:pt x="136887" y="169795"/>
                    <a:pt x="144279" y="169569"/>
                    <a:pt x="148705" y="164680"/>
                  </a:cubicBezTo>
                  <a:cubicBezTo>
                    <a:pt x="148909" y="164455"/>
                    <a:pt x="149106" y="164221"/>
                    <a:pt x="149293" y="163979"/>
                  </a:cubicBezTo>
                  <a:cubicBezTo>
                    <a:pt x="154554" y="158937"/>
                    <a:pt x="157290" y="154882"/>
                    <a:pt x="153186" y="146880"/>
                  </a:cubicBezTo>
                  <a:cubicBezTo>
                    <a:pt x="148181" y="134790"/>
                    <a:pt x="153532" y="120763"/>
                    <a:pt x="165139" y="115549"/>
                  </a:cubicBezTo>
                  <a:cubicBezTo>
                    <a:pt x="166193" y="115075"/>
                    <a:pt x="167280" y="114685"/>
                    <a:pt x="168391" y="114382"/>
                  </a:cubicBezTo>
                  <a:cubicBezTo>
                    <a:pt x="173783" y="114194"/>
                    <a:pt x="178349" y="110185"/>
                    <a:pt x="179439" y="104681"/>
                  </a:cubicBezTo>
                  <a:lnTo>
                    <a:pt x="180018" y="95913"/>
                  </a:lnTo>
                  <a:cubicBezTo>
                    <a:pt x="179545" y="90432"/>
                    <a:pt x="177072" y="86980"/>
                    <a:pt x="170390" y="84952"/>
                  </a:cubicBezTo>
                  <a:close/>
                  <a:moveTo>
                    <a:pt x="133562" y="100516"/>
                  </a:moveTo>
                  <a:cubicBezTo>
                    <a:pt x="130818" y="125597"/>
                    <a:pt x="109075" y="143611"/>
                    <a:pt x="84998" y="140753"/>
                  </a:cubicBezTo>
                  <a:cubicBezTo>
                    <a:pt x="62178" y="138044"/>
                    <a:pt x="45225" y="117462"/>
                    <a:pt x="46122" y="93556"/>
                  </a:cubicBezTo>
                  <a:lnTo>
                    <a:pt x="46700" y="86377"/>
                  </a:lnTo>
                  <a:cubicBezTo>
                    <a:pt x="50437" y="61436"/>
                    <a:pt x="72876" y="44373"/>
                    <a:pt x="96819" y="48265"/>
                  </a:cubicBezTo>
                  <a:cubicBezTo>
                    <a:pt x="118052" y="51716"/>
                    <a:pt x="133760" y="70678"/>
                    <a:pt x="133930" y="93063"/>
                  </a:cubicBezTo>
                  <a:close/>
                </a:path>
              </a:pathLst>
            </a:custGeom>
            <a:noFill/>
            <a:ln w="1143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 b="0" i="0" dirty="0">
                <a:latin typeface="Calibri" panose="020F0502020204030204" pitchFamily="34" charset="0"/>
              </a:endParaRPr>
            </a:p>
          </p:txBody>
        </p:sp>
        <p:sp>
          <p:nvSpPr>
            <p:cNvPr id="56" name="Freihandform 55">
              <a:extLst>
                <a:ext uri="{FF2B5EF4-FFF2-40B4-BE49-F238E27FC236}">
                  <a16:creationId xmlns:a16="http://schemas.microsoft.com/office/drawing/2014/main" id="{F093C747-5F44-0548-BB6E-BC575A94C26B}"/>
                </a:ext>
              </a:extLst>
            </p:cNvPr>
            <p:cNvSpPr/>
            <p:nvPr/>
          </p:nvSpPr>
          <p:spPr>
            <a:xfrm>
              <a:off x="1418267" y="4321588"/>
              <a:ext cx="91124" cy="94300"/>
            </a:xfrm>
            <a:custGeom>
              <a:avLst/>
              <a:gdLst>
                <a:gd name="connsiteX0" fmla="*/ 86126 w 91124"/>
                <a:gd name="connsiteY0" fmla="*/ 42946 h 94300"/>
                <a:gd name="connsiteX1" fmla="*/ 80087 w 91124"/>
                <a:gd name="connsiteY1" fmla="*/ 27015 h 94300"/>
                <a:gd name="connsiteX2" fmla="*/ 80865 w 91124"/>
                <a:gd name="connsiteY2" fmla="*/ 25464 h 94300"/>
                <a:gd name="connsiteX3" fmla="*/ 80181 w 91124"/>
                <a:gd name="connsiteY3" fmla="*/ 16585 h 94300"/>
                <a:gd name="connsiteX4" fmla="*/ 72117 w 91124"/>
                <a:gd name="connsiteY4" fmla="*/ 14395 h 94300"/>
                <a:gd name="connsiteX5" fmla="*/ 71710 w 91124"/>
                <a:gd name="connsiteY5" fmla="*/ 14667 h 94300"/>
                <a:gd name="connsiteX6" fmla="*/ 55927 w 91124"/>
                <a:gd name="connsiteY6" fmla="*/ 5844 h 94300"/>
                <a:gd name="connsiteX7" fmla="*/ 48403 w 91124"/>
                <a:gd name="connsiteY7" fmla="*/ 35 h 94300"/>
                <a:gd name="connsiteX8" fmla="*/ 41827 w 91124"/>
                <a:gd name="connsiteY8" fmla="*/ 5241 h 94300"/>
                <a:gd name="connsiteX9" fmla="*/ 28358 w 91124"/>
                <a:gd name="connsiteY9" fmla="*/ 12311 h 94300"/>
                <a:gd name="connsiteX10" fmla="*/ 24728 w 91124"/>
                <a:gd name="connsiteY10" fmla="*/ 10557 h 94300"/>
                <a:gd name="connsiteX11" fmla="*/ 15416 w 91124"/>
                <a:gd name="connsiteY11" fmla="*/ 11763 h 94300"/>
                <a:gd name="connsiteX12" fmla="*/ 14206 w 91124"/>
                <a:gd name="connsiteY12" fmla="*/ 20202 h 94300"/>
                <a:gd name="connsiteX13" fmla="*/ 5578 w 91124"/>
                <a:gd name="connsiteY13" fmla="*/ 36644 h 94300"/>
                <a:gd name="connsiteX14" fmla="*/ 316 w 91124"/>
                <a:gd name="connsiteY14" fmla="*/ 41521 h 94300"/>
                <a:gd name="connsiteX15" fmla="*/ 1 w 91124"/>
                <a:gd name="connsiteY15" fmla="*/ 45905 h 94300"/>
                <a:gd name="connsiteX16" fmla="*/ 4315 w 91124"/>
                <a:gd name="connsiteY16" fmla="*/ 51386 h 94300"/>
                <a:gd name="connsiteX17" fmla="*/ 10623 w 91124"/>
                <a:gd name="connsiteY17" fmla="*/ 69036 h 94300"/>
                <a:gd name="connsiteX18" fmla="*/ 10576 w 91124"/>
                <a:gd name="connsiteY18" fmla="*/ 69142 h 94300"/>
                <a:gd name="connsiteX19" fmla="*/ 10576 w 91124"/>
                <a:gd name="connsiteY19" fmla="*/ 77637 h 94300"/>
                <a:gd name="connsiteX20" fmla="*/ 19572 w 91124"/>
                <a:gd name="connsiteY20" fmla="*/ 80322 h 94300"/>
                <a:gd name="connsiteX21" fmla="*/ 23465 w 91124"/>
                <a:gd name="connsiteY21" fmla="*/ 79062 h 94300"/>
                <a:gd name="connsiteX22" fmla="*/ 35724 w 91124"/>
                <a:gd name="connsiteY22" fmla="*/ 88159 h 94300"/>
                <a:gd name="connsiteX23" fmla="*/ 41511 w 91124"/>
                <a:gd name="connsiteY23" fmla="*/ 94242 h 94300"/>
                <a:gd name="connsiteX24" fmla="*/ 49824 w 91124"/>
                <a:gd name="connsiteY24" fmla="*/ 89694 h 94300"/>
                <a:gd name="connsiteX25" fmla="*/ 66703 w 91124"/>
                <a:gd name="connsiteY25" fmla="*/ 83390 h 94300"/>
                <a:gd name="connsiteX26" fmla="*/ 66923 w 91124"/>
                <a:gd name="connsiteY26" fmla="*/ 83501 h 94300"/>
                <a:gd name="connsiteX27" fmla="*/ 75396 w 91124"/>
                <a:gd name="connsiteY27" fmla="*/ 83094 h 94300"/>
                <a:gd name="connsiteX28" fmla="*/ 75604 w 91124"/>
                <a:gd name="connsiteY28" fmla="*/ 82843 h 94300"/>
                <a:gd name="connsiteX29" fmla="*/ 77550 w 91124"/>
                <a:gd name="connsiteY29" fmla="*/ 74184 h 94300"/>
                <a:gd name="connsiteX30" fmla="*/ 83675 w 91124"/>
                <a:gd name="connsiteY30" fmla="*/ 58288 h 94300"/>
                <a:gd name="connsiteX31" fmla="*/ 85179 w 91124"/>
                <a:gd name="connsiteY31" fmla="*/ 57743 h 94300"/>
                <a:gd name="connsiteX32" fmla="*/ 90861 w 91124"/>
                <a:gd name="connsiteY32" fmla="*/ 52865 h 94300"/>
                <a:gd name="connsiteX33" fmla="*/ 91124 w 91124"/>
                <a:gd name="connsiteY33" fmla="*/ 48426 h 94300"/>
                <a:gd name="connsiteX34" fmla="*/ 86126 w 91124"/>
                <a:gd name="connsiteY34" fmla="*/ 42946 h 94300"/>
                <a:gd name="connsiteX35" fmla="*/ 67396 w 91124"/>
                <a:gd name="connsiteY35" fmla="*/ 50838 h 94300"/>
                <a:gd name="connsiteX36" fmla="*/ 41744 w 91124"/>
                <a:gd name="connsiteY36" fmla="*/ 69833 h 94300"/>
                <a:gd name="connsiteX37" fmla="*/ 23202 w 91124"/>
                <a:gd name="connsiteY37" fmla="*/ 47440 h 94300"/>
                <a:gd name="connsiteX38" fmla="*/ 23518 w 91124"/>
                <a:gd name="connsiteY38" fmla="*/ 43549 h 94300"/>
                <a:gd name="connsiteX39" fmla="*/ 48862 w 91124"/>
                <a:gd name="connsiteY39" fmla="*/ 24242 h 94300"/>
                <a:gd name="connsiteX40" fmla="*/ 67659 w 91124"/>
                <a:gd name="connsiteY40" fmla="*/ 46947 h 9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91124" h="94300">
                  <a:moveTo>
                    <a:pt x="86126" y="42946"/>
                  </a:moveTo>
                  <a:cubicBezTo>
                    <a:pt x="80235" y="40284"/>
                    <a:pt x="77531" y="33151"/>
                    <a:pt x="80087" y="27015"/>
                  </a:cubicBezTo>
                  <a:cubicBezTo>
                    <a:pt x="80310" y="26479"/>
                    <a:pt x="80570" y="25961"/>
                    <a:pt x="80865" y="25464"/>
                  </a:cubicBezTo>
                  <a:cubicBezTo>
                    <a:pt x="83548" y="21737"/>
                    <a:pt x="82496" y="19545"/>
                    <a:pt x="80181" y="16585"/>
                  </a:cubicBezTo>
                  <a:cubicBezTo>
                    <a:pt x="78535" y="13661"/>
                    <a:pt x="74925" y="12680"/>
                    <a:pt x="72117" y="14395"/>
                  </a:cubicBezTo>
                  <a:cubicBezTo>
                    <a:pt x="71978" y="14480"/>
                    <a:pt x="71842" y="14571"/>
                    <a:pt x="71710" y="14667"/>
                  </a:cubicBezTo>
                  <a:cubicBezTo>
                    <a:pt x="65017" y="16731"/>
                    <a:pt x="57977" y="12795"/>
                    <a:pt x="55927" y="5844"/>
                  </a:cubicBezTo>
                  <a:cubicBezTo>
                    <a:pt x="55138" y="364"/>
                    <a:pt x="52191" y="364"/>
                    <a:pt x="48403" y="35"/>
                  </a:cubicBezTo>
                  <a:cubicBezTo>
                    <a:pt x="44615" y="-294"/>
                    <a:pt x="42879" y="1734"/>
                    <a:pt x="41827" y="5241"/>
                  </a:cubicBezTo>
                  <a:cubicBezTo>
                    <a:pt x="38740" y="9778"/>
                    <a:pt x="33695" y="12426"/>
                    <a:pt x="28358" y="12311"/>
                  </a:cubicBezTo>
                  <a:cubicBezTo>
                    <a:pt x="27060" y="11948"/>
                    <a:pt x="25832" y="11355"/>
                    <a:pt x="24728" y="10557"/>
                  </a:cubicBezTo>
                  <a:cubicBezTo>
                    <a:pt x="20993" y="6830"/>
                    <a:pt x="18415" y="9132"/>
                    <a:pt x="15416" y="11763"/>
                  </a:cubicBezTo>
                  <a:cubicBezTo>
                    <a:pt x="12417" y="14393"/>
                    <a:pt x="12575" y="16805"/>
                    <a:pt x="14206" y="20202"/>
                  </a:cubicBezTo>
                  <a:cubicBezTo>
                    <a:pt x="16144" y="27220"/>
                    <a:pt x="12294" y="34554"/>
                    <a:pt x="5578" y="36644"/>
                  </a:cubicBezTo>
                  <a:cubicBezTo>
                    <a:pt x="2884" y="36627"/>
                    <a:pt x="613" y="38732"/>
                    <a:pt x="316" y="41521"/>
                  </a:cubicBezTo>
                  <a:lnTo>
                    <a:pt x="1" y="45905"/>
                  </a:lnTo>
                  <a:cubicBezTo>
                    <a:pt x="-41" y="48585"/>
                    <a:pt x="1784" y="50904"/>
                    <a:pt x="4315" y="51386"/>
                  </a:cubicBezTo>
                  <a:cubicBezTo>
                    <a:pt x="10736" y="54445"/>
                    <a:pt x="13560" y="62348"/>
                    <a:pt x="10623" y="69036"/>
                  </a:cubicBezTo>
                  <a:cubicBezTo>
                    <a:pt x="10607" y="69071"/>
                    <a:pt x="10591" y="69107"/>
                    <a:pt x="10576" y="69142"/>
                  </a:cubicBezTo>
                  <a:cubicBezTo>
                    <a:pt x="8471" y="72211"/>
                    <a:pt x="7945" y="74623"/>
                    <a:pt x="10576" y="77637"/>
                  </a:cubicBezTo>
                  <a:cubicBezTo>
                    <a:pt x="13206" y="80651"/>
                    <a:pt x="15416" y="83117"/>
                    <a:pt x="19572" y="80322"/>
                  </a:cubicBezTo>
                  <a:cubicBezTo>
                    <a:pt x="20799" y="79692"/>
                    <a:pt x="22112" y="79267"/>
                    <a:pt x="23465" y="79062"/>
                  </a:cubicBezTo>
                  <a:cubicBezTo>
                    <a:pt x="28306" y="79500"/>
                    <a:pt x="35198" y="84542"/>
                    <a:pt x="35724" y="88159"/>
                  </a:cubicBezTo>
                  <a:cubicBezTo>
                    <a:pt x="36250" y="91776"/>
                    <a:pt x="37460" y="94133"/>
                    <a:pt x="41511" y="94242"/>
                  </a:cubicBezTo>
                  <a:cubicBezTo>
                    <a:pt x="45562" y="94352"/>
                    <a:pt x="48298" y="94790"/>
                    <a:pt x="49824" y="89694"/>
                  </a:cubicBezTo>
                  <a:cubicBezTo>
                    <a:pt x="52814" y="83097"/>
                    <a:pt x="60371" y="80276"/>
                    <a:pt x="66703" y="83390"/>
                  </a:cubicBezTo>
                  <a:cubicBezTo>
                    <a:pt x="66777" y="83426"/>
                    <a:pt x="66850" y="83463"/>
                    <a:pt x="66923" y="83501"/>
                  </a:cubicBezTo>
                  <a:cubicBezTo>
                    <a:pt x="69370" y="85826"/>
                    <a:pt x="73164" y="85643"/>
                    <a:pt x="75396" y="83094"/>
                  </a:cubicBezTo>
                  <a:cubicBezTo>
                    <a:pt x="75467" y="83012"/>
                    <a:pt x="75536" y="82929"/>
                    <a:pt x="75604" y="82843"/>
                  </a:cubicBezTo>
                  <a:cubicBezTo>
                    <a:pt x="78287" y="80267"/>
                    <a:pt x="79655" y="78240"/>
                    <a:pt x="77550" y="74184"/>
                  </a:cubicBezTo>
                  <a:cubicBezTo>
                    <a:pt x="75028" y="68033"/>
                    <a:pt x="77770" y="60916"/>
                    <a:pt x="83675" y="58288"/>
                  </a:cubicBezTo>
                  <a:cubicBezTo>
                    <a:pt x="84164" y="58071"/>
                    <a:pt x="84666" y="57889"/>
                    <a:pt x="85179" y="57743"/>
                  </a:cubicBezTo>
                  <a:cubicBezTo>
                    <a:pt x="88704" y="57085"/>
                    <a:pt x="90440" y="55551"/>
                    <a:pt x="90861" y="52865"/>
                  </a:cubicBezTo>
                  <a:lnTo>
                    <a:pt x="91124" y="48426"/>
                  </a:lnTo>
                  <a:cubicBezTo>
                    <a:pt x="90756" y="45851"/>
                    <a:pt x="89546" y="44097"/>
                    <a:pt x="86126" y="42946"/>
                  </a:cubicBezTo>
                  <a:close/>
                  <a:moveTo>
                    <a:pt x="67396" y="50838"/>
                  </a:moveTo>
                  <a:cubicBezTo>
                    <a:pt x="65348" y="63462"/>
                    <a:pt x="53863" y="71966"/>
                    <a:pt x="41744" y="69833"/>
                  </a:cubicBezTo>
                  <a:cubicBezTo>
                    <a:pt x="31202" y="67976"/>
                    <a:pt x="23417" y="58574"/>
                    <a:pt x="23202" y="47440"/>
                  </a:cubicBezTo>
                  <a:lnTo>
                    <a:pt x="23518" y="43549"/>
                  </a:lnTo>
                  <a:cubicBezTo>
                    <a:pt x="25398" y="30927"/>
                    <a:pt x="36745" y="22283"/>
                    <a:pt x="48862" y="24242"/>
                  </a:cubicBezTo>
                  <a:cubicBezTo>
                    <a:pt x="59626" y="25982"/>
                    <a:pt x="67589" y="35600"/>
                    <a:pt x="67659" y="46947"/>
                  </a:cubicBezTo>
                  <a:close/>
                </a:path>
              </a:pathLst>
            </a:custGeom>
            <a:solidFill>
              <a:schemeClr val="bg1"/>
            </a:solidFill>
            <a:ln w="11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b="0" i="0" dirty="0">
                <a:latin typeface="Calibri" panose="020F0502020204030204" pitchFamily="34" charset="0"/>
              </a:endParaRPr>
            </a:p>
          </p:txBody>
        </p:sp>
        <p:sp>
          <p:nvSpPr>
            <p:cNvPr id="57" name="Freihandform 56">
              <a:extLst>
                <a:ext uri="{FF2B5EF4-FFF2-40B4-BE49-F238E27FC236}">
                  <a16:creationId xmlns:a16="http://schemas.microsoft.com/office/drawing/2014/main" id="{403C558D-C5B0-6240-9BA8-CB5FC73F291F}"/>
                </a:ext>
              </a:extLst>
            </p:cNvPr>
            <p:cNvSpPr/>
            <p:nvPr/>
          </p:nvSpPr>
          <p:spPr>
            <a:xfrm>
              <a:off x="1366159" y="4008909"/>
              <a:ext cx="310747" cy="322959"/>
            </a:xfrm>
            <a:custGeom>
              <a:avLst/>
              <a:gdLst>
                <a:gd name="connsiteX0" fmla="*/ 309222 w 310747"/>
                <a:gd name="connsiteY0" fmla="*/ 132848 h 322959"/>
                <a:gd name="connsiteX1" fmla="*/ 289019 w 310747"/>
                <a:gd name="connsiteY1" fmla="*/ 117229 h 322959"/>
                <a:gd name="connsiteX2" fmla="*/ 259925 w 310747"/>
                <a:gd name="connsiteY2" fmla="*/ 62425 h 322959"/>
                <a:gd name="connsiteX3" fmla="*/ 251349 w 310747"/>
                <a:gd name="connsiteY3" fmla="*/ 32886 h 322959"/>
                <a:gd name="connsiteX4" fmla="*/ 221729 w 310747"/>
                <a:gd name="connsiteY4" fmla="*/ 32886 h 322959"/>
                <a:gd name="connsiteX5" fmla="*/ 162330 w 310747"/>
                <a:gd name="connsiteY5" fmla="*/ 15020 h 322959"/>
                <a:gd name="connsiteX6" fmla="*/ 133183 w 310747"/>
                <a:gd name="connsiteY6" fmla="*/ 716 h 322959"/>
                <a:gd name="connsiteX7" fmla="*/ 114559 w 310747"/>
                <a:gd name="connsiteY7" fmla="*/ 22638 h 322959"/>
                <a:gd name="connsiteX8" fmla="*/ 74153 w 310747"/>
                <a:gd name="connsiteY8" fmla="*/ 56068 h 322959"/>
                <a:gd name="connsiteX9" fmla="*/ 60737 w 310747"/>
                <a:gd name="connsiteY9" fmla="*/ 52670 h 322959"/>
                <a:gd name="connsiteX10" fmla="*/ 30328 w 310747"/>
                <a:gd name="connsiteY10" fmla="*/ 63631 h 322959"/>
                <a:gd name="connsiteX11" fmla="*/ 31906 w 310747"/>
                <a:gd name="connsiteY11" fmla="*/ 92786 h 322959"/>
                <a:gd name="connsiteX12" fmla="*/ 13913 w 310747"/>
                <a:gd name="connsiteY12" fmla="*/ 154715 h 322959"/>
                <a:gd name="connsiteX13" fmla="*/ 23 w 310747"/>
                <a:gd name="connsiteY13" fmla="*/ 174608 h 322959"/>
                <a:gd name="connsiteX14" fmla="*/ 1865 w 310747"/>
                <a:gd name="connsiteY14" fmla="*/ 189570 h 322959"/>
                <a:gd name="connsiteX15" fmla="*/ 20121 w 310747"/>
                <a:gd name="connsiteY15" fmla="*/ 205189 h 322959"/>
                <a:gd name="connsiteX16" fmla="*/ 52635 w 310747"/>
                <a:gd name="connsiteY16" fmla="*/ 259992 h 322959"/>
                <a:gd name="connsiteX17" fmla="*/ 58212 w 310747"/>
                <a:gd name="connsiteY17" fmla="*/ 288710 h 322959"/>
                <a:gd name="connsiteX18" fmla="*/ 90252 w 310747"/>
                <a:gd name="connsiteY18" fmla="*/ 291011 h 322959"/>
                <a:gd name="connsiteX19" fmla="*/ 102458 w 310747"/>
                <a:gd name="connsiteY19" fmla="*/ 284161 h 322959"/>
                <a:gd name="connsiteX20" fmla="*/ 149809 w 310747"/>
                <a:gd name="connsiteY20" fmla="*/ 306082 h 322959"/>
                <a:gd name="connsiteX21" fmla="*/ 173116 w 310747"/>
                <a:gd name="connsiteY21" fmla="*/ 322524 h 322959"/>
                <a:gd name="connsiteX22" fmla="*/ 197948 w 310747"/>
                <a:gd name="connsiteY22" fmla="*/ 301205 h 322959"/>
                <a:gd name="connsiteX23" fmla="*/ 215784 w 310747"/>
                <a:gd name="connsiteY23" fmla="*/ 274022 h 322959"/>
                <a:gd name="connsiteX24" fmla="*/ 226306 w 310747"/>
                <a:gd name="connsiteY24" fmla="*/ 268542 h 322959"/>
                <a:gd name="connsiteX25" fmla="*/ 250613 w 310747"/>
                <a:gd name="connsiteY25" fmla="*/ 267994 h 322959"/>
                <a:gd name="connsiteX26" fmla="*/ 279286 w 310747"/>
                <a:gd name="connsiteY26" fmla="*/ 259718 h 322959"/>
                <a:gd name="connsiteX27" fmla="*/ 280233 w 310747"/>
                <a:gd name="connsiteY27" fmla="*/ 229302 h 322959"/>
                <a:gd name="connsiteX28" fmla="*/ 294964 w 310747"/>
                <a:gd name="connsiteY28" fmla="*/ 168525 h 322959"/>
                <a:gd name="connsiteX29" fmla="*/ 310748 w 310747"/>
                <a:gd name="connsiteY29" fmla="*/ 148083 h 322959"/>
                <a:gd name="connsiteX30" fmla="*/ 155859 w 310747"/>
                <a:gd name="connsiteY30" fmla="*/ 250237 h 322959"/>
                <a:gd name="connsiteX31" fmla="*/ 70470 w 310747"/>
                <a:gd name="connsiteY31" fmla="*/ 161291 h 322959"/>
                <a:gd name="connsiteX32" fmla="*/ 155859 w 310747"/>
                <a:gd name="connsiteY32" fmla="*/ 72345 h 322959"/>
                <a:gd name="connsiteX33" fmla="*/ 241248 w 310747"/>
                <a:gd name="connsiteY33" fmla="*/ 161291 h 322959"/>
                <a:gd name="connsiteX34" fmla="*/ 155859 w 310747"/>
                <a:gd name="connsiteY34" fmla="*/ 250237 h 322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10747" h="322959">
                  <a:moveTo>
                    <a:pt x="309222" y="132848"/>
                  </a:moveTo>
                  <a:cubicBezTo>
                    <a:pt x="306539" y="123531"/>
                    <a:pt x="301172" y="118654"/>
                    <a:pt x="289019" y="117229"/>
                  </a:cubicBezTo>
                  <a:cubicBezTo>
                    <a:pt x="266554" y="114434"/>
                    <a:pt x="250349" y="83963"/>
                    <a:pt x="259925" y="62425"/>
                  </a:cubicBezTo>
                  <a:cubicBezTo>
                    <a:pt x="266133" y="48067"/>
                    <a:pt x="261030" y="41381"/>
                    <a:pt x="251349" y="32886"/>
                  </a:cubicBezTo>
                  <a:cubicBezTo>
                    <a:pt x="241669" y="24391"/>
                    <a:pt x="232672" y="23624"/>
                    <a:pt x="221729" y="32886"/>
                  </a:cubicBezTo>
                  <a:cubicBezTo>
                    <a:pt x="205419" y="46423"/>
                    <a:pt x="170064" y="36503"/>
                    <a:pt x="162330" y="15020"/>
                  </a:cubicBezTo>
                  <a:cubicBezTo>
                    <a:pt x="156227" y="-2408"/>
                    <a:pt x="146126" y="-435"/>
                    <a:pt x="133183" y="716"/>
                  </a:cubicBezTo>
                  <a:cubicBezTo>
                    <a:pt x="119294" y="2032"/>
                    <a:pt x="115822" y="10307"/>
                    <a:pt x="114559" y="22638"/>
                  </a:cubicBezTo>
                  <a:cubicBezTo>
                    <a:pt x="113296" y="34969"/>
                    <a:pt x="90621" y="53766"/>
                    <a:pt x="74153" y="56068"/>
                  </a:cubicBezTo>
                  <a:cubicBezTo>
                    <a:pt x="69523" y="55774"/>
                    <a:pt x="64980" y="54623"/>
                    <a:pt x="60737" y="52670"/>
                  </a:cubicBezTo>
                  <a:cubicBezTo>
                    <a:pt x="45848" y="42915"/>
                    <a:pt x="38693" y="52670"/>
                    <a:pt x="30328" y="63631"/>
                  </a:cubicBezTo>
                  <a:cubicBezTo>
                    <a:pt x="21962" y="74592"/>
                    <a:pt x="24067" y="82757"/>
                    <a:pt x="31906" y="92786"/>
                  </a:cubicBezTo>
                  <a:cubicBezTo>
                    <a:pt x="44638" y="109228"/>
                    <a:pt x="34379" y="147590"/>
                    <a:pt x="13913" y="154715"/>
                  </a:cubicBezTo>
                  <a:cubicBezTo>
                    <a:pt x="1549" y="159044"/>
                    <a:pt x="-240" y="165675"/>
                    <a:pt x="23" y="174608"/>
                  </a:cubicBezTo>
                  <a:lnTo>
                    <a:pt x="1865" y="189570"/>
                  </a:lnTo>
                  <a:cubicBezTo>
                    <a:pt x="3706" y="198010"/>
                    <a:pt x="7126" y="204257"/>
                    <a:pt x="20121" y="205189"/>
                  </a:cubicBezTo>
                  <a:cubicBezTo>
                    <a:pt x="41692" y="206833"/>
                    <a:pt x="61000" y="240976"/>
                    <a:pt x="52635" y="259992"/>
                  </a:cubicBezTo>
                  <a:cubicBezTo>
                    <a:pt x="47374" y="271830"/>
                    <a:pt x="47374" y="280379"/>
                    <a:pt x="58212" y="288710"/>
                  </a:cubicBezTo>
                  <a:cubicBezTo>
                    <a:pt x="69050" y="297040"/>
                    <a:pt x="78204" y="304438"/>
                    <a:pt x="90252" y="291011"/>
                  </a:cubicBezTo>
                  <a:cubicBezTo>
                    <a:pt x="93906" y="288004"/>
                    <a:pt x="98037" y="285686"/>
                    <a:pt x="102458" y="284161"/>
                  </a:cubicBezTo>
                  <a:cubicBezTo>
                    <a:pt x="118926" y="282078"/>
                    <a:pt x="145337" y="294354"/>
                    <a:pt x="149809" y="306082"/>
                  </a:cubicBezTo>
                  <a:cubicBezTo>
                    <a:pt x="154281" y="317810"/>
                    <a:pt x="159437" y="324825"/>
                    <a:pt x="173116" y="322524"/>
                  </a:cubicBezTo>
                  <a:cubicBezTo>
                    <a:pt x="185953" y="320222"/>
                    <a:pt x="196212" y="319509"/>
                    <a:pt x="197948" y="301205"/>
                  </a:cubicBezTo>
                  <a:cubicBezTo>
                    <a:pt x="199739" y="289841"/>
                    <a:pt x="206270" y="279887"/>
                    <a:pt x="215784" y="274022"/>
                  </a:cubicBezTo>
                  <a:cubicBezTo>
                    <a:pt x="219071" y="271770"/>
                    <a:pt x="222604" y="269931"/>
                    <a:pt x="226306" y="268542"/>
                  </a:cubicBezTo>
                  <a:cubicBezTo>
                    <a:pt x="234051" y="265170"/>
                    <a:pt x="242734" y="264974"/>
                    <a:pt x="250613" y="267994"/>
                  </a:cubicBezTo>
                  <a:cubicBezTo>
                    <a:pt x="263450" y="273913"/>
                    <a:pt x="271394" y="271063"/>
                    <a:pt x="279286" y="259718"/>
                  </a:cubicBezTo>
                  <a:cubicBezTo>
                    <a:pt x="287178" y="248374"/>
                    <a:pt x="289808" y="241414"/>
                    <a:pt x="280233" y="229302"/>
                  </a:cubicBezTo>
                  <a:cubicBezTo>
                    <a:pt x="265712" y="210943"/>
                    <a:pt x="273919" y="177129"/>
                    <a:pt x="294964" y="168525"/>
                  </a:cubicBezTo>
                  <a:cubicBezTo>
                    <a:pt x="306381" y="163922"/>
                    <a:pt x="310327" y="157564"/>
                    <a:pt x="310748" y="148083"/>
                  </a:cubicBezTo>
                  <a:close/>
                  <a:moveTo>
                    <a:pt x="155859" y="250237"/>
                  </a:moveTo>
                  <a:cubicBezTo>
                    <a:pt x="108700" y="250237"/>
                    <a:pt x="70470" y="210415"/>
                    <a:pt x="70470" y="161291"/>
                  </a:cubicBezTo>
                  <a:cubicBezTo>
                    <a:pt x="70470" y="112167"/>
                    <a:pt x="108700" y="72345"/>
                    <a:pt x="155859" y="72345"/>
                  </a:cubicBezTo>
                  <a:cubicBezTo>
                    <a:pt x="203018" y="72345"/>
                    <a:pt x="241248" y="112167"/>
                    <a:pt x="241248" y="161291"/>
                  </a:cubicBezTo>
                  <a:cubicBezTo>
                    <a:pt x="241190" y="210390"/>
                    <a:pt x="202994" y="250177"/>
                    <a:pt x="155859" y="250237"/>
                  </a:cubicBezTo>
                  <a:close/>
                </a:path>
              </a:pathLst>
            </a:custGeom>
            <a:noFill/>
            <a:ln w="1143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 b="0" i="0" dirty="0">
                <a:latin typeface="Calibri" panose="020F0502020204030204" pitchFamily="34" charset="0"/>
              </a:endParaRPr>
            </a:p>
          </p:txBody>
        </p:sp>
      </p:grpSp>
      <p:sp>
        <p:nvSpPr>
          <p:cNvPr id="61" name="Textplatzhalter 2">
            <a:extLst>
              <a:ext uri="{FF2B5EF4-FFF2-40B4-BE49-F238E27FC236}">
                <a16:creationId xmlns:a16="http://schemas.microsoft.com/office/drawing/2014/main" id="{AB9C794F-0BDA-0140-A69C-49345ACAD18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74000" y="918000"/>
            <a:ext cx="8858249" cy="37164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 i="0">
                <a:latin typeface="Calibri" panose="020F0502020204030204" pitchFamily="34" charset="0"/>
              </a:defRPr>
            </a:lvl1pPr>
            <a:lvl2pPr marL="457200" marR="0" indent="0" algn="l" defTabSz="55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de-DE" sz="100" b="0" i="0">
                <a:effectLst/>
                <a:latin typeface="Calibri" panose="020F0502020204030204" pitchFamily="34" charset="0"/>
              </a:defRPr>
            </a:lvl2pPr>
            <a:lvl3pPr marL="914400" indent="0" defTabSz="720000">
              <a:lnSpc>
                <a:spcPts val="2000"/>
              </a:lnSpc>
              <a:spcBef>
                <a:spcPts val="300"/>
              </a:spcBef>
              <a:spcAft>
                <a:spcPts val="0"/>
              </a:spcAft>
              <a:buClr>
                <a:schemeClr val="tx1"/>
              </a:buClr>
              <a:buSzPct val="130000"/>
              <a:buFont typeface="Arial" panose="020B0604020202020204" pitchFamily="34" charset="0"/>
              <a:buNone/>
              <a:defRPr sz="9100" b="0" i="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800000" indent="-285750" defTabSz="720000">
              <a:lnSpc>
                <a:spcPts val="2000"/>
              </a:lnSpc>
              <a:spcBef>
                <a:spcPts val="3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30000"/>
              <a:buFont typeface="Arial" panose="020B0604020202020204" pitchFamily="34" charset="0"/>
              <a:buChar char="•"/>
              <a:defRPr sz="100"/>
            </a:lvl4pPr>
            <a:lvl5pPr marL="1771650" indent="0" defTabSz="720000">
              <a:lnSpc>
                <a:spcPts val="2000"/>
              </a:lnSpc>
              <a:spcBef>
                <a:spcPts val="300"/>
              </a:spcBef>
              <a:spcAft>
                <a:spcPts val="0"/>
              </a:spcAft>
              <a:buFontTx/>
              <a:buNone/>
              <a:defRPr sz="9100" b="0" i="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286000" indent="0">
              <a:buNone/>
              <a:defRPr sz="100"/>
            </a:lvl6pPr>
          </a:lstStyle>
          <a:p>
            <a:pPr lvl="0"/>
            <a:r>
              <a:rPr lang="de-DE" dirty="0"/>
              <a:t>Zwischenüberschrift (dreispaltiger Aufbau/Folgefolie)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2000" b="0" i="0" kern="1200" dirty="0">
              <a:solidFill>
                <a:schemeClr val="tx1"/>
              </a:solidFill>
              <a:effectLst/>
              <a:latin typeface="InfoOTText" panose="02000506030000020004" pitchFamily="2" charset="77"/>
              <a:ea typeface="+mn-ea"/>
              <a:cs typeface="+mn-cs"/>
            </a:endParaRPr>
          </a:p>
          <a:p>
            <a:pPr marL="2057400" lvl="4" indent="-285750">
              <a:buClr>
                <a:schemeClr val="bg1">
                  <a:lumMod val="50000"/>
                </a:schemeClr>
              </a:buClr>
              <a:buSzPct val="130000"/>
              <a:buFont typeface="Arial" panose="020B0604020202020204" pitchFamily="34" charset="0"/>
              <a:buChar char="•"/>
            </a:pPr>
            <a:endParaRPr lang="de-DE" sz="1600" b="0" i="0" dirty="0">
              <a:solidFill>
                <a:schemeClr val="tx1">
                  <a:lumMod val="50000"/>
                  <a:lumOff val="50000"/>
                </a:schemeClr>
              </a:solidFill>
              <a:latin typeface="InfoOTText" panose="02000506030000020004" pitchFamily="2" charset="77"/>
            </a:endParaRPr>
          </a:p>
          <a:p>
            <a:pPr marL="2057400" lvl="4" indent="-285750">
              <a:buClr>
                <a:schemeClr val="bg1">
                  <a:lumMod val="50000"/>
                </a:schemeClr>
              </a:buClr>
              <a:buSzPct val="130000"/>
              <a:buFont typeface="Arial" panose="020B0604020202020204" pitchFamily="34" charset="0"/>
              <a:buChar char="•"/>
            </a:pPr>
            <a:endParaRPr lang="de-DE" sz="1600" b="0" i="0" dirty="0">
              <a:solidFill>
                <a:schemeClr val="tx1">
                  <a:lumMod val="50000"/>
                  <a:lumOff val="50000"/>
                </a:schemeClr>
              </a:solidFill>
              <a:latin typeface="InfoOTText" panose="02000506030000020004" pitchFamily="2" charset="77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2000" b="0" i="0" kern="1200" dirty="0">
              <a:solidFill>
                <a:schemeClr val="tx1"/>
              </a:solidFill>
              <a:effectLst/>
              <a:latin typeface="InfoOTText" panose="02000506030000020004" pitchFamily="2" charset="77"/>
              <a:ea typeface="+mn-ea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2000" b="0" i="0" kern="1200" dirty="0">
              <a:solidFill>
                <a:schemeClr val="tx1"/>
              </a:solidFill>
              <a:effectLst/>
              <a:latin typeface="InfoOTText" panose="02000506030000020004" pitchFamily="2" charset="77"/>
              <a:ea typeface="+mn-ea"/>
              <a:cs typeface="+mn-cs"/>
            </a:endParaRPr>
          </a:p>
          <a:p>
            <a:pPr marL="154305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2000" b="0" i="0" kern="1200" dirty="0">
              <a:solidFill>
                <a:schemeClr val="tx1"/>
              </a:solidFill>
              <a:effectLst/>
              <a:latin typeface="InfoOTText" panose="02000506030000020004" pitchFamily="2" charset="77"/>
              <a:ea typeface="+mn-ea"/>
              <a:cs typeface="+mn-cs"/>
            </a:endParaRPr>
          </a:p>
        </p:txBody>
      </p:sp>
      <p:sp>
        <p:nvSpPr>
          <p:cNvPr id="62" name="Textplatzhalter 4">
            <a:extLst>
              <a:ext uri="{FF2B5EF4-FFF2-40B4-BE49-F238E27FC236}">
                <a16:creationId xmlns:a16="http://schemas.microsoft.com/office/drawing/2014/main" id="{43C26D7A-E226-314C-B9EF-D418DB26826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70558" y="5598089"/>
            <a:ext cx="3457576" cy="514350"/>
          </a:xfrm>
          <a:prstGeom prst="rect">
            <a:avLst/>
          </a:prstGeom>
        </p:spPr>
        <p:txBody>
          <a:bodyPr lIns="0"/>
          <a:lstStyle>
            <a:lvl1pPr marL="0" indent="0">
              <a:buFontTx/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 dirty="0"/>
              <a:t>Quelle:</a:t>
            </a:r>
          </a:p>
        </p:txBody>
      </p:sp>
      <p:sp>
        <p:nvSpPr>
          <p:cNvPr id="63" name="Textplatzhalter 4">
            <a:extLst>
              <a:ext uri="{FF2B5EF4-FFF2-40B4-BE49-F238E27FC236}">
                <a16:creationId xmlns:a16="http://schemas.microsoft.com/office/drawing/2014/main" id="{2F347462-D419-F44D-B59B-8029A8C2C4E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367213" y="5591349"/>
            <a:ext cx="3457576" cy="514350"/>
          </a:xfrm>
          <a:prstGeom prst="rect">
            <a:avLst/>
          </a:prstGeom>
        </p:spPr>
        <p:txBody>
          <a:bodyPr lIns="0"/>
          <a:lstStyle>
            <a:lvl1pPr marL="0" indent="0">
              <a:buFontTx/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 dirty="0"/>
              <a:t>Quelle:</a:t>
            </a:r>
          </a:p>
        </p:txBody>
      </p:sp>
      <p:sp>
        <p:nvSpPr>
          <p:cNvPr id="64" name="Textplatzhalter 4">
            <a:extLst>
              <a:ext uri="{FF2B5EF4-FFF2-40B4-BE49-F238E27FC236}">
                <a16:creationId xmlns:a16="http://schemas.microsoft.com/office/drawing/2014/main" id="{7F11E9F2-5638-7742-93D3-0444F18C200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974278" y="5600573"/>
            <a:ext cx="3457576" cy="514350"/>
          </a:xfrm>
          <a:prstGeom prst="rect">
            <a:avLst/>
          </a:prstGeom>
        </p:spPr>
        <p:txBody>
          <a:bodyPr lIns="0"/>
          <a:lstStyle>
            <a:lvl1pPr marL="0" indent="0">
              <a:buFontTx/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 dirty="0"/>
              <a:t>Quelle:</a:t>
            </a:r>
          </a:p>
        </p:txBody>
      </p:sp>
      <p:sp>
        <p:nvSpPr>
          <p:cNvPr id="45" name="Foliennummernplatzhalter 5">
            <a:extLst>
              <a:ext uri="{FF2B5EF4-FFF2-40B4-BE49-F238E27FC236}">
                <a16:creationId xmlns:a16="http://schemas.microsoft.com/office/drawing/2014/main" id="{5BB73465-DD0E-4349-93E7-709EB5C18B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81349" y="6397467"/>
            <a:ext cx="1649666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solidFill>
                  <a:srgbClr val="10A1D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de-DE" dirty="0"/>
              <a:t> </a:t>
            </a:r>
            <a:r>
              <a:rPr lang="de-DE" sz="1400" dirty="0"/>
              <a:t>Seite </a:t>
            </a:r>
            <a:fld id="{1009E830-1A31-2046-A084-D1E9F200294C}" type="slidenum">
              <a:rPr lang="de-DE" sz="1400" smtClean="0"/>
              <a:pPr/>
              <a:t>‹#›</a:t>
            </a:fld>
            <a:endParaRPr lang="de-DE" sz="1400" dirty="0"/>
          </a:p>
        </p:txBody>
      </p:sp>
      <p:sp>
        <p:nvSpPr>
          <p:cNvPr id="58" name="Datumsplatzhalter 2">
            <a:extLst>
              <a:ext uri="{FF2B5EF4-FFF2-40B4-BE49-F238E27FC236}">
                <a16:creationId xmlns:a16="http://schemas.microsoft.com/office/drawing/2014/main" id="{CFF37926-62FE-F34C-9D71-C112C66BEC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4447" y="6397467"/>
            <a:ext cx="1649666" cy="365125"/>
          </a:xfrm>
          <a:prstGeom prst="rect">
            <a:avLst/>
          </a:prstGeom>
        </p:spPr>
        <p:txBody>
          <a:bodyPr lIns="0" rIns="0"/>
          <a:lstStyle>
            <a:lvl1pPr>
              <a:defRPr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CFB5D027-3485-BE4C-BD63-3F1B6744C9B7}" type="datetime1">
              <a:rPr lang="de-DE" sz="1400" smtClean="0"/>
              <a:t>24.06.2024</a:t>
            </a:fld>
            <a:endParaRPr lang="de-DE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" name="Fußzeilenplatzhalter 3">
            <a:extLst>
              <a:ext uri="{FF2B5EF4-FFF2-40B4-BE49-F238E27FC236}">
                <a16:creationId xmlns:a16="http://schemas.microsoft.com/office/drawing/2014/main" id="{F0998C25-F98E-5143-8157-3E7A8E7833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76352" y="6397467"/>
            <a:ext cx="5248435" cy="365125"/>
          </a:xfrm>
          <a:prstGeom prst="rect">
            <a:avLst/>
          </a:prstGeom>
        </p:spPr>
        <p:txBody>
          <a:bodyPr lIns="0" rIns="0"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r>
              <a:rPr lang="de-DE">
                <a:latin typeface="Calibri" panose="020F0502020204030204" pitchFamily="34" charset="0"/>
                <a:cs typeface="Calibri" panose="020F0502020204030204" pitchFamily="34" charset="0"/>
              </a:rPr>
              <a:t>Bitte Fußzeile definieren</a:t>
            </a:r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7227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_Folge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rafik 31">
            <a:extLst>
              <a:ext uri="{FF2B5EF4-FFF2-40B4-BE49-F238E27FC236}">
                <a16:creationId xmlns:a16="http://schemas.microsoft.com/office/drawing/2014/main" id="{4A31EA58-2ED9-0D42-B6FE-6647C07FCF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4861685" y="3933737"/>
            <a:ext cx="352988" cy="475766"/>
          </a:xfrm>
          <a:prstGeom prst="rect">
            <a:avLst/>
          </a:prstGeom>
        </p:spPr>
      </p:pic>
      <p:pic>
        <p:nvPicPr>
          <p:cNvPr id="33" name="Grafik 32">
            <a:extLst>
              <a:ext uri="{FF2B5EF4-FFF2-40B4-BE49-F238E27FC236}">
                <a16:creationId xmlns:a16="http://schemas.microsoft.com/office/drawing/2014/main" id="{1F83C332-50A6-0242-B70D-B1EC2B7B28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5639366" y="3922643"/>
            <a:ext cx="352988" cy="475766"/>
          </a:xfrm>
          <a:prstGeom prst="rect">
            <a:avLst/>
          </a:prstGeom>
        </p:spPr>
      </p:pic>
      <p:pic>
        <p:nvPicPr>
          <p:cNvPr id="34" name="Grafik 33">
            <a:extLst>
              <a:ext uri="{FF2B5EF4-FFF2-40B4-BE49-F238E27FC236}">
                <a16:creationId xmlns:a16="http://schemas.microsoft.com/office/drawing/2014/main" id="{5ADD662B-6F8A-6B4A-BD46-B8DF6D76A1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6417047" y="3922643"/>
            <a:ext cx="352988" cy="475766"/>
          </a:xfrm>
          <a:prstGeom prst="rect">
            <a:avLst/>
          </a:prstGeom>
        </p:spPr>
      </p:pic>
      <p:pic>
        <p:nvPicPr>
          <p:cNvPr id="35" name="Grafik 34">
            <a:extLst>
              <a:ext uri="{FF2B5EF4-FFF2-40B4-BE49-F238E27FC236}">
                <a16:creationId xmlns:a16="http://schemas.microsoft.com/office/drawing/2014/main" id="{1314C85A-5A9F-7041-9C2E-BB065DFECE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7122649" y="3922240"/>
            <a:ext cx="352988" cy="475766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5D489F43-A498-EB49-BC7F-D2C7EBBE0AD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 flipH="1">
            <a:off x="8422205" y="3963083"/>
            <a:ext cx="423043" cy="415873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72FE717C-5D60-F94B-9506-2BAAD0C5D28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 flipH="1">
            <a:off x="9201970" y="3988542"/>
            <a:ext cx="423043" cy="415873"/>
          </a:xfrm>
          <a:prstGeom prst="rect">
            <a:avLst/>
          </a:prstGeom>
        </p:spPr>
      </p:pic>
      <p:pic>
        <p:nvPicPr>
          <p:cNvPr id="38" name="Grafik 37">
            <a:extLst>
              <a:ext uri="{FF2B5EF4-FFF2-40B4-BE49-F238E27FC236}">
                <a16:creationId xmlns:a16="http://schemas.microsoft.com/office/drawing/2014/main" id="{8F173759-4709-E44F-99FE-FCB710FEF76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 flipH="1">
            <a:off x="9936689" y="3988542"/>
            <a:ext cx="423043" cy="415873"/>
          </a:xfrm>
          <a:prstGeom prst="rect">
            <a:avLst/>
          </a:prstGeom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EEEB8EB9-B66F-C54B-B161-3CACB7B9A73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 flipH="1">
            <a:off x="10696946" y="3974580"/>
            <a:ext cx="423043" cy="415873"/>
          </a:xfrm>
          <a:prstGeom prst="rect">
            <a:avLst/>
          </a:prstGeom>
        </p:spPr>
      </p:pic>
      <p:sp>
        <p:nvSpPr>
          <p:cNvPr id="28" name="Title 1">
            <a:extLst>
              <a:ext uri="{FF2B5EF4-FFF2-40B4-BE49-F238E27FC236}">
                <a16:creationId xmlns:a16="http://schemas.microsoft.com/office/drawing/2014/main" id="{17DD8DB5-49E9-0C4C-8764-9192253494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6762" y="230191"/>
            <a:ext cx="8854613" cy="232648"/>
          </a:xfrm>
          <a:prstGeom prst="rect">
            <a:avLst/>
          </a:prstGeom>
        </p:spPr>
        <p:txBody>
          <a:bodyPr vert="horz" lIns="0" tIns="0" rIns="0" bIns="0" anchor="t" anchorCtr="0">
            <a:noAutofit/>
          </a:bodyPr>
          <a:lstStyle>
            <a:lvl1pPr marL="0" indent="0" algn="l">
              <a:tabLst/>
              <a:defRPr sz="1400" b="1" i="0" cap="all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KAPITELÜBERSCHRIFT</a:t>
            </a:r>
            <a:endParaRPr lang="en-US" dirty="0"/>
          </a:p>
        </p:txBody>
      </p:sp>
      <p:cxnSp>
        <p:nvCxnSpPr>
          <p:cNvPr id="40" name="Gerade Verbindung 39">
            <a:extLst>
              <a:ext uri="{FF2B5EF4-FFF2-40B4-BE49-F238E27FC236}">
                <a16:creationId xmlns:a16="http://schemas.microsoft.com/office/drawing/2014/main" id="{B33CE7AB-B76C-5C41-B745-4A0DB7110FAA}"/>
              </a:ext>
            </a:extLst>
          </p:cNvPr>
          <p:cNvCxnSpPr>
            <a:cxnSpLocks/>
          </p:cNvCxnSpPr>
          <p:nvPr userDrawn="1"/>
        </p:nvCxnSpPr>
        <p:spPr>
          <a:xfrm>
            <a:off x="763124" y="547687"/>
            <a:ext cx="885825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afik 44">
            <a:extLst>
              <a:ext uri="{FF2B5EF4-FFF2-40B4-BE49-F238E27FC236}">
                <a16:creationId xmlns:a16="http://schemas.microsoft.com/office/drawing/2014/main" id="{13A25E51-7C5D-6748-BC05-004EB5EF7E41}"/>
              </a:ext>
            </a:extLst>
          </p:cNvPr>
          <p:cNvGrpSpPr/>
          <p:nvPr/>
        </p:nvGrpSpPr>
        <p:grpSpPr>
          <a:xfrm>
            <a:off x="1228148" y="4008909"/>
            <a:ext cx="448758" cy="406979"/>
            <a:chOff x="1228148" y="4008909"/>
            <a:chExt cx="448758" cy="406979"/>
          </a:xfrm>
        </p:grpSpPr>
        <p:sp>
          <p:nvSpPr>
            <p:cNvPr id="4" name="Freihandform 3">
              <a:extLst>
                <a:ext uri="{FF2B5EF4-FFF2-40B4-BE49-F238E27FC236}">
                  <a16:creationId xmlns:a16="http://schemas.microsoft.com/office/drawing/2014/main" id="{D4FF3BAF-D14E-7E4C-8748-8288D20523CE}"/>
                </a:ext>
              </a:extLst>
            </p:cNvPr>
            <p:cNvSpPr/>
            <p:nvPr/>
          </p:nvSpPr>
          <p:spPr>
            <a:xfrm>
              <a:off x="1228148" y="4219901"/>
              <a:ext cx="180018" cy="186620"/>
            </a:xfrm>
            <a:custGeom>
              <a:avLst/>
              <a:gdLst>
                <a:gd name="connsiteX0" fmla="*/ 170390 w 180018"/>
                <a:gd name="connsiteY0" fmla="*/ 84952 h 186620"/>
                <a:gd name="connsiteX1" fmla="*/ 158237 w 180018"/>
                <a:gd name="connsiteY1" fmla="*/ 53705 h 186620"/>
                <a:gd name="connsiteX2" fmla="*/ 159868 w 180018"/>
                <a:gd name="connsiteY2" fmla="*/ 50426 h 186620"/>
                <a:gd name="connsiteX3" fmla="*/ 158395 w 180018"/>
                <a:gd name="connsiteY3" fmla="*/ 32943 h 186620"/>
                <a:gd name="connsiteX4" fmla="*/ 142496 w 180018"/>
                <a:gd name="connsiteY4" fmla="*/ 28572 h 186620"/>
                <a:gd name="connsiteX5" fmla="*/ 142085 w 180018"/>
                <a:gd name="connsiteY5" fmla="*/ 28833 h 186620"/>
                <a:gd name="connsiteX6" fmla="*/ 110518 w 180018"/>
                <a:gd name="connsiteY6" fmla="*/ 11570 h 186620"/>
                <a:gd name="connsiteX7" fmla="*/ 95577 w 180018"/>
                <a:gd name="connsiteY7" fmla="*/ 116 h 186620"/>
                <a:gd name="connsiteX8" fmla="*/ 82634 w 180018"/>
                <a:gd name="connsiteY8" fmla="*/ 10255 h 186620"/>
                <a:gd name="connsiteX9" fmla="*/ 56328 w 180018"/>
                <a:gd name="connsiteY9" fmla="*/ 24284 h 186620"/>
                <a:gd name="connsiteX10" fmla="*/ 49068 w 180018"/>
                <a:gd name="connsiteY10" fmla="*/ 20722 h 186620"/>
                <a:gd name="connsiteX11" fmla="*/ 30759 w 180018"/>
                <a:gd name="connsiteY11" fmla="*/ 23134 h 186620"/>
                <a:gd name="connsiteX12" fmla="*/ 28392 w 180018"/>
                <a:gd name="connsiteY12" fmla="*/ 39849 h 186620"/>
                <a:gd name="connsiteX13" fmla="*/ 11293 w 180018"/>
                <a:gd name="connsiteY13" fmla="*/ 72731 h 186620"/>
                <a:gd name="connsiteX14" fmla="*/ 1244 w 180018"/>
                <a:gd name="connsiteY14" fmla="*/ 82322 h 186620"/>
                <a:gd name="connsiteX15" fmla="*/ 34 w 180018"/>
                <a:gd name="connsiteY15" fmla="*/ 90926 h 186620"/>
                <a:gd name="connsiteX16" fmla="*/ 8610 w 180018"/>
                <a:gd name="connsiteY16" fmla="*/ 101886 h 186620"/>
                <a:gd name="connsiteX17" fmla="*/ 20921 w 180018"/>
                <a:gd name="connsiteY17" fmla="*/ 136906 h 186620"/>
                <a:gd name="connsiteX18" fmla="*/ 20921 w 180018"/>
                <a:gd name="connsiteY18" fmla="*/ 153840 h 186620"/>
                <a:gd name="connsiteX19" fmla="*/ 38809 w 180018"/>
                <a:gd name="connsiteY19" fmla="*/ 158937 h 186620"/>
                <a:gd name="connsiteX20" fmla="*/ 46437 w 180018"/>
                <a:gd name="connsiteY20" fmla="*/ 156526 h 186620"/>
                <a:gd name="connsiteX21" fmla="*/ 70691 w 180018"/>
                <a:gd name="connsiteY21" fmla="*/ 174501 h 186620"/>
                <a:gd name="connsiteX22" fmla="*/ 82108 w 180018"/>
                <a:gd name="connsiteY22" fmla="*/ 186503 h 186620"/>
                <a:gd name="connsiteX23" fmla="*/ 98470 w 180018"/>
                <a:gd name="connsiteY23" fmla="*/ 177461 h 186620"/>
                <a:gd name="connsiteX24" fmla="*/ 132194 w 180018"/>
                <a:gd name="connsiteY24" fmla="*/ 165185 h 186620"/>
                <a:gd name="connsiteX25" fmla="*/ 148705 w 180018"/>
                <a:gd name="connsiteY25" fmla="*/ 164680 h 186620"/>
                <a:gd name="connsiteX26" fmla="*/ 149293 w 180018"/>
                <a:gd name="connsiteY26" fmla="*/ 163979 h 186620"/>
                <a:gd name="connsiteX27" fmla="*/ 153186 w 180018"/>
                <a:gd name="connsiteY27" fmla="*/ 146880 h 186620"/>
                <a:gd name="connsiteX28" fmla="*/ 165139 w 180018"/>
                <a:gd name="connsiteY28" fmla="*/ 115549 h 186620"/>
                <a:gd name="connsiteX29" fmla="*/ 168391 w 180018"/>
                <a:gd name="connsiteY29" fmla="*/ 114382 h 186620"/>
                <a:gd name="connsiteX30" fmla="*/ 179439 w 180018"/>
                <a:gd name="connsiteY30" fmla="*/ 104681 h 186620"/>
                <a:gd name="connsiteX31" fmla="*/ 180018 w 180018"/>
                <a:gd name="connsiteY31" fmla="*/ 95913 h 186620"/>
                <a:gd name="connsiteX32" fmla="*/ 170390 w 180018"/>
                <a:gd name="connsiteY32" fmla="*/ 84952 h 186620"/>
                <a:gd name="connsiteX33" fmla="*/ 133562 w 180018"/>
                <a:gd name="connsiteY33" fmla="*/ 100516 h 186620"/>
                <a:gd name="connsiteX34" fmla="*/ 84998 w 180018"/>
                <a:gd name="connsiteY34" fmla="*/ 140753 h 186620"/>
                <a:gd name="connsiteX35" fmla="*/ 46122 w 180018"/>
                <a:gd name="connsiteY35" fmla="*/ 93556 h 186620"/>
                <a:gd name="connsiteX36" fmla="*/ 46700 w 180018"/>
                <a:gd name="connsiteY36" fmla="*/ 86377 h 186620"/>
                <a:gd name="connsiteX37" fmla="*/ 96819 w 180018"/>
                <a:gd name="connsiteY37" fmla="*/ 48265 h 186620"/>
                <a:gd name="connsiteX38" fmla="*/ 133930 w 180018"/>
                <a:gd name="connsiteY38" fmla="*/ 93063 h 186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80018" h="186620">
                  <a:moveTo>
                    <a:pt x="170390" y="84952"/>
                  </a:moveTo>
                  <a:cubicBezTo>
                    <a:pt x="158750" y="79819"/>
                    <a:pt x="153309" y="65829"/>
                    <a:pt x="158237" y="53705"/>
                  </a:cubicBezTo>
                  <a:cubicBezTo>
                    <a:pt x="158698" y="52570"/>
                    <a:pt x="159244" y="51473"/>
                    <a:pt x="159868" y="50426"/>
                  </a:cubicBezTo>
                  <a:cubicBezTo>
                    <a:pt x="165129" y="43082"/>
                    <a:pt x="162972" y="38753"/>
                    <a:pt x="158395" y="32943"/>
                  </a:cubicBezTo>
                  <a:cubicBezTo>
                    <a:pt x="155163" y="27163"/>
                    <a:pt x="148045" y="25206"/>
                    <a:pt x="142496" y="28572"/>
                  </a:cubicBezTo>
                  <a:cubicBezTo>
                    <a:pt x="142357" y="28656"/>
                    <a:pt x="142220" y="28743"/>
                    <a:pt x="142085" y="28833"/>
                  </a:cubicBezTo>
                  <a:cubicBezTo>
                    <a:pt x="131563" y="34313"/>
                    <a:pt x="112412" y="24668"/>
                    <a:pt x="110518" y="11570"/>
                  </a:cubicBezTo>
                  <a:cubicBezTo>
                    <a:pt x="108993" y="1048"/>
                    <a:pt x="103047" y="993"/>
                    <a:pt x="95577" y="116"/>
                  </a:cubicBezTo>
                  <a:cubicBezTo>
                    <a:pt x="88106" y="-761"/>
                    <a:pt x="84791" y="3404"/>
                    <a:pt x="82634" y="10255"/>
                  </a:cubicBezTo>
                  <a:cubicBezTo>
                    <a:pt x="80477" y="17105"/>
                    <a:pt x="65693" y="24997"/>
                    <a:pt x="56328" y="24284"/>
                  </a:cubicBezTo>
                  <a:cubicBezTo>
                    <a:pt x="53722" y="23562"/>
                    <a:pt x="51262" y="22355"/>
                    <a:pt x="49068" y="20722"/>
                  </a:cubicBezTo>
                  <a:cubicBezTo>
                    <a:pt x="41755" y="13488"/>
                    <a:pt x="36652" y="18037"/>
                    <a:pt x="30759" y="23134"/>
                  </a:cubicBezTo>
                  <a:cubicBezTo>
                    <a:pt x="24867" y="28230"/>
                    <a:pt x="25077" y="33163"/>
                    <a:pt x="28392" y="39849"/>
                  </a:cubicBezTo>
                  <a:cubicBezTo>
                    <a:pt x="33653" y="50809"/>
                    <a:pt x="23709" y="70922"/>
                    <a:pt x="11293" y="72731"/>
                  </a:cubicBezTo>
                  <a:cubicBezTo>
                    <a:pt x="3822" y="73717"/>
                    <a:pt x="2033" y="77389"/>
                    <a:pt x="1244" y="82322"/>
                  </a:cubicBezTo>
                  <a:lnTo>
                    <a:pt x="34" y="90926"/>
                  </a:lnTo>
                  <a:cubicBezTo>
                    <a:pt x="-400" y="96386"/>
                    <a:pt x="3388" y="101228"/>
                    <a:pt x="8610" y="101886"/>
                  </a:cubicBezTo>
                  <a:cubicBezTo>
                    <a:pt x="20710" y="105394"/>
                    <a:pt x="27760" y="127041"/>
                    <a:pt x="20921" y="136906"/>
                  </a:cubicBezTo>
                  <a:cubicBezTo>
                    <a:pt x="16659" y="142989"/>
                    <a:pt x="15660" y="147867"/>
                    <a:pt x="20921" y="153840"/>
                  </a:cubicBezTo>
                  <a:cubicBezTo>
                    <a:pt x="26182" y="159814"/>
                    <a:pt x="30443" y="164801"/>
                    <a:pt x="38809" y="158937"/>
                  </a:cubicBezTo>
                  <a:cubicBezTo>
                    <a:pt x="41202" y="157689"/>
                    <a:pt x="43782" y="156874"/>
                    <a:pt x="46437" y="156526"/>
                  </a:cubicBezTo>
                  <a:cubicBezTo>
                    <a:pt x="55960" y="157348"/>
                    <a:pt x="69534" y="167486"/>
                    <a:pt x="70691" y="174501"/>
                  </a:cubicBezTo>
                  <a:cubicBezTo>
                    <a:pt x="71849" y="181516"/>
                    <a:pt x="74006" y="186284"/>
                    <a:pt x="82108" y="186503"/>
                  </a:cubicBezTo>
                  <a:cubicBezTo>
                    <a:pt x="90210" y="186723"/>
                    <a:pt x="95471" y="187599"/>
                    <a:pt x="98470" y="177461"/>
                  </a:cubicBezTo>
                  <a:cubicBezTo>
                    <a:pt x="102258" y="164801"/>
                    <a:pt x="122356" y="158005"/>
                    <a:pt x="132194" y="165185"/>
                  </a:cubicBezTo>
                  <a:cubicBezTo>
                    <a:pt x="136887" y="169795"/>
                    <a:pt x="144279" y="169569"/>
                    <a:pt x="148705" y="164680"/>
                  </a:cubicBezTo>
                  <a:cubicBezTo>
                    <a:pt x="148909" y="164455"/>
                    <a:pt x="149106" y="164221"/>
                    <a:pt x="149293" y="163979"/>
                  </a:cubicBezTo>
                  <a:cubicBezTo>
                    <a:pt x="154554" y="158937"/>
                    <a:pt x="157290" y="154882"/>
                    <a:pt x="153186" y="146880"/>
                  </a:cubicBezTo>
                  <a:cubicBezTo>
                    <a:pt x="148181" y="134790"/>
                    <a:pt x="153532" y="120763"/>
                    <a:pt x="165139" y="115549"/>
                  </a:cubicBezTo>
                  <a:cubicBezTo>
                    <a:pt x="166193" y="115075"/>
                    <a:pt x="167280" y="114685"/>
                    <a:pt x="168391" y="114382"/>
                  </a:cubicBezTo>
                  <a:cubicBezTo>
                    <a:pt x="173783" y="114194"/>
                    <a:pt x="178349" y="110185"/>
                    <a:pt x="179439" y="104681"/>
                  </a:cubicBezTo>
                  <a:lnTo>
                    <a:pt x="180018" y="95913"/>
                  </a:lnTo>
                  <a:cubicBezTo>
                    <a:pt x="179545" y="90432"/>
                    <a:pt x="177072" y="86980"/>
                    <a:pt x="170390" y="84952"/>
                  </a:cubicBezTo>
                  <a:close/>
                  <a:moveTo>
                    <a:pt x="133562" y="100516"/>
                  </a:moveTo>
                  <a:cubicBezTo>
                    <a:pt x="130818" y="125597"/>
                    <a:pt x="109075" y="143611"/>
                    <a:pt x="84998" y="140753"/>
                  </a:cubicBezTo>
                  <a:cubicBezTo>
                    <a:pt x="62178" y="138044"/>
                    <a:pt x="45225" y="117462"/>
                    <a:pt x="46122" y="93556"/>
                  </a:cubicBezTo>
                  <a:lnTo>
                    <a:pt x="46700" y="86377"/>
                  </a:lnTo>
                  <a:cubicBezTo>
                    <a:pt x="50437" y="61436"/>
                    <a:pt x="72876" y="44373"/>
                    <a:pt x="96819" y="48265"/>
                  </a:cubicBezTo>
                  <a:cubicBezTo>
                    <a:pt x="118052" y="51716"/>
                    <a:pt x="133760" y="70678"/>
                    <a:pt x="133930" y="93063"/>
                  </a:cubicBezTo>
                  <a:close/>
                </a:path>
              </a:pathLst>
            </a:custGeom>
            <a:noFill/>
            <a:ln w="1143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 b="0" i="0" dirty="0">
                <a:latin typeface="Calibri" panose="020F0502020204030204" pitchFamily="34" charset="0"/>
              </a:endParaRPr>
            </a:p>
          </p:txBody>
        </p:sp>
        <p:sp>
          <p:nvSpPr>
            <p:cNvPr id="5" name="Freihandform 4">
              <a:extLst>
                <a:ext uri="{FF2B5EF4-FFF2-40B4-BE49-F238E27FC236}">
                  <a16:creationId xmlns:a16="http://schemas.microsoft.com/office/drawing/2014/main" id="{50387A19-21F5-DE4B-A0F8-E472B34257B6}"/>
                </a:ext>
              </a:extLst>
            </p:cNvPr>
            <p:cNvSpPr/>
            <p:nvPr/>
          </p:nvSpPr>
          <p:spPr>
            <a:xfrm>
              <a:off x="1418267" y="4321588"/>
              <a:ext cx="91124" cy="94300"/>
            </a:xfrm>
            <a:custGeom>
              <a:avLst/>
              <a:gdLst>
                <a:gd name="connsiteX0" fmla="*/ 86126 w 91124"/>
                <a:gd name="connsiteY0" fmla="*/ 42946 h 94300"/>
                <a:gd name="connsiteX1" fmla="*/ 80087 w 91124"/>
                <a:gd name="connsiteY1" fmla="*/ 27015 h 94300"/>
                <a:gd name="connsiteX2" fmla="*/ 80865 w 91124"/>
                <a:gd name="connsiteY2" fmla="*/ 25464 h 94300"/>
                <a:gd name="connsiteX3" fmla="*/ 80181 w 91124"/>
                <a:gd name="connsiteY3" fmla="*/ 16585 h 94300"/>
                <a:gd name="connsiteX4" fmla="*/ 72117 w 91124"/>
                <a:gd name="connsiteY4" fmla="*/ 14395 h 94300"/>
                <a:gd name="connsiteX5" fmla="*/ 71710 w 91124"/>
                <a:gd name="connsiteY5" fmla="*/ 14667 h 94300"/>
                <a:gd name="connsiteX6" fmla="*/ 55927 w 91124"/>
                <a:gd name="connsiteY6" fmla="*/ 5844 h 94300"/>
                <a:gd name="connsiteX7" fmla="*/ 48403 w 91124"/>
                <a:gd name="connsiteY7" fmla="*/ 35 h 94300"/>
                <a:gd name="connsiteX8" fmla="*/ 41827 w 91124"/>
                <a:gd name="connsiteY8" fmla="*/ 5241 h 94300"/>
                <a:gd name="connsiteX9" fmla="*/ 28358 w 91124"/>
                <a:gd name="connsiteY9" fmla="*/ 12311 h 94300"/>
                <a:gd name="connsiteX10" fmla="*/ 24728 w 91124"/>
                <a:gd name="connsiteY10" fmla="*/ 10557 h 94300"/>
                <a:gd name="connsiteX11" fmla="*/ 15416 w 91124"/>
                <a:gd name="connsiteY11" fmla="*/ 11763 h 94300"/>
                <a:gd name="connsiteX12" fmla="*/ 14206 w 91124"/>
                <a:gd name="connsiteY12" fmla="*/ 20202 h 94300"/>
                <a:gd name="connsiteX13" fmla="*/ 5578 w 91124"/>
                <a:gd name="connsiteY13" fmla="*/ 36644 h 94300"/>
                <a:gd name="connsiteX14" fmla="*/ 316 w 91124"/>
                <a:gd name="connsiteY14" fmla="*/ 41521 h 94300"/>
                <a:gd name="connsiteX15" fmla="*/ 1 w 91124"/>
                <a:gd name="connsiteY15" fmla="*/ 45905 h 94300"/>
                <a:gd name="connsiteX16" fmla="*/ 4315 w 91124"/>
                <a:gd name="connsiteY16" fmla="*/ 51386 h 94300"/>
                <a:gd name="connsiteX17" fmla="*/ 10623 w 91124"/>
                <a:gd name="connsiteY17" fmla="*/ 69036 h 94300"/>
                <a:gd name="connsiteX18" fmla="*/ 10576 w 91124"/>
                <a:gd name="connsiteY18" fmla="*/ 69142 h 94300"/>
                <a:gd name="connsiteX19" fmla="*/ 10576 w 91124"/>
                <a:gd name="connsiteY19" fmla="*/ 77637 h 94300"/>
                <a:gd name="connsiteX20" fmla="*/ 19572 w 91124"/>
                <a:gd name="connsiteY20" fmla="*/ 80322 h 94300"/>
                <a:gd name="connsiteX21" fmla="*/ 23465 w 91124"/>
                <a:gd name="connsiteY21" fmla="*/ 79062 h 94300"/>
                <a:gd name="connsiteX22" fmla="*/ 35724 w 91124"/>
                <a:gd name="connsiteY22" fmla="*/ 88159 h 94300"/>
                <a:gd name="connsiteX23" fmla="*/ 41511 w 91124"/>
                <a:gd name="connsiteY23" fmla="*/ 94242 h 94300"/>
                <a:gd name="connsiteX24" fmla="*/ 49824 w 91124"/>
                <a:gd name="connsiteY24" fmla="*/ 89694 h 94300"/>
                <a:gd name="connsiteX25" fmla="*/ 66703 w 91124"/>
                <a:gd name="connsiteY25" fmla="*/ 83390 h 94300"/>
                <a:gd name="connsiteX26" fmla="*/ 66923 w 91124"/>
                <a:gd name="connsiteY26" fmla="*/ 83501 h 94300"/>
                <a:gd name="connsiteX27" fmla="*/ 75396 w 91124"/>
                <a:gd name="connsiteY27" fmla="*/ 83094 h 94300"/>
                <a:gd name="connsiteX28" fmla="*/ 75604 w 91124"/>
                <a:gd name="connsiteY28" fmla="*/ 82843 h 94300"/>
                <a:gd name="connsiteX29" fmla="*/ 77550 w 91124"/>
                <a:gd name="connsiteY29" fmla="*/ 74184 h 94300"/>
                <a:gd name="connsiteX30" fmla="*/ 83675 w 91124"/>
                <a:gd name="connsiteY30" fmla="*/ 58288 h 94300"/>
                <a:gd name="connsiteX31" fmla="*/ 85179 w 91124"/>
                <a:gd name="connsiteY31" fmla="*/ 57743 h 94300"/>
                <a:gd name="connsiteX32" fmla="*/ 90861 w 91124"/>
                <a:gd name="connsiteY32" fmla="*/ 52865 h 94300"/>
                <a:gd name="connsiteX33" fmla="*/ 91124 w 91124"/>
                <a:gd name="connsiteY33" fmla="*/ 48426 h 94300"/>
                <a:gd name="connsiteX34" fmla="*/ 86126 w 91124"/>
                <a:gd name="connsiteY34" fmla="*/ 42946 h 94300"/>
                <a:gd name="connsiteX35" fmla="*/ 67396 w 91124"/>
                <a:gd name="connsiteY35" fmla="*/ 50838 h 94300"/>
                <a:gd name="connsiteX36" fmla="*/ 41744 w 91124"/>
                <a:gd name="connsiteY36" fmla="*/ 69833 h 94300"/>
                <a:gd name="connsiteX37" fmla="*/ 23202 w 91124"/>
                <a:gd name="connsiteY37" fmla="*/ 47440 h 94300"/>
                <a:gd name="connsiteX38" fmla="*/ 23518 w 91124"/>
                <a:gd name="connsiteY38" fmla="*/ 43549 h 94300"/>
                <a:gd name="connsiteX39" fmla="*/ 48862 w 91124"/>
                <a:gd name="connsiteY39" fmla="*/ 24242 h 94300"/>
                <a:gd name="connsiteX40" fmla="*/ 67659 w 91124"/>
                <a:gd name="connsiteY40" fmla="*/ 46947 h 9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91124" h="94300">
                  <a:moveTo>
                    <a:pt x="86126" y="42946"/>
                  </a:moveTo>
                  <a:cubicBezTo>
                    <a:pt x="80235" y="40284"/>
                    <a:pt x="77531" y="33151"/>
                    <a:pt x="80087" y="27015"/>
                  </a:cubicBezTo>
                  <a:cubicBezTo>
                    <a:pt x="80310" y="26479"/>
                    <a:pt x="80570" y="25961"/>
                    <a:pt x="80865" y="25464"/>
                  </a:cubicBezTo>
                  <a:cubicBezTo>
                    <a:pt x="83548" y="21737"/>
                    <a:pt x="82496" y="19545"/>
                    <a:pt x="80181" y="16585"/>
                  </a:cubicBezTo>
                  <a:cubicBezTo>
                    <a:pt x="78535" y="13661"/>
                    <a:pt x="74925" y="12680"/>
                    <a:pt x="72117" y="14395"/>
                  </a:cubicBezTo>
                  <a:cubicBezTo>
                    <a:pt x="71978" y="14480"/>
                    <a:pt x="71842" y="14571"/>
                    <a:pt x="71710" y="14667"/>
                  </a:cubicBezTo>
                  <a:cubicBezTo>
                    <a:pt x="65017" y="16731"/>
                    <a:pt x="57977" y="12795"/>
                    <a:pt x="55927" y="5844"/>
                  </a:cubicBezTo>
                  <a:cubicBezTo>
                    <a:pt x="55138" y="364"/>
                    <a:pt x="52191" y="364"/>
                    <a:pt x="48403" y="35"/>
                  </a:cubicBezTo>
                  <a:cubicBezTo>
                    <a:pt x="44615" y="-294"/>
                    <a:pt x="42879" y="1734"/>
                    <a:pt x="41827" y="5241"/>
                  </a:cubicBezTo>
                  <a:cubicBezTo>
                    <a:pt x="38740" y="9778"/>
                    <a:pt x="33695" y="12426"/>
                    <a:pt x="28358" y="12311"/>
                  </a:cubicBezTo>
                  <a:cubicBezTo>
                    <a:pt x="27060" y="11948"/>
                    <a:pt x="25832" y="11355"/>
                    <a:pt x="24728" y="10557"/>
                  </a:cubicBezTo>
                  <a:cubicBezTo>
                    <a:pt x="20993" y="6830"/>
                    <a:pt x="18415" y="9132"/>
                    <a:pt x="15416" y="11763"/>
                  </a:cubicBezTo>
                  <a:cubicBezTo>
                    <a:pt x="12417" y="14393"/>
                    <a:pt x="12575" y="16805"/>
                    <a:pt x="14206" y="20202"/>
                  </a:cubicBezTo>
                  <a:cubicBezTo>
                    <a:pt x="16144" y="27220"/>
                    <a:pt x="12294" y="34554"/>
                    <a:pt x="5578" y="36644"/>
                  </a:cubicBezTo>
                  <a:cubicBezTo>
                    <a:pt x="2884" y="36627"/>
                    <a:pt x="613" y="38732"/>
                    <a:pt x="316" y="41521"/>
                  </a:cubicBezTo>
                  <a:lnTo>
                    <a:pt x="1" y="45905"/>
                  </a:lnTo>
                  <a:cubicBezTo>
                    <a:pt x="-41" y="48585"/>
                    <a:pt x="1784" y="50904"/>
                    <a:pt x="4315" y="51386"/>
                  </a:cubicBezTo>
                  <a:cubicBezTo>
                    <a:pt x="10736" y="54445"/>
                    <a:pt x="13560" y="62348"/>
                    <a:pt x="10623" y="69036"/>
                  </a:cubicBezTo>
                  <a:cubicBezTo>
                    <a:pt x="10607" y="69071"/>
                    <a:pt x="10591" y="69107"/>
                    <a:pt x="10576" y="69142"/>
                  </a:cubicBezTo>
                  <a:cubicBezTo>
                    <a:pt x="8471" y="72211"/>
                    <a:pt x="7945" y="74623"/>
                    <a:pt x="10576" y="77637"/>
                  </a:cubicBezTo>
                  <a:cubicBezTo>
                    <a:pt x="13206" y="80651"/>
                    <a:pt x="15416" y="83117"/>
                    <a:pt x="19572" y="80322"/>
                  </a:cubicBezTo>
                  <a:cubicBezTo>
                    <a:pt x="20799" y="79692"/>
                    <a:pt x="22112" y="79267"/>
                    <a:pt x="23465" y="79062"/>
                  </a:cubicBezTo>
                  <a:cubicBezTo>
                    <a:pt x="28306" y="79500"/>
                    <a:pt x="35198" y="84542"/>
                    <a:pt x="35724" y="88159"/>
                  </a:cubicBezTo>
                  <a:cubicBezTo>
                    <a:pt x="36250" y="91776"/>
                    <a:pt x="37460" y="94133"/>
                    <a:pt x="41511" y="94242"/>
                  </a:cubicBezTo>
                  <a:cubicBezTo>
                    <a:pt x="45562" y="94352"/>
                    <a:pt x="48298" y="94790"/>
                    <a:pt x="49824" y="89694"/>
                  </a:cubicBezTo>
                  <a:cubicBezTo>
                    <a:pt x="52814" y="83097"/>
                    <a:pt x="60371" y="80276"/>
                    <a:pt x="66703" y="83390"/>
                  </a:cubicBezTo>
                  <a:cubicBezTo>
                    <a:pt x="66777" y="83426"/>
                    <a:pt x="66850" y="83463"/>
                    <a:pt x="66923" y="83501"/>
                  </a:cubicBezTo>
                  <a:cubicBezTo>
                    <a:pt x="69370" y="85826"/>
                    <a:pt x="73164" y="85643"/>
                    <a:pt x="75396" y="83094"/>
                  </a:cubicBezTo>
                  <a:cubicBezTo>
                    <a:pt x="75467" y="83012"/>
                    <a:pt x="75536" y="82929"/>
                    <a:pt x="75604" y="82843"/>
                  </a:cubicBezTo>
                  <a:cubicBezTo>
                    <a:pt x="78287" y="80267"/>
                    <a:pt x="79655" y="78240"/>
                    <a:pt x="77550" y="74184"/>
                  </a:cubicBezTo>
                  <a:cubicBezTo>
                    <a:pt x="75028" y="68033"/>
                    <a:pt x="77770" y="60916"/>
                    <a:pt x="83675" y="58288"/>
                  </a:cubicBezTo>
                  <a:cubicBezTo>
                    <a:pt x="84164" y="58071"/>
                    <a:pt x="84666" y="57889"/>
                    <a:pt x="85179" y="57743"/>
                  </a:cubicBezTo>
                  <a:cubicBezTo>
                    <a:pt x="88704" y="57085"/>
                    <a:pt x="90440" y="55551"/>
                    <a:pt x="90861" y="52865"/>
                  </a:cubicBezTo>
                  <a:lnTo>
                    <a:pt x="91124" y="48426"/>
                  </a:lnTo>
                  <a:cubicBezTo>
                    <a:pt x="90756" y="45851"/>
                    <a:pt x="89546" y="44097"/>
                    <a:pt x="86126" y="42946"/>
                  </a:cubicBezTo>
                  <a:close/>
                  <a:moveTo>
                    <a:pt x="67396" y="50838"/>
                  </a:moveTo>
                  <a:cubicBezTo>
                    <a:pt x="65348" y="63462"/>
                    <a:pt x="53863" y="71966"/>
                    <a:pt x="41744" y="69833"/>
                  </a:cubicBezTo>
                  <a:cubicBezTo>
                    <a:pt x="31202" y="67976"/>
                    <a:pt x="23417" y="58574"/>
                    <a:pt x="23202" y="47440"/>
                  </a:cubicBezTo>
                  <a:lnTo>
                    <a:pt x="23518" y="43549"/>
                  </a:lnTo>
                  <a:cubicBezTo>
                    <a:pt x="25398" y="30927"/>
                    <a:pt x="36745" y="22283"/>
                    <a:pt x="48862" y="24242"/>
                  </a:cubicBezTo>
                  <a:cubicBezTo>
                    <a:pt x="59626" y="25982"/>
                    <a:pt x="67589" y="35600"/>
                    <a:pt x="67659" y="46947"/>
                  </a:cubicBezTo>
                  <a:close/>
                </a:path>
              </a:pathLst>
            </a:custGeom>
            <a:solidFill>
              <a:schemeClr val="bg1"/>
            </a:solidFill>
            <a:ln w="11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b="0" i="0" dirty="0">
                <a:latin typeface="Calibri" panose="020F0502020204030204" pitchFamily="34" charset="0"/>
              </a:endParaRPr>
            </a:p>
          </p:txBody>
        </p:sp>
        <p:sp>
          <p:nvSpPr>
            <p:cNvPr id="6" name="Freihandform 5">
              <a:extLst>
                <a:ext uri="{FF2B5EF4-FFF2-40B4-BE49-F238E27FC236}">
                  <a16:creationId xmlns:a16="http://schemas.microsoft.com/office/drawing/2014/main" id="{E19A78A5-6626-E248-BC2B-8D925FF88C49}"/>
                </a:ext>
              </a:extLst>
            </p:cNvPr>
            <p:cNvSpPr/>
            <p:nvPr/>
          </p:nvSpPr>
          <p:spPr>
            <a:xfrm>
              <a:off x="1366159" y="4008909"/>
              <a:ext cx="310747" cy="322959"/>
            </a:xfrm>
            <a:custGeom>
              <a:avLst/>
              <a:gdLst>
                <a:gd name="connsiteX0" fmla="*/ 309222 w 310747"/>
                <a:gd name="connsiteY0" fmla="*/ 132848 h 322959"/>
                <a:gd name="connsiteX1" fmla="*/ 289019 w 310747"/>
                <a:gd name="connsiteY1" fmla="*/ 117229 h 322959"/>
                <a:gd name="connsiteX2" fmla="*/ 259925 w 310747"/>
                <a:gd name="connsiteY2" fmla="*/ 62425 h 322959"/>
                <a:gd name="connsiteX3" fmla="*/ 251349 w 310747"/>
                <a:gd name="connsiteY3" fmla="*/ 32886 h 322959"/>
                <a:gd name="connsiteX4" fmla="*/ 221729 w 310747"/>
                <a:gd name="connsiteY4" fmla="*/ 32886 h 322959"/>
                <a:gd name="connsiteX5" fmla="*/ 162330 w 310747"/>
                <a:gd name="connsiteY5" fmla="*/ 15020 h 322959"/>
                <a:gd name="connsiteX6" fmla="*/ 133183 w 310747"/>
                <a:gd name="connsiteY6" fmla="*/ 716 h 322959"/>
                <a:gd name="connsiteX7" fmla="*/ 114559 w 310747"/>
                <a:gd name="connsiteY7" fmla="*/ 22638 h 322959"/>
                <a:gd name="connsiteX8" fmla="*/ 74153 w 310747"/>
                <a:gd name="connsiteY8" fmla="*/ 56068 h 322959"/>
                <a:gd name="connsiteX9" fmla="*/ 60737 w 310747"/>
                <a:gd name="connsiteY9" fmla="*/ 52670 h 322959"/>
                <a:gd name="connsiteX10" fmla="*/ 30328 w 310747"/>
                <a:gd name="connsiteY10" fmla="*/ 63631 h 322959"/>
                <a:gd name="connsiteX11" fmla="*/ 31906 w 310747"/>
                <a:gd name="connsiteY11" fmla="*/ 92786 h 322959"/>
                <a:gd name="connsiteX12" fmla="*/ 13913 w 310747"/>
                <a:gd name="connsiteY12" fmla="*/ 154715 h 322959"/>
                <a:gd name="connsiteX13" fmla="*/ 23 w 310747"/>
                <a:gd name="connsiteY13" fmla="*/ 174608 h 322959"/>
                <a:gd name="connsiteX14" fmla="*/ 1865 w 310747"/>
                <a:gd name="connsiteY14" fmla="*/ 189570 h 322959"/>
                <a:gd name="connsiteX15" fmla="*/ 20121 w 310747"/>
                <a:gd name="connsiteY15" fmla="*/ 205189 h 322959"/>
                <a:gd name="connsiteX16" fmla="*/ 52635 w 310747"/>
                <a:gd name="connsiteY16" fmla="*/ 259992 h 322959"/>
                <a:gd name="connsiteX17" fmla="*/ 58212 w 310747"/>
                <a:gd name="connsiteY17" fmla="*/ 288710 h 322959"/>
                <a:gd name="connsiteX18" fmla="*/ 90252 w 310747"/>
                <a:gd name="connsiteY18" fmla="*/ 291011 h 322959"/>
                <a:gd name="connsiteX19" fmla="*/ 102458 w 310747"/>
                <a:gd name="connsiteY19" fmla="*/ 284161 h 322959"/>
                <a:gd name="connsiteX20" fmla="*/ 149809 w 310747"/>
                <a:gd name="connsiteY20" fmla="*/ 306082 h 322959"/>
                <a:gd name="connsiteX21" fmla="*/ 173116 w 310747"/>
                <a:gd name="connsiteY21" fmla="*/ 322524 h 322959"/>
                <a:gd name="connsiteX22" fmla="*/ 197948 w 310747"/>
                <a:gd name="connsiteY22" fmla="*/ 301205 h 322959"/>
                <a:gd name="connsiteX23" fmla="*/ 215784 w 310747"/>
                <a:gd name="connsiteY23" fmla="*/ 274022 h 322959"/>
                <a:gd name="connsiteX24" fmla="*/ 226306 w 310747"/>
                <a:gd name="connsiteY24" fmla="*/ 268542 h 322959"/>
                <a:gd name="connsiteX25" fmla="*/ 250613 w 310747"/>
                <a:gd name="connsiteY25" fmla="*/ 267994 h 322959"/>
                <a:gd name="connsiteX26" fmla="*/ 279286 w 310747"/>
                <a:gd name="connsiteY26" fmla="*/ 259718 h 322959"/>
                <a:gd name="connsiteX27" fmla="*/ 280233 w 310747"/>
                <a:gd name="connsiteY27" fmla="*/ 229302 h 322959"/>
                <a:gd name="connsiteX28" fmla="*/ 294964 w 310747"/>
                <a:gd name="connsiteY28" fmla="*/ 168525 h 322959"/>
                <a:gd name="connsiteX29" fmla="*/ 310748 w 310747"/>
                <a:gd name="connsiteY29" fmla="*/ 148083 h 322959"/>
                <a:gd name="connsiteX30" fmla="*/ 155859 w 310747"/>
                <a:gd name="connsiteY30" fmla="*/ 250237 h 322959"/>
                <a:gd name="connsiteX31" fmla="*/ 70470 w 310747"/>
                <a:gd name="connsiteY31" fmla="*/ 161291 h 322959"/>
                <a:gd name="connsiteX32" fmla="*/ 155859 w 310747"/>
                <a:gd name="connsiteY32" fmla="*/ 72345 h 322959"/>
                <a:gd name="connsiteX33" fmla="*/ 241248 w 310747"/>
                <a:gd name="connsiteY33" fmla="*/ 161291 h 322959"/>
                <a:gd name="connsiteX34" fmla="*/ 155859 w 310747"/>
                <a:gd name="connsiteY34" fmla="*/ 250237 h 322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10747" h="322959">
                  <a:moveTo>
                    <a:pt x="309222" y="132848"/>
                  </a:moveTo>
                  <a:cubicBezTo>
                    <a:pt x="306539" y="123531"/>
                    <a:pt x="301172" y="118654"/>
                    <a:pt x="289019" y="117229"/>
                  </a:cubicBezTo>
                  <a:cubicBezTo>
                    <a:pt x="266554" y="114434"/>
                    <a:pt x="250349" y="83963"/>
                    <a:pt x="259925" y="62425"/>
                  </a:cubicBezTo>
                  <a:cubicBezTo>
                    <a:pt x="266133" y="48067"/>
                    <a:pt x="261030" y="41381"/>
                    <a:pt x="251349" y="32886"/>
                  </a:cubicBezTo>
                  <a:cubicBezTo>
                    <a:pt x="241669" y="24391"/>
                    <a:pt x="232672" y="23624"/>
                    <a:pt x="221729" y="32886"/>
                  </a:cubicBezTo>
                  <a:cubicBezTo>
                    <a:pt x="205419" y="46423"/>
                    <a:pt x="170064" y="36503"/>
                    <a:pt x="162330" y="15020"/>
                  </a:cubicBezTo>
                  <a:cubicBezTo>
                    <a:pt x="156227" y="-2408"/>
                    <a:pt x="146126" y="-435"/>
                    <a:pt x="133183" y="716"/>
                  </a:cubicBezTo>
                  <a:cubicBezTo>
                    <a:pt x="119294" y="2032"/>
                    <a:pt x="115822" y="10307"/>
                    <a:pt x="114559" y="22638"/>
                  </a:cubicBezTo>
                  <a:cubicBezTo>
                    <a:pt x="113296" y="34969"/>
                    <a:pt x="90621" y="53766"/>
                    <a:pt x="74153" y="56068"/>
                  </a:cubicBezTo>
                  <a:cubicBezTo>
                    <a:pt x="69523" y="55774"/>
                    <a:pt x="64980" y="54623"/>
                    <a:pt x="60737" y="52670"/>
                  </a:cubicBezTo>
                  <a:cubicBezTo>
                    <a:pt x="45848" y="42915"/>
                    <a:pt x="38693" y="52670"/>
                    <a:pt x="30328" y="63631"/>
                  </a:cubicBezTo>
                  <a:cubicBezTo>
                    <a:pt x="21962" y="74592"/>
                    <a:pt x="24067" y="82757"/>
                    <a:pt x="31906" y="92786"/>
                  </a:cubicBezTo>
                  <a:cubicBezTo>
                    <a:pt x="44638" y="109228"/>
                    <a:pt x="34379" y="147590"/>
                    <a:pt x="13913" y="154715"/>
                  </a:cubicBezTo>
                  <a:cubicBezTo>
                    <a:pt x="1549" y="159044"/>
                    <a:pt x="-240" y="165675"/>
                    <a:pt x="23" y="174608"/>
                  </a:cubicBezTo>
                  <a:lnTo>
                    <a:pt x="1865" y="189570"/>
                  </a:lnTo>
                  <a:cubicBezTo>
                    <a:pt x="3706" y="198010"/>
                    <a:pt x="7126" y="204257"/>
                    <a:pt x="20121" y="205189"/>
                  </a:cubicBezTo>
                  <a:cubicBezTo>
                    <a:pt x="41692" y="206833"/>
                    <a:pt x="61000" y="240976"/>
                    <a:pt x="52635" y="259992"/>
                  </a:cubicBezTo>
                  <a:cubicBezTo>
                    <a:pt x="47374" y="271830"/>
                    <a:pt x="47374" y="280379"/>
                    <a:pt x="58212" y="288710"/>
                  </a:cubicBezTo>
                  <a:cubicBezTo>
                    <a:pt x="69050" y="297040"/>
                    <a:pt x="78204" y="304438"/>
                    <a:pt x="90252" y="291011"/>
                  </a:cubicBezTo>
                  <a:cubicBezTo>
                    <a:pt x="93906" y="288004"/>
                    <a:pt x="98037" y="285686"/>
                    <a:pt x="102458" y="284161"/>
                  </a:cubicBezTo>
                  <a:cubicBezTo>
                    <a:pt x="118926" y="282078"/>
                    <a:pt x="145337" y="294354"/>
                    <a:pt x="149809" y="306082"/>
                  </a:cubicBezTo>
                  <a:cubicBezTo>
                    <a:pt x="154281" y="317810"/>
                    <a:pt x="159437" y="324825"/>
                    <a:pt x="173116" y="322524"/>
                  </a:cubicBezTo>
                  <a:cubicBezTo>
                    <a:pt x="185953" y="320222"/>
                    <a:pt x="196212" y="319509"/>
                    <a:pt x="197948" y="301205"/>
                  </a:cubicBezTo>
                  <a:cubicBezTo>
                    <a:pt x="199739" y="289841"/>
                    <a:pt x="206270" y="279887"/>
                    <a:pt x="215784" y="274022"/>
                  </a:cubicBezTo>
                  <a:cubicBezTo>
                    <a:pt x="219071" y="271770"/>
                    <a:pt x="222604" y="269931"/>
                    <a:pt x="226306" y="268542"/>
                  </a:cubicBezTo>
                  <a:cubicBezTo>
                    <a:pt x="234051" y="265170"/>
                    <a:pt x="242734" y="264974"/>
                    <a:pt x="250613" y="267994"/>
                  </a:cubicBezTo>
                  <a:cubicBezTo>
                    <a:pt x="263450" y="273913"/>
                    <a:pt x="271394" y="271063"/>
                    <a:pt x="279286" y="259718"/>
                  </a:cubicBezTo>
                  <a:cubicBezTo>
                    <a:pt x="287178" y="248374"/>
                    <a:pt x="289808" y="241414"/>
                    <a:pt x="280233" y="229302"/>
                  </a:cubicBezTo>
                  <a:cubicBezTo>
                    <a:pt x="265712" y="210943"/>
                    <a:pt x="273919" y="177129"/>
                    <a:pt x="294964" y="168525"/>
                  </a:cubicBezTo>
                  <a:cubicBezTo>
                    <a:pt x="306381" y="163922"/>
                    <a:pt x="310327" y="157564"/>
                    <a:pt x="310748" y="148083"/>
                  </a:cubicBezTo>
                  <a:close/>
                  <a:moveTo>
                    <a:pt x="155859" y="250237"/>
                  </a:moveTo>
                  <a:cubicBezTo>
                    <a:pt x="108700" y="250237"/>
                    <a:pt x="70470" y="210415"/>
                    <a:pt x="70470" y="161291"/>
                  </a:cubicBezTo>
                  <a:cubicBezTo>
                    <a:pt x="70470" y="112167"/>
                    <a:pt x="108700" y="72345"/>
                    <a:pt x="155859" y="72345"/>
                  </a:cubicBezTo>
                  <a:cubicBezTo>
                    <a:pt x="203018" y="72345"/>
                    <a:pt x="241248" y="112167"/>
                    <a:pt x="241248" y="161291"/>
                  </a:cubicBezTo>
                  <a:cubicBezTo>
                    <a:pt x="241190" y="210390"/>
                    <a:pt x="202994" y="250177"/>
                    <a:pt x="155859" y="250237"/>
                  </a:cubicBezTo>
                  <a:close/>
                </a:path>
              </a:pathLst>
            </a:custGeom>
            <a:noFill/>
            <a:ln w="1143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 b="0" i="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46" name="Grafik 44">
            <a:extLst>
              <a:ext uri="{FF2B5EF4-FFF2-40B4-BE49-F238E27FC236}">
                <a16:creationId xmlns:a16="http://schemas.microsoft.com/office/drawing/2014/main" id="{CA77326C-C554-624C-AD24-C1E1A9101CED}"/>
              </a:ext>
            </a:extLst>
          </p:cNvPr>
          <p:cNvGrpSpPr/>
          <p:nvPr userDrawn="1"/>
        </p:nvGrpSpPr>
        <p:grpSpPr>
          <a:xfrm>
            <a:off x="1929618" y="4016411"/>
            <a:ext cx="448758" cy="406979"/>
            <a:chOff x="1228148" y="4008909"/>
            <a:chExt cx="448758" cy="406979"/>
          </a:xfrm>
        </p:grpSpPr>
        <p:sp>
          <p:nvSpPr>
            <p:cNvPr id="47" name="Freihandform 46">
              <a:extLst>
                <a:ext uri="{FF2B5EF4-FFF2-40B4-BE49-F238E27FC236}">
                  <a16:creationId xmlns:a16="http://schemas.microsoft.com/office/drawing/2014/main" id="{20F59666-3B63-4C43-80D2-E1D81D9C3EDE}"/>
                </a:ext>
              </a:extLst>
            </p:cNvPr>
            <p:cNvSpPr/>
            <p:nvPr/>
          </p:nvSpPr>
          <p:spPr>
            <a:xfrm>
              <a:off x="1228148" y="4219901"/>
              <a:ext cx="180018" cy="186620"/>
            </a:xfrm>
            <a:custGeom>
              <a:avLst/>
              <a:gdLst>
                <a:gd name="connsiteX0" fmla="*/ 170390 w 180018"/>
                <a:gd name="connsiteY0" fmla="*/ 84952 h 186620"/>
                <a:gd name="connsiteX1" fmla="*/ 158237 w 180018"/>
                <a:gd name="connsiteY1" fmla="*/ 53705 h 186620"/>
                <a:gd name="connsiteX2" fmla="*/ 159868 w 180018"/>
                <a:gd name="connsiteY2" fmla="*/ 50426 h 186620"/>
                <a:gd name="connsiteX3" fmla="*/ 158395 w 180018"/>
                <a:gd name="connsiteY3" fmla="*/ 32943 h 186620"/>
                <a:gd name="connsiteX4" fmla="*/ 142496 w 180018"/>
                <a:gd name="connsiteY4" fmla="*/ 28572 h 186620"/>
                <a:gd name="connsiteX5" fmla="*/ 142085 w 180018"/>
                <a:gd name="connsiteY5" fmla="*/ 28833 h 186620"/>
                <a:gd name="connsiteX6" fmla="*/ 110518 w 180018"/>
                <a:gd name="connsiteY6" fmla="*/ 11570 h 186620"/>
                <a:gd name="connsiteX7" fmla="*/ 95577 w 180018"/>
                <a:gd name="connsiteY7" fmla="*/ 116 h 186620"/>
                <a:gd name="connsiteX8" fmla="*/ 82634 w 180018"/>
                <a:gd name="connsiteY8" fmla="*/ 10255 h 186620"/>
                <a:gd name="connsiteX9" fmla="*/ 56328 w 180018"/>
                <a:gd name="connsiteY9" fmla="*/ 24284 h 186620"/>
                <a:gd name="connsiteX10" fmla="*/ 49068 w 180018"/>
                <a:gd name="connsiteY10" fmla="*/ 20722 h 186620"/>
                <a:gd name="connsiteX11" fmla="*/ 30759 w 180018"/>
                <a:gd name="connsiteY11" fmla="*/ 23134 h 186620"/>
                <a:gd name="connsiteX12" fmla="*/ 28392 w 180018"/>
                <a:gd name="connsiteY12" fmla="*/ 39849 h 186620"/>
                <a:gd name="connsiteX13" fmla="*/ 11293 w 180018"/>
                <a:gd name="connsiteY13" fmla="*/ 72731 h 186620"/>
                <a:gd name="connsiteX14" fmla="*/ 1244 w 180018"/>
                <a:gd name="connsiteY14" fmla="*/ 82322 h 186620"/>
                <a:gd name="connsiteX15" fmla="*/ 34 w 180018"/>
                <a:gd name="connsiteY15" fmla="*/ 90926 h 186620"/>
                <a:gd name="connsiteX16" fmla="*/ 8610 w 180018"/>
                <a:gd name="connsiteY16" fmla="*/ 101886 h 186620"/>
                <a:gd name="connsiteX17" fmla="*/ 20921 w 180018"/>
                <a:gd name="connsiteY17" fmla="*/ 136906 h 186620"/>
                <a:gd name="connsiteX18" fmla="*/ 20921 w 180018"/>
                <a:gd name="connsiteY18" fmla="*/ 153840 h 186620"/>
                <a:gd name="connsiteX19" fmla="*/ 38809 w 180018"/>
                <a:gd name="connsiteY19" fmla="*/ 158937 h 186620"/>
                <a:gd name="connsiteX20" fmla="*/ 46437 w 180018"/>
                <a:gd name="connsiteY20" fmla="*/ 156526 h 186620"/>
                <a:gd name="connsiteX21" fmla="*/ 70691 w 180018"/>
                <a:gd name="connsiteY21" fmla="*/ 174501 h 186620"/>
                <a:gd name="connsiteX22" fmla="*/ 82108 w 180018"/>
                <a:gd name="connsiteY22" fmla="*/ 186503 h 186620"/>
                <a:gd name="connsiteX23" fmla="*/ 98470 w 180018"/>
                <a:gd name="connsiteY23" fmla="*/ 177461 h 186620"/>
                <a:gd name="connsiteX24" fmla="*/ 132194 w 180018"/>
                <a:gd name="connsiteY24" fmla="*/ 165185 h 186620"/>
                <a:gd name="connsiteX25" fmla="*/ 148705 w 180018"/>
                <a:gd name="connsiteY25" fmla="*/ 164680 h 186620"/>
                <a:gd name="connsiteX26" fmla="*/ 149293 w 180018"/>
                <a:gd name="connsiteY26" fmla="*/ 163979 h 186620"/>
                <a:gd name="connsiteX27" fmla="*/ 153186 w 180018"/>
                <a:gd name="connsiteY27" fmla="*/ 146880 h 186620"/>
                <a:gd name="connsiteX28" fmla="*/ 165139 w 180018"/>
                <a:gd name="connsiteY28" fmla="*/ 115549 h 186620"/>
                <a:gd name="connsiteX29" fmla="*/ 168391 w 180018"/>
                <a:gd name="connsiteY29" fmla="*/ 114382 h 186620"/>
                <a:gd name="connsiteX30" fmla="*/ 179439 w 180018"/>
                <a:gd name="connsiteY30" fmla="*/ 104681 h 186620"/>
                <a:gd name="connsiteX31" fmla="*/ 180018 w 180018"/>
                <a:gd name="connsiteY31" fmla="*/ 95913 h 186620"/>
                <a:gd name="connsiteX32" fmla="*/ 170390 w 180018"/>
                <a:gd name="connsiteY32" fmla="*/ 84952 h 186620"/>
                <a:gd name="connsiteX33" fmla="*/ 133562 w 180018"/>
                <a:gd name="connsiteY33" fmla="*/ 100516 h 186620"/>
                <a:gd name="connsiteX34" fmla="*/ 84998 w 180018"/>
                <a:gd name="connsiteY34" fmla="*/ 140753 h 186620"/>
                <a:gd name="connsiteX35" fmla="*/ 46122 w 180018"/>
                <a:gd name="connsiteY35" fmla="*/ 93556 h 186620"/>
                <a:gd name="connsiteX36" fmla="*/ 46700 w 180018"/>
                <a:gd name="connsiteY36" fmla="*/ 86377 h 186620"/>
                <a:gd name="connsiteX37" fmla="*/ 96819 w 180018"/>
                <a:gd name="connsiteY37" fmla="*/ 48265 h 186620"/>
                <a:gd name="connsiteX38" fmla="*/ 133930 w 180018"/>
                <a:gd name="connsiteY38" fmla="*/ 93063 h 186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80018" h="186620">
                  <a:moveTo>
                    <a:pt x="170390" y="84952"/>
                  </a:moveTo>
                  <a:cubicBezTo>
                    <a:pt x="158750" y="79819"/>
                    <a:pt x="153309" y="65829"/>
                    <a:pt x="158237" y="53705"/>
                  </a:cubicBezTo>
                  <a:cubicBezTo>
                    <a:pt x="158698" y="52570"/>
                    <a:pt x="159244" y="51473"/>
                    <a:pt x="159868" y="50426"/>
                  </a:cubicBezTo>
                  <a:cubicBezTo>
                    <a:pt x="165129" y="43082"/>
                    <a:pt x="162972" y="38753"/>
                    <a:pt x="158395" y="32943"/>
                  </a:cubicBezTo>
                  <a:cubicBezTo>
                    <a:pt x="155163" y="27163"/>
                    <a:pt x="148045" y="25206"/>
                    <a:pt x="142496" y="28572"/>
                  </a:cubicBezTo>
                  <a:cubicBezTo>
                    <a:pt x="142357" y="28656"/>
                    <a:pt x="142220" y="28743"/>
                    <a:pt x="142085" y="28833"/>
                  </a:cubicBezTo>
                  <a:cubicBezTo>
                    <a:pt x="131563" y="34313"/>
                    <a:pt x="112412" y="24668"/>
                    <a:pt x="110518" y="11570"/>
                  </a:cubicBezTo>
                  <a:cubicBezTo>
                    <a:pt x="108993" y="1048"/>
                    <a:pt x="103047" y="993"/>
                    <a:pt x="95577" y="116"/>
                  </a:cubicBezTo>
                  <a:cubicBezTo>
                    <a:pt x="88106" y="-761"/>
                    <a:pt x="84791" y="3404"/>
                    <a:pt x="82634" y="10255"/>
                  </a:cubicBezTo>
                  <a:cubicBezTo>
                    <a:pt x="80477" y="17105"/>
                    <a:pt x="65693" y="24997"/>
                    <a:pt x="56328" y="24284"/>
                  </a:cubicBezTo>
                  <a:cubicBezTo>
                    <a:pt x="53722" y="23562"/>
                    <a:pt x="51262" y="22355"/>
                    <a:pt x="49068" y="20722"/>
                  </a:cubicBezTo>
                  <a:cubicBezTo>
                    <a:pt x="41755" y="13488"/>
                    <a:pt x="36652" y="18037"/>
                    <a:pt x="30759" y="23134"/>
                  </a:cubicBezTo>
                  <a:cubicBezTo>
                    <a:pt x="24867" y="28230"/>
                    <a:pt x="25077" y="33163"/>
                    <a:pt x="28392" y="39849"/>
                  </a:cubicBezTo>
                  <a:cubicBezTo>
                    <a:pt x="33653" y="50809"/>
                    <a:pt x="23709" y="70922"/>
                    <a:pt x="11293" y="72731"/>
                  </a:cubicBezTo>
                  <a:cubicBezTo>
                    <a:pt x="3822" y="73717"/>
                    <a:pt x="2033" y="77389"/>
                    <a:pt x="1244" y="82322"/>
                  </a:cubicBezTo>
                  <a:lnTo>
                    <a:pt x="34" y="90926"/>
                  </a:lnTo>
                  <a:cubicBezTo>
                    <a:pt x="-400" y="96386"/>
                    <a:pt x="3388" y="101228"/>
                    <a:pt x="8610" y="101886"/>
                  </a:cubicBezTo>
                  <a:cubicBezTo>
                    <a:pt x="20710" y="105394"/>
                    <a:pt x="27760" y="127041"/>
                    <a:pt x="20921" y="136906"/>
                  </a:cubicBezTo>
                  <a:cubicBezTo>
                    <a:pt x="16659" y="142989"/>
                    <a:pt x="15660" y="147867"/>
                    <a:pt x="20921" y="153840"/>
                  </a:cubicBezTo>
                  <a:cubicBezTo>
                    <a:pt x="26182" y="159814"/>
                    <a:pt x="30443" y="164801"/>
                    <a:pt x="38809" y="158937"/>
                  </a:cubicBezTo>
                  <a:cubicBezTo>
                    <a:pt x="41202" y="157689"/>
                    <a:pt x="43782" y="156874"/>
                    <a:pt x="46437" y="156526"/>
                  </a:cubicBezTo>
                  <a:cubicBezTo>
                    <a:pt x="55960" y="157348"/>
                    <a:pt x="69534" y="167486"/>
                    <a:pt x="70691" y="174501"/>
                  </a:cubicBezTo>
                  <a:cubicBezTo>
                    <a:pt x="71849" y="181516"/>
                    <a:pt x="74006" y="186284"/>
                    <a:pt x="82108" y="186503"/>
                  </a:cubicBezTo>
                  <a:cubicBezTo>
                    <a:pt x="90210" y="186723"/>
                    <a:pt x="95471" y="187599"/>
                    <a:pt x="98470" y="177461"/>
                  </a:cubicBezTo>
                  <a:cubicBezTo>
                    <a:pt x="102258" y="164801"/>
                    <a:pt x="122356" y="158005"/>
                    <a:pt x="132194" y="165185"/>
                  </a:cubicBezTo>
                  <a:cubicBezTo>
                    <a:pt x="136887" y="169795"/>
                    <a:pt x="144279" y="169569"/>
                    <a:pt x="148705" y="164680"/>
                  </a:cubicBezTo>
                  <a:cubicBezTo>
                    <a:pt x="148909" y="164455"/>
                    <a:pt x="149106" y="164221"/>
                    <a:pt x="149293" y="163979"/>
                  </a:cubicBezTo>
                  <a:cubicBezTo>
                    <a:pt x="154554" y="158937"/>
                    <a:pt x="157290" y="154882"/>
                    <a:pt x="153186" y="146880"/>
                  </a:cubicBezTo>
                  <a:cubicBezTo>
                    <a:pt x="148181" y="134790"/>
                    <a:pt x="153532" y="120763"/>
                    <a:pt x="165139" y="115549"/>
                  </a:cubicBezTo>
                  <a:cubicBezTo>
                    <a:pt x="166193" y="115075"/>
                    <a:pt x="167280" y="114685"/>
                    <a:pt x="168391" y="114382"/>
                  </a:cubicBezTo>
                  <a:cubicBezTo>
                    <a:pt x="173783" y="114194"/>
                    <a:pt x="178349" y="110185"/>
                    <a:pt x="179439" y="104681"/>
                  </a:cubicBezTo>
                  <a:lnTo>
                    <a:pt x="180018" y="95913"/>
                  </a:lnTo>
                  <a:cubicBezTo>
                    <a:pt x="179545" y="90432"/>
                    <a:pt x="177072" y="86980"/>
                    <a:pt x="170390" y="84952"/>
                  </a:cubicBezTo>
                  <a:close/>
                  <a:moveTo>
                    <a:pt x="133562" y="100516"/>
                  </a:moveTo>
                  <a:cubicBezTo>
                    <a:pt x="130818" y="125597"/>
                    <a:pt x="109075" y="143611"/>
                    <a:pt x="84998" y="140753"/>
                  </a:cubicBezTo>
                  <a:cubicBezTo>
                    <a:pt x="62178" y="138044"/>
                    <a:pt x="45225" y="117462"/>
                    <a:pt x="46122" y="93556"/>
                  </a:cubicBezTo>
                  <a:lnTo>
                    <a:pt x="46700" y="86377"/>
                  </a:lnTo>
                  <a:cubicBezTo>
                    <a:pt x="50437" y="61436"/>
                    <a:pt x="72876" y="44373"/>
                    <a:pt x="96819" y="48265"/>
                  </a:cubicBezTo>
                  <a:cubicBezTo>
                    <a:pt x="118052" y="51716"/>
                    <a:pt x="133760" y="70678"/>
                    <a:pt x="133930" y="93063"/>
                  </a:cubicBezTo>
                  <a:close/>
                </a:path>
              </a:pathLst>
            </a:custGeom>
            <a:noFill/>
            <a:ln w="1143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 b="0" i="0" dirty="0">
                <a:latin typeface="Calibri" panose="020F0502020204030204" pitchFamily="34" charset="0"/>
              </a:endParaRPr>
            </a:p>
          </p:txBody>
        </p:sp>
        <p:sp>
          <p:nvSpPr>
            <p:cNvPr id="48" name="Freihandform 47">
              <a:extLst>
                <a:ext uri="{FF2B5EF4-FFF2-40B4-BE49-F238E27FC236}">
                  <a16:creationId xmlns:a16="http://schemas.microsoft.com/office/drawing/2014/main" id="{42560E58-D390-FC4C-A17A-A6B29CD2163B}"/>
                </a:ext>
              </a:extLst>
            </p:cNvPr>
            <p:cNvSpPr/>
            <p:nvPr/>
          </p:nvSpPr>
          <p:spPr>
            <a:xfrm>
              <a:off x="1418267" y="4321588"/>
              <a:ext cx="91124" cy="94300"/>
            </a:xfrm>
            <a:custGeom>
              <a:avLst/>
              <a:gdLst>
                <a:gd name="connsiteX0" fmla="*/ 86126 w 91124"/>
                <a:gd name="connsiteY0" fmla="*/ 42946 h 94300"/>
                <a:gd name="connsiteX1" fmla="*/ 80087 w 91124"/>
                <a:gd name="connsiteY1" fmla="*/ 27015 h 94300"/>
                <a:gd name="connsiteX2" fmla="*/ 80865 w 91124"/>
                <a:gd name="connsiteY2" fmla="*/ 25464 h 94300"/>
                <a:gd name="connsiteX3" fmla="*/ 80181 w 91124"/>
                <a:gd name="connsiteY3" fmla="*/ 16585 h 94300"/>
                <a:gd name="connsiteX4" fmla="*/ 72117 w 91124"/>
                <a:gd name="connsiteY4" fmla="*/ 14395 h 94300"/>
                <a:gd name="connsiteX5" fmla="*/ 71710 w 91124"/>
                <a:gd name="connsiteY5" fmla="*/ 14667 h 94300"/>
                <a:gd name="connsiteX6" fmla="*/ 55927 w 91124"/>
                <a:gd name="connsiteY6" fmla="*/ 5844 h 94300"/>
                <a:gd name="connsiteX7" fmla="*/ 48403 w 91124"/>
                <a:gd name="connsiteY7" fmla="*/ 35 h 94300"/>
                <a:gd name="connsiteX8" fmla="*/ 41827 w 91124"/>
                <a:gd name="connsiteY8" fmla="*/ 5241 h 94300"/>
                <a:gd name="connsiteX9" fmla="*/ 28358 w 91124"/>
                <a:gd name="connsiteY9" fmla="*/ 12311 h 94300"/>
                <a:gd name="connsiteX10" fmla="*/ 24728 w 91124"/>
                <a:gd name="connsiteY10" fmla="*/ 10557 h 94300"/>
                <a:gd name="connsiteX11" fmla="*/ 15416 w 91124"/>
                <a:gd name="connsiteY11" fmla="*/ 11763 h 94300"/>
                <a:gd name="connsiteX12" fmla="*/ 14206 w 91124"/>
                <a:gd name="connsiteY12" fmla="*/ 20202 h 94300"/>
                <a:gd name="connsiteX13" fmla="*/ 5578 w 91124"/>
                <a:gd name="connsiteY13" fmla="*/ 36644 h 94300"/>
                <a:gd name="connsiteX14" fmla="*/ 316 w 91124"/>
                <a:gd name="connsiteY14" fmla="*/ 41521 h 94300"/>
                <a:gd name="connsiteX15" fmla="*/ 1 w 91124"/>
                <a:gd name="connsiteY15" fmla="*/ 45905 h 94300"/>
                <a:gd name="connsiteX16" fmla="*/ 4315 w 91124"/>
                <a:gd name="connsiteY16" fmla="*/ 51386 h 94300"/>
                <a:gd name="connsiteX17" fmla="*/ 10623 w 91124"/>
                <a:gd name="connsiteY17" fmla="*/ 69036 h 94300"/>
                <a:gd name="connsiteX18" fmla="*/ 10576 w 91124"/>
                <a:gd name="connsiteY18" fmla="*/ 69142 h 94300"/>
                <a:gd name="connsiteX19" fmla="*/ 10576 w 91124"/>
                <a:gd name="connsiteY19" fmla="*/ 77637 h 94300"/>
                <a:gd name="connsiteX20" fmla="*/ 19572 w 91124"/>
                <a:gd name="connsiteY20" fmla="*/ 80322 h 94300"/>
                <a:gd name="connsiteX21" fmla="*/ 23465 w 91124"/>
                <a:gd name="connsiteY21" fmla="*/ 79062 h 94300"/>
                <a:gd name="connsiteX22" fmla="*/ 35724 w 91124"/>
                <a:gd name="connsiteY22" fmla="*/ 88159 h 94300"/>
                <a:gd name="connsiteX23" fmla="*/ 41511 w 91124"/>
                <a:gd name="connsiteY23" fmla="*/ 94242 h 94300"/>
                <a:gd name="connsiteX24" fmla="*/ 49824 w 91124"/>
                <a:gd name="connsiteY24" fmla="*/ 89694 h 94300"/>
                <a:gd name="connsiteX25" fmla="*/ 66703 w 91124"/>
                <a:gd name="connsiteY25" fmla="*/ 83390 h 94300"/>
                <a:gd name="connsiteX26" fmla="*/ 66923 w 91124"/>
                <a:gd name="connsiteY26" fmla="*/ 83501 h 94300"/>
                <a:gd name="connsiteX27" fmla="*/ 75396 w 91124"/>
                <a:gd name="connsiteY27" fmla="*/ 83094 h 94300"/>
                <a:gd name="connsiteX28" fmla="*/ 75604 w 91124"/>
                <a:gd name="connsiteY28" fmla="*/ 82843 h 94300"/>
                <a:gd name="connsiteX29" fmla="*/ 77550 w 91124"/>
                <a:gd name="connsiteY29" fmla="*/ 74184 h 94300"/>
                <a:gd name="connsiteX30" fmla="*/ 83675 w 91124"/>
                <a:gd name="connsiteY30" fmla="*/ 58288 h 94300"/>
                <a:gd name="connsiteX31" fmla="*/ 85179 w 91124"/>
                <a:gd name="connsiteY31" fmla="*/ 57743 h 94300"/>
                <a:gd name="connsiteX32" fmla="*/ 90861 w 91124"/>
                <a:gd name="connsiteY32" fmla="*/ 52865 h 94300"/>
                <a:gd name="connsiteX33" fmla="*/ 91124 w 91124"/>
                <a:gd name="connsiteY33" fmla="*/ 48426 h 94300"/>
                <a:gd name="connsiteX34" fmla="*/ 86126 w 91124"/>
                <a:gd name="connsiteY34" fmla="*/ 42946 h 94300"/>
                <a:gd name="connsiteX35" fmla="*/ 67396 w 91124"/>
                <a:gd name="connsiteY35" fmla="*/ 50838 h 94300"/>
                <a:gd name="connsiteX36" fmla="*/ 41744 w 91124"/>
                <a:gd name="connsiteY36" fmla="*/ 69833 h 94300"/>
                <a:gd name="connsiteX37" fmla="*/ 23202 w 91124"/>
                <a:gd name="connsiteY37" fmla="*/ 47440 h 94300"/>
                <a:gd name="connsiteX38" fmla="*/ 23518 w 91124"/>
                <a:gd name="connsiteY38" fmla="*/ 43549 h 94300"/>
                <a:gd name="connsiteX39" fmla="*/ 48862 w 91124"/>
                <a:gd name="connsiteY39" fmla="*/ 24242 h 94300"/>
                <a:gd name="connsiteX40" fmla="*/ 67659 w 91124"/>
                <a:gd name="connsiteY40" fmla="*/ 46947 h 9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91124" h="94300">
                  <a:moveTo>
                    <a:pt x="86126" y="42946"/>
                  </a:moveTo>
                  <a:cubicBezTo>
                    <a:pt x="80235" y="40284"/>
                    <a:pt x="77531" y="33151"/>
                    <a:pt x="80087" y="27015"/>
                  </a:cubicBezTo>
                  <a:cubicBezTo>
                    <a:pt x="80310" y="26479"/>
                    <a:pt x="80570" y="25961"/>
                    <a:pt x="80865" y="25464"/>
                  </a:cubicBezTo>
                  <a:cubicBezTo>
                    <a:pt x="83548" y="21737"/>
                    <a:pt x="82496" y="19545"/>
                    <a:pt x="80181" y="16585"/>
                  </a:cubicBezTo>
                  <a:cubicBezTo>
                    <a:pt x="78535" y="13661"/>
                    <a:pt x="74925" y="12680"/>
                    <a:pt x="72117" y="14395"/>
                  </a:cubicBezTo>
                  <a:cubicBezTo>
                    <a:pt x="71978" y="14480"/>
                    <a:pt x="71842" y="14571"/>
                    <a:pt x="71710" y="14667"/>
                  </a:cubicBezTo>
                  <a:cubicBezTo>
                    <a:pt x="65017" y="16731"/>
                    <a:pt x="57977" y="12795"/>
                    <a:pt x="55927" y="5844"/>
                  </a:cubicBezTo>
                  <a:cubicBezTo>
                    <a:pt x="55138" y="364"/>
                    <a:pt x="52191" y="364"/>
                    <a:pt x="48403" y="35"/>
                  </a:cubicBezTo>
                  <a:cubicBezTo>
                    <a:pt x="44615" y="-294"/>
                    <a:pt x="42879" y="1734"/>
                    <a:pt x="41827" y="5241"/>
                  </a:cubicBezTo>
                  <a:cubicBezTo>
                    <a:pt x="38740" y="9778"/>
                    <a:pt x="33695" y="12426"/>
                    <a:pt x="28358" y="12311"/>
                  </a:cubicBezTo>
                  <a:cubicBezTo>
                    <a:pt x="27060" y="11948"/>
                    <a:pt x="25832" y="11355"/>
                    <a:pt x="24728" y="10557"/>
                  </a:cubicBezTo>
                  <a:cubicBezTo>
                    <a:pt x="20993" y="6830"/>
                    <a:pt x="18415" y="9132"/>
                    <a:pt x="15416" y="11763"/>
                  </a:cubicBezTo>
                  <a:cubicBezTo>
                    <a:pt x="12417" y="14393"/>
                    <a:pt x="12575" y="16805"/>
                    <a:pt x="14206" y="20202"/>
                  </a:cubicBezTo>
                  <a:cubicBezTo>
                    <a:pt x="16144" y="27220"/>
                    <a:pt x="12294" y="34554"/>
                    <a:pt x="5578" y="36644"/>
                  </a:cubicBezTo>
                  <a:cubicBezTo>
                    <a:pt x="2884" y="36627"/>
                    <a:pt x="613" y="38732"/>
                    <a:pt x="316" y="41521"/>
                  </a:cubicBezTo>
                  <a:lnTo>
                    <a:pt x="1" y="45905"/>
                  </a:lnTo>
                  <a:cubicBezTo>
                    <a:pt x="-41" y="48585"/>
                    <a:pt x="1784" y="50904"/>
                    <a:pt x="4315" y="51386"/>
                  </a:cubicBezTo>
                  <a:cubicBezTo>
                    <a:pt x="10736" y="54445"/>
                    <a:pt x="13560" y="62348"/>
                    <a:pt x="10623" y="69036"/>
                  </a:cubicBezTo>
                  <a:cubicBezTo>
                    <a:pt x="10607" y="69071"/>
                    <a:pt x="10591" y="69107"/>
                    <a:pt x="10576" y="69142"/>
                  </a:cubicBezTo>
                  <a:cubicBezTo>
                    <a:pt x="8471" y="72211"/>
                    <a:pt x="7945" y="74623"/>
                    <a:pt x="10576" y="77637"/>
                  </a:cubicBezTo>
                  <a:cubicBezTo>
                    <a:pt x="13206" y="80651"/>
                    <a:pt x="15416" y="83117"/>
                    <a:pt x="19572" y="80322"/>
                  </a:cubicBezTo>
                  <a:cubicBezTo>
                    <a:pt x="20799" y="79692"/>
                    <a:pt x="22112" y="79267"/>
                    <a:pt x="23465" y="79062"/>
                  </a:cubicBezTo>
                  <a:cubicBezTo>
                    <a:pt x="28306" y="79500"/>
                    <a:pt x="35198" y="84542"/>
                    <a:pt x="35724" y="88159"/>
                  </a:cubicBezTo>
                  <a:cubicBezTo>
                    <a:pt x="36250" y="91776"/>
                    <a:pt x="37460" y="94133"/>
                    <a:pt x="41511" y="94242"/>
                  </a:cubicBezTo>
                  <a:cubicBezTo>
                    <a:pt x="45562" y="94352"/>
                    <a:pt x="48298" y="94790"/>
                    <a:pt x="49824" y="89694"/>
                  </a:cubicBezTo>
                  <a:cubicBezTo>
                    <a:pt x="52814" y="83097"/>
                    <a:pt x="60371" y="80276"/>
                    <a:pt x="66703" y="83390"/>
                  </a:cubicBezTo>
                  <a:cubicBezTo>
                    <a:pt x="66777" y="83426"/>
                    <a:pt x="66850" y="83463"/>
                    <a:pt x="66923" y="83501"/>
                  </a:cubicBezTo>
                  <a:cubicBezTo>
                    <a:pt x="69370" y="85826"/>
                    <a:pt x="73164" y="85643"/>
                    <a:pt x="75396" y="83094"/>
                  </a:cubicBezTo>
                  <a:cubicBezTo>
                    <a:pt x="75467" y="83012"/>
                    <a:pt x="75536" y="82929"/>
                    <a:pt x="75604" y="82843"/>
                  </a:cubicBezTo>
                  <a:cubicBezTo>
                    <a:pt x="78287" y="80267"/>
                    <a:pt x="79655" y="78240"/>
                    <a:pt x="77550" y="74184"/>
                  </a:cubicBezTo>
                  <a:cubicBezTo>
                    <a:pt x="75028" y="68033"/>
                    <a:pt x="77770" y="60916"/>
                    <a:pt x="83675" y="58288"/>
                  </a:cubicBezTo>
                  <a:cubicBezTo>
                    <a:pt x="84164" y="58071"/>
                    <a:pt x="84666" y="57889"/>
                    <a:pt x="85179" y="57743"/>
                  </a:cubicBezTo>
                  <a:cubicBezTo>
                    <a:pt x="88704" y="57085"/>
                    <a:pt x="90440" y="55551"/>
                    <a:pt x="90861" y="52865"/>
                  </a:cubicBezTo>
                  <a:lnTo>
                    <a:pt x="91124" y="48426"/>
                  </a:lnTo>
                  <a:cubicBezTo>
                    <a:pt x="90756" y="45851"/>
                    <a:pt x="89546" y="44097"/>
                    <a:pt x="86126" y="42946"/>
                  </a:cubicBezTo>
                  <a:close/>
                  <a:moveTo>
                    <a:pt x="67396" y="50838"/>
                  </a:moveTo>
                  <a:cubicBezTo>
                    <a:pt x="65348" y="63462"/>
                    <a:pt x="53863" y="71966"/>
                    <a:pt x="41744" y="69833"/>
                  </a:cubicBezTo>
                  <a:cubicBezTo>
                    <a:pt x="31202" y="67976"/>
                    <a:pt x="23417" y="58574"/>
                    <a:pt x="23202" y="47440"/>
                  </a:cubicBezTo>
                  <a:lnTo>
                    <a:pt x="23518" y="43549"/>
                  </a:lnTo>
                  <a:cubicBezTo>
                    <a:pt x="25398" y="30927"/>
                    <a:pt x="36745" y="22283"/>
                    <a:pt x="48862" y="24242"/>
                  </a:cubicBezTo>
                  <a:cubicBezTo>
                    <a:pt x="59626" y="25982"/>
                    <a:pt x="67589" y="35600"/>
                    <a:pt x="67659" y="46947"/>
                  </a:cubicBezTo>
                  <a:close/>
                </a:path>
              </a:pathLst>
            </a:custGeom>
            <a:solidFill>
              <a:schemeClr val="bg1"/>
            </a:solidFill>
            <a:ln w="11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b="0" i="0" dirty="0">
                <a:latin typeface="Calibri" panose="020F0502020204030204" pitchFamily="34" charset="0"/>
              </a:endParaRPr>
            </a:p>
          </p:txBody>
        </p:sp>
        <p:sp>
          <p:nvSpPr>
            <p:cNvPr id="49" name="Freihandform 48">
              <a:extLst>
                <a:ext uri="{FF2B5EF4-FFF2-40B4-BE49-F238E27FC236}">
                  <a16:creationId xmlns:a16="http://schemas.microsoft.com/office/drawing/2014/main" id="{FA92A01E-6DA3-B849-8FCF-7CF640E85F9C}"/>
                </a:ext>
              </a:extLst>
            </p:cNvPr>
            <p:cNvSpPr/>
            <p:nvPr/>
          </p:nvSpPr>
          <p:spPr>
            <a:xfrm>
              <a:off x="1366159" y="4008909"/>
              <a:ext cx="310747" cy="322959"/>
            </a:xfrm>
            <a:custGeom>
              <a:avLst/>
              <a:gdLst>
                <a:gd name="connsiteX0" fmla="*/ 309222 w 310747"/>
                <a:gd name="connsiteY0" fmla="*/ 132848 h 322959"/>
                <a:gd name="connsiteX1" fmla="*/ 289019 w 310747"/>
                <a:gd name="connsiteY1" fmla="*/ 117229 h 322959"/>
                <a:gd name="connsiteX2" fmla="*/ 259925 w 310747"/>
                <a:gd name="connsiteY2" fmla="*/ 62425 h 322959"/>
                <a:gd name="connsiteX3" fmla="*/ 251349 w 310747"/>
                <a:gd name="connsiteY3" fmla="*/ 32886 h 322959"/>
                <a:gd name="connsiteX4" fmla="*/ 221729 w 310747"/>
                <a:gd name="connsiteY4" fmla="*/ 32886 h 322959"/>
                <a:gd name="connsiteX5" fmla="*/ 162330 w 310747"/>
                <a:gd name="connsiteY5" fmla="*/ 15020 h 322959"/>
                <a:gd name="connsiteX6" fmla="*/ 133183 w 310747"/>
                <a:gd name="connsiteY6" fmla="*/ 716 h 322959"/>
                <a:gd name="connsiteX7" fmla="*/ 114559 w 310747"/>
                <a:gd name="connsiteY7" fmla="*/ 22638 h 322959"/>
                <a:gd name="connsiteX8" fmla="*/ 74153 w 310747"/>
                <a:gd name="connsiteY8" fmla="*/ 56068 h 322959"/>
                <a:gd name="connsiteX9" fmla="*/ 60737 w 310747"/>
                <a:gd name="connsiteY9" fmla="*/ 52670 h 322959"/>
                <a:gd name="connsiteX10" fmla="*/ 30328 w 310747"/>
                <a:gd name="connsiteY10" fmla="*/ 63631 h 322959"/>
                <a:gd name="connsiteX11" fmla="*/ 31906 w 310747"/>
                <a:gd name="connsiteY11" fmla="*/ 92786 h 322959"/>
                <a:gd name="connsiteX12" fmla="*/ 13913 w 310747"/>
                <a:gd name="connsiteY12" fmla="*/ 154715 h 322959"/>
                <a:gd name="connsiteX13" fmla="*/ 23 w 310747"/>
                <a:gd name="connsiteY13" fmla="*/ 174608 h 322959"/>
                <a:gd name="connsiteX14" fmla="*/ 1865 w 310747"/>
                <a:gd name="connsiteY14" fmla="*/ 189570 h 322959"/>
                <a:gd name="connsiteX15" fmla="*/ 20121 w 310747"/>
                <a:gd name="connsiteY15" fmla="*/ 205189 h 322959"/>
                <a:gd name="connsiteX16" fmla="*/ 52635 w 310747"/>
                <a:gd name="connsiteY16" fmla="*/ 259992 h 322959"/>
                <a:gd name="connsiteX17" fmla="*/ 58212 w 310747"/>
                <a:gd name="connsiteY17" fmla="*/ 288710 h 322959"/>
                <a:gd name="connsiteX18" fmla="*/ 90252 w 310747"/>
                <a:gd name="connsiteY18" fmla="*/ 291011 h 322959"/>
                <a:gd name="connsiteX19" fmla="*/ 102458 w 310747"/>
                <a:gd name="connsiteY19" fmla="*/ 284161 h 322959"/>
                <a:gd name="connsiteX20" fmla="*/ 149809 w 310747"/>
                <a:gd name="connsiteY20" fmla="*/ 306082 h 322959"/>
                <a:gd name="connsiteX21" fmla="*/ 173116 w 310747"/>
                <a:gd name="connsiteY21" fmla="*/ 322524 h 322959"/>
                <a:gd name="connsiteX22" fmla="*/ 197948 w 310747"/>
                <a:gd name="connsiteY22" fmla="*/ 301205 h 322959"/>
                <a:gd name="connsiteX23" fmla="*/ 215784 w 310747"/>
                <a:gd name="connsiteY23" fmla="*/ 274022 h 322959"/>
                <a:gd name="connsiteX24" fmla="*/ 226306 w 310747"/>
                <a:gd name="connsiteY24" fmla="*/ 268542 h 322959"/>
                <a:gd name="connsiteX25" fmla="*/ 250613 w 310747"/>
                <a:gd name="connsiteY25" fmla="*/ 267994 h 322959"/>
                <a:gd name="connsiteX26" fmla="*/ 279286 w 310747"/>
                <a:gd name="connsiteY26" fmla="*/ 259718 h 322959"/>
                <a:gd name="connsiteX27" fmla="*/ 280233 w 310747"/>
                <a:gd name="connsiteY27" fmla="*/ 229302 h 322959"/>
                <a:gd name="connsiteX28" fmla="*/ 294964 w 310747"/>
                <a:gd name="connsiteY28" fmla="*/ 168525 h 322959"/>
                <a:gd name="connsiteX29" fmla="*/ 310748 w 310747"/>
                <a:gd name="connsiteY29" fmla="*/ 148083 h 322959"/>
                <a:gd name="connsiteX30" fmla="*/ 155859 w 310747"/>
                <a:gd name="connsiteY30" fmla="*/ 250237 h 322959"/>
                <a:gd name="connsiteX31" fmla="*/ 70470 w 310747"/>
                <a:gd name="connsiteY31" fmla="*/ 161291 h 322959"/>
                <a:gd name="connsiteX32" fmla="*/ 155859 w 310747"/>
                <a:gd name="connsiteY32" fmla="*/ 72345 h 322959"/>
                <a:gd name="connsiteX33" fmla="*/ 241248 w 310747"/>
                <a:gd name="connsiteY33" fmla="*/ 161291 h 322959"/>
                <a:gd name="connsiteX34" fmla="*/ 155859 w 310747"/>
                <a:gd name="connsiteY34" fmla="*/ 250237 h 322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10747" h="322959">
                  <a:moveTo>
                    <a:pt x="309222" y="132848"/>
                  </a:moveTo>
                  <a:cubicBezTo>
                    <a:pt x="306539" y="123531"/>
                    <a:pt x="301172" y="118654"/>
                    <a:pt x="289019" y="117229"/>
                  </a:cubicBezTo>
                  <a:cubicBezTo>
                    <a:pt x="266554" y="114434"/>
                    <a:pt x="250349" y="83963"/>
                    <a:pt x="259925" y="62425"/>
                  </a:cubicBezTo>
                  <a:cubicBezTo>
                    <a:pt x="266133" y="48067"/>
                    <a:pt x="261030" y="41381"/>
                    <a:pt x="251349" y="32886"/>
                  </a:cubicBezTo>
                  <a:cubicBezTo>
                    <a:pt x="241669" y="24391"/>
                    <a:pt x="232672" y="23624"/>
                    <a:pt x="221729" y="32886"/>
                  </a:cubicBezTo>
                  <a:cubicBezTo>
                    <a:pt x="205419" y="46423"/>
                    <a:pt x="170064" y="36503"/>
                    <a:pt x="162330" y="15020"/>
                  </a:cubicBezTo>
                  <a:cubicBezTo>
                    <a:pt x="156227" y="-2408"/>
                    <a:pt x="146126" y="-435"/>
                    <a:pt x="133183" y="716"/>
                  </a:cubicBezTo>
                  <a:cubicBezTo>
                    <a:pt x="119294" y="2032"/>
                    <a:pt x="115822" y="10307"/>
                    <a:pt x="114559" y="22638"/>
                  </a:cubicBezTo>
                  <a:cubicBezTo>
                    <a:pt x="113296" y="34969"/>
                    <a:pt x="90621" y="53766"/>
                    <a:pt x="74153" y="56068"/>
                  </a:cubicBezTo>
                  <a:cubicBezTo>
                    <a:pt x="69523" y="55774"/>
                    <a:pt x="64980" y="54623"/>
                    <a:pt x="60737" y="52670"/>
                  </a:cubicBezTo>
                  <a:cubicBezTo>
                    <a:pt x="45848" y="42915"/>
                    <a:pt x="38693" y="52670"/>
                    <a:pt x="30328" y="63631"/>
                  </a:cubicBezTo>
                  <a:cubicBezTo>
                    <a:pt x="21962" y="74592"/>
                    <a:pt x="24067" y="82757"/>
                    <a:pt x="31906" y="92786"/>
                  </a:cubicBezTo>
                  <a:cubicBezTo>
                    <a:pt x="44638" y="109228"/>
                    <a:pt x="34379" y="147590"/>
                    <a:pt x="13913" y="154715"/>
                  </a:cubicBezTo>
                  <a:cubicBezTo>
                    <a:pt x="1549" y="159044"/>
                    <a:pt x="-240" y="165675"/>
                    <a:pt x="23" y="174608"/>
                  </a:cubicBezTo>
                  <a:lnTo>
                    <a:pt x="1865" y="189570"/>
                  </a:lnTo>
                  <a:cubicBezTo>
                    <a:pt x="3706" y="198010"/>
                    <a:pt x="7126" y="204257"/>
                    <a:pt x="20121" y="205189"/>
                  </a:cubicBezTo>
                  <a:cubicBezTo>
                    <a:pt x="41692" y="206833"/>
                    <a:pt x="61000" y="240976"/>
                    <a:pt x="52635" y="259992"/>
                  </a:cubicBezTo>
                  <a:cubicBezTo>
                    <a:pt x="47374" y="271830"/>
                    <a:pt x="47374" y="280379"/>
                    <a:pt x="58212" y="288710"/>
                  </a:cubicBezTo>
                  <a:cubicBezTo>
                    <a:pt x="69050" y="297040"/>
                    <a:pt x="78204" y="304438"/>
                    <a:pt x="90252" y="291011"/>
                  </a:cubicBezTo>
                  <a:cubicBezTo>
                    <a:pt x="93906" y="288004"/>
                    <a:pt x="98037" y="285686"/>
                    <a:pt x="102458" y="284161"/>
                  </a:cubicBezTo>
                  <a:cubicBezTo>
                    <a:pt x="118926" y="282078"/>
                    <a:pt x="145337" y="294354"/>
                    <a:pt x="149809" y="306082"/>
                  </a:cubicBezTo>
                  <a:cubicBezTo>
                    <a:pt x="154281" y="317810"/>
                    <a:pt x="159437" y="324825"/>
                    <a:pt x="173116" y="322524"/>
                  </a:cubicBezTo>
                  <a:cubicBezTo>
                    <a:pt x="185953" y="320222"/>
                    <a:pt x="196212" y="319509"/>
                    <a:pt x="197948" y="301205"/>
                  </a:cubicBezTo>
                  <a:cubicBezTo>
                    <a:pt x="199739" y="289841"/>
                    <a:pt x="206270" y="279887"/>
                    <a:pt x="215784" y="274022"/>
                  </a:cubicBezTo>
                  <a:cubicBezTo>
                    <a:pt x="219071" y="271770"/>
                    <a:pt x="222604" y="269931"/>
                    <a:pt x="226306" y="268542"/>
                  </a:cubicBezTo>
                  <a:cubicBezTo>
                    <a:pt x="234051" y="265170"/>
                    <a:pt x="242734" y="264974"/>
                    <a:pt x="250613" y="267994"/>
                  </a:cubicBezTo>
                  <a:cubicBezTo>
                    <a:pt x="263450" y="273913"/>
                    <a:pt x="271394" y="271063"/>
                    <a:pt x="279286" y="259718"/>
                  </a:cubicBezTo>
                  <a:cubicBezTo>
                    <a:pt x="287178" y="248374"/>
                    <a:pt x="289808" y="241414"/>
                    <a:pt x="280233" y="229302"/>
                  </a:cubicBezTo>
                  <a:cubicBezTo>
                    <a:pt x="265712" y="210943"/>
                    <a:pt x="273919" y="177129"/>
                    <a:pt x="294964" y="168525"/>
                  </a:cubicBezTo>
                  <a:cubicBezTo>
                    <a:pt x="306381" y="163922"/>
                    <a:pt x="310327" y="157564"/>
                    <a:pt x="310748" y="148083"/>
                  </a:cubicBezTo>
                  <a:close/>
                  <a:moveTo>
                    <a:pt x="155859" y="250237"/>
                  </a:moveTo>
                  <a:cubicBezTo>
                    <a:pt x="108700" y="250237"/>
                    <a:pt x="70470" y="210415"/>
                    <a:pt x="70470" y="161291"/>
                  </a:cubicBezTo>
                  <a:cubicBezTo>
                    <a:pt x="70470" y="112167"/>
                    <a:pt x="108700" y="72345"/>
                    <a:pt x="155859" y="72345"/>
                  </a:cubicBezTo>
                  <a:cubicBezTo>
                    <a:pt x="203018" y="72345"/>
                    <a:pt x="241248" y="112167"/>
                    <a:pt x="241248" y="161291"/>
                  </a:cubicBezTo>
                  <a:cubicBezTo>
                    <a:pt x="241190" y="210390"/>
                    <a:pt x="202994" y="250177"/>
                    <a:pt x="155859" y="250237"/>
                  </a:cubicBezTo>
                  <a:close/>
                </a:path>
              </a:pathLst>
            </a:custGeom>
            <a:noFill/>
            <a:ln w="1143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 b="0" i="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50" name="Grafik 44">
            <a:extLst>
              <a:ext uri="{FF2B5EF4-FFF2-40B4-BE49-F238E27FC236}">
                <a16:creationId xmlns:a16="http://schemas.microsoft.com/office/drawing/2014/main" id="{C16E1EA4-48EB-0343-B04E-789D9E1DA6D0}"/>
              </a:ext>
            </a:extLst>
          </p:cNvPr>
          <p:cNvGrpSpPr/>
          <p:nvPr userDrawn="1"/>
        </p:nvGrpSpPr>
        <p:grpSpPr>
          <a:xfrm>
            <a:off x="2693964" y="3997436"/>
            <a:ext cx="448758" cy="406979"/>
            <a:chOff x="1228148" y="4008909"/>
            <a:chExt cx="448758" cy="406979"/>
          </a:xfrm>
        </p:grpSpPr>
        <p:sp>
          <p:nvSpPr>
            <p:cNvPr id="51" name="Freihandform 50">
              <a:extLst>
                <a:ext uri="{FF2B5EF4-FFF2-40B4-BE49-F238E27FC236}">
                  <a16:creationId xmlns:a16="http://schemas.microsoft.com/office/drawing/2014/main" id="{D7968ACA-6624-A94F-893E-1EF6DED6E4EF}"/>
                </a:ext>
              </a:extLst>
            </p:cNvPr>
            <p:cNvSpPr/>
            <p:nvPr/>
          </p:nvSpPr>
          <p:spPr>
            <a:xfrm>
              <a:off x="1228148" y="4219901"/>
              <a:ext cx="180018" cy="186620"/>
            </a:xfrm>
            <a:custGeom>
              <a:avLst/>
              <a:gdLst>
                <a:gd name="connsiteX0" fmla="*/ 170390 w 180018"/>
                <a:gd name="connsiteY0" fmla="*/ 84952 h 186620"/>
                <a:gd name="connsiteX1" fmla="*/ 158237 w 180018"/>
                <a:gd name="connsiteY1" fmla="*/ 53705 h 186620"/>
                <a:gd name="connsiteX2" fmla="*/ 159868 w 180018"/>
                <a:gd name="connsiteY2" fmla="*/ 50426 h 186620"/>
                <a:gd name="connsiteX3" fmla="*/ 158395 w 180018"/>
                <a:gd name="connsiteY3" fmla="*/ 32943 h 186620"/>
                <a:gd name="connsiteX4" fmla="*/ 142496 w 180018"/>
                <a:gd name="connsiteY4" fmla="*/ 28572 h 186620"/>
                <a:gd name="connsiteX5" fmla="*/ 142085 w 180018"/>
                <a:gd name="connsiteY5" fmla="*/ 28833 h 186620"/>
                <a:gd name="connsiteX6" fmla="*/ 110518 w 180018"/>
                <a:gd name="connsiteY6" fmla="*/ 11570 h 186620"/>
                <a:gd name="connsiteX7" fmla="*/ 95577 w 180018"/>
                <a:gd name="connsiteY7" fmla="*/ 116 h 186620"/>
                <a:gd name="connsiteX8" fmla="*/ 82634 w 180018"/>
                <a:gd name="connsiteY8" fmla="*/ 10255 h 186620"/>
                <a:gd name="connsiteX9" fmla="*/ 56328 w 180018"/>
                <a:gd name="connsiteY9" fmla="*/ 24284 h 186620"/>
                <a:gd name="connsiteX10" fmla="*/ 49068 w 180018"/>
                <a:gd name="connsiteY10" fmla="*/ 20722 h 186620"/>
                <a:gd name="connsiteX11" fmla="*/ 30759 w 180018"/>
                <a:gd name="connsiteY11" fmla="*/ 23134 h 186620"/>
                <a:gd name="connsiteX12" fmla="*/ 28392 w 180018"/>
                <a:gd name="connsiteY12" fmla="*/ 39849 h 186620"/>
                <a:gd name="connsiteX13" fmla="*/ 11293 w 180018"/>
                <a:gd name="connsiteY13" fmla="*/ 72731 h 186620"/>
                <a:gd name="connsiteX14" fmla="*/ 1244 w 180018"/>
                <a:gd name="connsiteY14" fmla="*/ 82322 h 186620"/>
                <a:gd name="connsiteX15" fmla="*/ 34 w 180018"/>
                <a:gd name="connsiteY15" fmla="*/ 90926 h 186620"/>
                <a:gd name="connsiteX16" fmla="*/ 8610 w 180018"/>
                <a:gd name="connsiteY16" fmla="*/ 101886 h 186620"/>
                <a:gd name="connsiteX17" fmla="*/ 20921 w 180018"/>
                <a:gd name="connsiteY17" fmla="*/ 136906 h 186620"/>
                <a:gd name="connsiteX18" fmla="*/ 20921 w 180018"/>
                <a:gd name="connsiteY18" fmla="*/ 153840 h 186620"/>
                <a:gd name="connsiteX19" fmla="*/ 38809 w 180018"/>
                <a:gd name="connsiteY19" fmla="*/ 158937 h 186620"/>
                <a:gd name="connsiteX20" fmla="*/ 46437 w 180018"/>
                <a:gd name="connsiteY20" fmla="*/ 156526 h 186620"/>
                <a:gd name="connsiteX21" fmla="*/ 70691 w 180018"/>
                <a:gd name="connsiteY21" fmla="*/ 174501 h 186620"/>
                <a:gd name="connsiteX22" fmla="*/ 82108 w 180018"/>
                <a:gd name="connsiteY22" fmla="*/ 186503 h 186620"/>
                <a:gd name="connsiteX23" fmla="*/ 98470 w 180018"/>
                <a:gd name="connsiteY23" fmla="*/ 177461 h 186620"/>
                <a:gd name="connsiteX24" fmla="*/ 132194 w 180018"/>
                <a:gd name="connsiteY24" fmla="*/ 165185 h 186620"/>
                <a:gd name="connsiteX25" fmla="*/ 148705 w 180018"/>
                <a:gd name="connsiteY25" fmla="*/ 164680 h 186620"/>
                <a:gd name="connsiteX26" fmla="*/ 149293 w 180018"/>
                <a:gd name="connsiteY26" fmla="*/ 163979 h 186620"/>
                <a:gd name="connsiteX27" fmla="*/ 153186 w 180018"/>
                <a:gd name="connsiteY27" fmla="*/ 146880 h 186620"/>
                <a:gd name="connsiteX28" fmla="*/ 165139 w 180018"/>
                <a:gd name="connsiteY28" fmla="*/ 115549 h 186620"/>
                <a:gd name="connsiteX29" fmla="*/ 168391 w 180018"/>
                <a:gd name="connsiteY29" fmla="*/ 114382 h 186620"/>
                <a:gd name="connsiteX30" fmla="*/ 179439 w 180018"/>
                <a:gd name="connsiteY30" fmla="*/ 104681 h 186620"/>
                <a:gd name="connsiteX31" fmla="*/ 180018 w 180018"/>
                <a:gd name="connsiteY31" fmla="*/ 95913 h 186620"/>
                <a:gd name="connsiteX32" fmla="*/ 170390 w 180018"/>
                <a:gd name="connsiteY32" fmla="*/ 84952 h 186620"/>
                <a:gd name="connsiteX33" fmla="*/ 133562 w 180018"/>
                <a:gd name="connsiteY33" fmla="*/ 100516 h 186620"/>
                <a:gd name="connsiteX34" fmla="*/ 84998 w 180018"/>
                <a:gd name="connsiteY34" fmla="*/ 140753 h 186620"/>
                <a:gd name="connsiteX35" fmla="*/ 46122 w 180018"/>
                <a:gd name="connsiteY35" fmla="*/ 93556 h 186620"/>
                <a:gd name="connsiteX36" fmla="*/ 46700 w 180018"/>
                <a:gd name="connsiteY36" fmla="*/ 86377 h 186620"/>
                <a:gd name="connsiteX37" fmla="*/ 96819 w 180018"/>
                <a:gd name="connsiteY37" fmla="*/ 48265 h 186620"/>
                <a:gd name="connsiteX38" fmla="*/ 133930 w 180018"/>
                <a:gd name="connsiteY38" fmla="*/ 93063 h 186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80018" h="186620">
                  <a:moveTo>
                    <a:pt x="170390" y="84952"/>
                  </a:moveTo>
                  <a:cubicBezTo>
                    <a:pt x="158750" y="79819"/>
                    <a:pt x="153309" y="65829"/>
                    <a:pt x="158237" y="53705"/>
                  </a:cubicBezTo>
                  <a:cubicBezTo>
                    <a:pt x="158698" y="52570"/>
                    <a:pt x="159244" y="51473"/>
                    <a:pt x="159868" y="50426"/>
                  </a:cubicBezTo>
                  <a:cubicBezTo>
                    <a:pt x="165129" y="43082"/>
                    <a:pt x="162972" y="38753"/>
                    <a:pt x="158395" y="32943"/>
                  </a:cubicBezTo>
                  <a:cubicBezTo>
                    <a:pt x="155163" y="27163"/>
                    <a:pt x="148045" y="25206"/>
                    <a:pt x="142496" y="28572"/>
                  </a:cubicBezTo>
                  <a:cubicBezTo>
                    <a:pt x="142357" y="28656"/>
                    <a:pt x="142220" y="28743"/>
                    <a:pt x="142085" y="28833"/>
                  </a:cubicBezTo>
                  <a:cubicBezTo>
                    <a:pt x="131563" y="34313"/>
                    <a:pt x="112412" y="24668"/>
                    <a:pt x="110518" y="11570"/>
                  </a:cubicBezTo>
                  <a:cubicBezTo>
                    <a:pt x="108993" y="1048"/>
                    <a:pt x="103047" y="993"/>
                    <a:pt x="95577" y="116"/>
                  </a:cubicBezTo>
                  <a:cubicBezTo>
                    <a:pt x="88106" y="-761"/>
                    <a:pt x="84791" y="3404"/>
                    <a:pt x="82634" y="10255"/>
                  </a:cubicBezTo>
                  <a:cubicBezTo>
                    <a:pt x="80477" y="17105"/>
                    <a:pt x="65693" y="24997"/>
                    <a:pt x="56328" y="24284"/>
                  </a:cubicBezTo>
                  <a:cubicBezTo>
                    <a:pt x="53722" y="23562"/>
                    <a:pt x="51262" y="22355"/>
                    <a:pt x="49068" y="20722"/>
                  </a:cubicBezTo>
                  <a:cubicBezTo>
                    <a:pt x="41755" y="13488"/>
                    <a:pt x="36652" y="18037"/>
                    <a:pt x="30759" y="23134"/>
                  </a:cubicBezTo>
                  <a:cubicBezTo>
                    <a:pt x="24867" y="28230"/>
                    <a:pt x="25077" y="33163"/>
                    <a:pt x="28392" y="39849"/>
                  </a:cubicBezTo>
                  <a:cubicBezTo>
                    <a:pt x="33653" y="50809"/>
                    <a:pt x="23709" y="70922"/>
                    <a:pt x="11293" y="72731"/>
                  </a:cubicBezTo>
                  <a:cubicBezTo>
                    <a:pt x="3822" y="73717"/>
                    <a:pt x="2033" y="77389"/>
                    <a:pt x="1244" y="82322"/>
                  </a:cubicBezTo>
                  <a:lnTo>
                    <a:pt x="34" y="90926"/>
                  </a:lnTo>
                  <a:cubicBezTo>
                    <a:pt x="-400" y="96386"/>
                    <a:pt x="3388" y="101228"/>
                    <a:pt x="8610" y="101886"/>
                  </a:cubicBezTo>
                  <a:cubicBezTo>
                    <a:pt x="20710" y="105394"/>
                    <a:pt x="27760" y="127041"/>
                    <a:pt x="20921" y="136906"/>
                  </a:cubicBezTo>
                  <a:cubicBezTo>
                    <a:pt x="16659" y="142989"/>
                    <a:pt x="15660" y="147867"/>
                    <a:pt x="20921" y="153840"/>
                  </a:cubicBezTo>
                  <a:cubicBezTo>
                    <a:pt x="26182" y="159814"/>
                    <a:pt x="30443" y="164801"/>
                    <a:pt x="38809" y="158937"/>
                  </a:cubicBezTo>
                  <a:cubicBezTo>
                    <a:pt x="41202" y="157689"/>
                    <a:pt x="43782" y="156874"/>
                    <a:pt x="46437" y="156526"/>
                  </a:cubicBezTo>
                  <a:cubicBezTo>
                    <a:pt x="55960" y="157348"/>
                    <a:pt x="69534" y="167486"/>
                    <a:pt x="70691" y="174501"/>
                  </a:cubicBezTo>
                  <a:cubicBezTo>
                    <a:pt x="71849" y="181516"/>
                    <a:pt x="74006" y="186284"/>
                    <a:pt x="82108" y="186503"/>
                  </a:cubicBezTo>
                  <a:cubicBezTo>
                    <a:pt x="90210" y="186723"/>
                    <a:pt x="95471" y="187599"/>
                    <a:pt x="98470" y="177461"/>
                  </a:cubicBezTo>
                  <a:cubicBezTo>
                    <a:pt x="102258" y="164801"/>
                    <a:pt x="122356" y="158005"/>
                    <a:pt x="132194" y="165185"/>
                  </a:cubicBezTo>
                  <a:cubicBezTo>
                    <a:pt x="136887" y="169795"/>
                    <a:pt x="144279" y="169569"/>
                    <a:pt x="148705" y="164680"/>
                  </a:cubicBezTo>
                  <a:cubicBezTo>
                    <a:pt x="148909" y="164455"/>
                    <a:pt x="149106" y="164221"/>
                    <a:pt x="149293" y="163979"/>
                  </a:cubicBezTo>
                  <a:cubicBezTo>
                    <a:pt x="154554" y="158937"/>
                    <a:pt x="157290" y="154882"/>
                    <a:pt x="153186" y="146880"/>
                  </a:cubicBezTo>
                  <a:cubicBezTo>
                    <a:pt x="148181" y="134790"/>
                    <a:pt x="153532" y="120763"/>
                    <a:pt x="165139" y="115549"/>
                  </a:cubicBezTo>
                  <a:cubicBezTo>
                    <a:pt x="166193" y="115075"/>
                    <a:pt x="167280" y="114685"/>
                    <a:pt x="168391" y="114382"/>
                  </a:cubicBezTo>
                  <a:cubicBezTo>
                    <a:pt x="173783" y="114194"/>
                    <a:pt x="178349" y="110185"/>
                    <a:pt x="179439" y="104681"/>
                  </a:cubicBezTo>
                  <a:lnTo>
                    <a:pt x="180018" y="95913"/>
                  </a:lnTo>
                  <a:cubicBezTo>
                    <a:pt x="179545" y="90432"/>
                    <a:pt x="177072" y="86980"/>
                    <a:pt x="170390" y="84952"/>
                  </a:cubicBezTo>
                  <a:close/>
                  <a:moveTo>
                    <a:pt x="133562" y="100516"/>
                  </a:moveTo>
                  <a:cubicBezTo>
                    <a:pt x="130818" y="125597"/>
                    <a:pt x="109075" y="143611"/>
                    <a:pt x="84998" y="140753"/>
                  </a:cubicBezTo>
                  <a:cubicBezTo>
                    <a:pt x="62178" y="138044"/>
                    <a:pt x="45225" y="117462"/>
                    <a:pt x="46122" y="93556"/>
                  </a:cubicBezTo>
                  <a:lnTo>
                    <a:pt x="46700" y="86377"/>
                  </a:lnTo>
                  <a:cubicBezTo>
                    <a:pt x="50437" y="61436"/>
                    <a:pt x="72876" y="44373"/>
                    <a:pt x="96819" y="48265"/>
                  </a:cubicBezTo>
                  <a:cubicBezTo>
                    <a:pt x="118052" y="51716"/>
                    <a:pt x="133760" y="70678"/>
                    <a:pt x="133930" y="93063"/>
                  </a:cubicBezTo>
                  <a:close/>
                </a:path>
              </a:pathLst>
            </a:custGeom>
            <a:noFill/>
            <a:ln w="1143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 b="0" i="0" dirty="0">
                <a:latin typeface="Calibri" panose="020F0502020204030204" pitchFamily="34" charset="0"/>
              </a:endParaRPr>
            </a:p>
          </p:txBody>
        </p:sp>
        <p:sp>
          <p:nvSpPr>
            <p:cNvPr id="52" name="Freihandform 51">
              <a:extLst>
                <a:ext uri="{FF2B5EF4-FFF2-40B4-BE49-F238E27FC236}">
                  <a16:creationId xmlns:a16="http://schemas.microsoft.com/office/drawing/2014/main" id="{4F010765-1E19-6A48-B022-72E4E8E278AC}"/>
                </a:ext>
              </a:extLst>
            </p:cNvPr>
            <p:cNvSpPr/>
            <p:nvPr/>
          </p:nvSpPr>
          <p:spPr>
            <a:xfrm>
              <a:off x="1418267" y="4321588"/>
              <a:ext cx="91124" cy="94300"/>
            </a:xfrm>
            <a:custGeom>
              <a:avLst/>
              <a:gdLst>
                <a:gd name="connsiteX0" fmla="*/ 86126 w 91124"/>
                <a:gd name="connsiteY0" fmla="*/ 42946 h 94300"/>
                <a:gd name="connsiteX1" fmla="*/ 80087 w 91124"/>
                <a:gd name="connsiteY1" fmla="*/ 27015 h 94300"/>
                <a:gd name="connsiteX2" fmla="*/ 80865 w 91124"/>
                <a:gd name="connsiteY2" fmla="*/ 25464 h 94300"/>
                <a:gd name="connsiteX3" fmla="*/ 80181 w 91124"/>
                <a:gd name="connsiteY3" fmla="*/ 16585 h 94300"/>
                <a:gd name="connsiteX4" fmla="*/ 72117 w 91124"/>
                <a:gd name="connsiteY4" fmla="*/ 14395 h 94300"/>
                <a:gd name="connsiteX5" fmla="*/ 71710 w 91124"/>
                <a:gd name="connsiteY5" fmla="*/ 14667 h 94300"/>
                <a:gd name="connsiteX6" fmla="*/ 55927 w 91124"/>
                <a:gd name="connsiteY6" fmla="*/ 5844 h 94300"/>
                <a:gd name="connsiteX7" fmla="*/ 48403 w 91124"/>
                <a:gd name="connsiteY7" fmla="*/ 35 h 94300"/>
                <a:gd name="connsiteX8" fmla="*/ 41827 w 91124"/>
                <a:gd name="connsiteY8" fmla="*/ 5241 h 94300"/>
                <a:gd name="connsiteX9" fmla="*/ 28358 w 91124"/>
                <a:gd name="connsiteY9" fmla="*/ 12311 h 94300"/>
                <a:gd name="connsiteX10" fmla="*/ 24728 w 91124"/>
                <a:gd name="connsiteY10" fmla="*/ 10557 h 94300"/>
                <a:gd name="connsiteX11" fmla="*/ 15416 w 91124"/>
                <a:gd name="connsiteY11" fmla="*/ 11763 h 94300"/>
                <a:gd name="connsiteX12" fmla="*/ 14206 w 91124"/>
                <a:gd name="connsiteY12" fmla="*/ 20202 h 94300"/>
                <a:gd name="connsiteX13" fmla="*/ 5578 w 91124"/>
                <a:gd name="connsiteY13" fmla="*/ 36644 h 94300"/>
                <a:gd name="connsiteX14" fmla="*/ 316 w 91124"/>
                <a:gd name="connsiteY14" fmla="*/ 41521 h 94300"/>
                <a:gd name="connsiteX15" fmla="*/ 1 w 91124"/>
                <a:gd name="connsiteY15" fmla="*/ 45905 h 94300"/>
                <a:gd name="connsiteX16" fmla="*/ 4315 w 91124"/>
                <a:gd name="connsiteY16" fmla="*/ 51386 h 94300"/>
                <a:gd name="connsiteX17" fmla="*/ 10623 w 91124"/>
                <a:gd name="connsiteY17" fmla="*/ 69036 h 94300"/>
                <a:gd name="connsiteX18" fmla="*/ 10576 w 91124"/>
                <a:gd name="connsiteY18" fmla="*/ 69142 h 94300"/>
                <a:gd name="connsiteX19" fmla="*/ 10576 w 91124"/>
                <a:gd name="connsiteY19" fmla="*/ 77637 h 94300"/>
                <a:gd name="connsiteX20" fmla="*/ 19572 w 91124"/>
                <a:gd name="connsiteY20" fmla="*/ 80322 h 94300"/>
                <a:gd name="connsiteX21" fmla="*/ 23465 w 91124"/>
                <a:gd name="connsiteY21" fmla="*/ 79062 h 94300"/>
                <a:gd name="connsiteX22" fmla="*/ 35724 w 91124"/>
                <a:gd name="connsiteY22" fmla="*/ 88159 h 94300"/>
                <a:gd name="connsiteX23" fmla="*/ 41511 w 91124"/>
                <a:gd name="connsiteY23" fmla="*/ 94242 h 94300"/>
                <a:gd name="connsiteX24" fmla="*/ 49824 w 91124"/>
                <a:gd name="connsiteY24" fmla="*/ 89694 h 94300"/>
                <a:gd name="connsiteX25" fmla="*/ 66703 w 91124"/>
                <a:gd name="connsiteY25" fmla="*/ 83390 h 94300"/>
                <a:gd name="connsiteX26" fmla="*/ 66923 w 91124"/>
                <a:gd name="connsiteY26" fmla="*/ 83501 h 94300"/>
                <a:gd name="connsiteX27" fmla="*/ 75396 w 91124"/>
                <a:gd name="connsiteY27" fmla="*/ 83094 h 94300"/>
                <a:gd name="connsiteX28" fmla="*/ 75604 w 91124"/>
                <a:gd name="connsiteY28" fmla="*/ 82843 h 94300"/>
                <a:gd name="connsiteX29" fmla="*/ 77550 w 91124"/>
                <a:gd name="connsiteY29" fmla="*/ 74184 h 94300"/>
                <a:gd name="connsiteX30" fmla="*/ 83675 w 91124"/>
                <a:gd name="connsiteY30" fmla="*/ 58288 h 94300"/>
                <a:gd name="connsiteX31" fmla="*/ 85179 w 91124"/>
                <a:gd name="connsiteY31" fmla="*/ 57743 h 94300"/>
                <a:gd name="connsiteX32" fmla="*/ 90861 w 91124"/>
                <a:gd name="connsiteY32" fmla="*/ 52865 h 94300"/>
                <a:gd name="connsiteX33" fmla="*/ 91124 w 91124"/>
                <a:gd name="connsiteY33" fmla="*/ 48426 h 94300"/>
                <a:gd name="connsiteX34" fmla="*/ 86126 w 91124"/>
                <a:gd name="connsiteY34" fmla="*/ 42946 h 94300"/>
                <a:gd name="connsiteX35" fmla="*/ 67396 w 91124"/>
                <a:gd name="connsiteY35" fmla="*/ 50838 h 94300"/>
                <a:gd name="connsiteX36" fmla="*/ 41744 w 91124"/>
                <a:gd name="connsiteY36" fmla="*/ 69833 h 94300"/>
                <a:gd name="connsiteX37" fmla="*/ 23202 w 91124"/>
                <a:gd name="connsiteY37" fmla="*/ 47440 h 94300"/>
                <a:gd name="connsiteX38" fmla="*/ 23518 w 91124"/>
                <a:gd name="connsiteY38" fmla="*/ 43549 h 94300"/>
                <a:gd name="connsiteX39" fmla="*/ 48862 w 91124"/>
                <a:gd name="connsiteY39" fmla="*/ 24242 h 94300"/>
                <a:gd name="connsiteX40" fmla="*/ 67659 w 91124"/>
                <a:gd name="connsiteY40" fmla="*/ 46947 h 9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91124" h="94300">
                  <a:moveTo>
                    <a:pt x="86126" y="42946"/>
                  </a:moveTo>
                  <a:cubicBezTo>
                    <a:pt x="80235" y="40284"/>
                    <a:pt x="77531" y="33151"/>
                    <a:pt x="80087" y="27015"/>
                  </a:cubicBezTo>
                  <a:cubicBezTo>
                    <a:pt x="80310" y="26479"/>
                    <a:pt x="80570" y="25961"/>
                    <a:pt x="80865" y="25464"/>
                  </a:cubicBezTo>
                  <a:cubicBezTo>
                    <a:pt x="83548" y="21737"/>
                    <a:pt x="82496" y="19545"/>
                    <a:pt x="80181" y="16585"/>
                  </a:cubicBezTo>
                  <a:cubicBezTo>
                    <a:pt x="78535" y="13661"/>
                    <a:pt x="74925" y="12680"/>
                    <a:pt x="72117" y="14395"/>
                  </a:cubicBezTo>
                  <a:cubicBezTo>
                    <a:pt x="71978" y="14480"/>
                    <a:pt x="71842" y="14571"/>
                    <a:pt x="71710" y="14667"/>
                  </a:cubicBezTo>
                  <a:cubicBezTo>
                    <a:pt x="65017" y="16731"/>
                    <a:pt x="57977" y="12795"/>
                    <a:pt x="55927" y="5844"/>
                  </a:cubicBezTo>
                  <a:cubicBezTo>
                    <a:pt x="55138" y="364"/>
                    <a:pt x="52191" y="364"/>
                    <a:pt x="48403" y="35"/>
                  </a:cubicBezTo>
                  <a:cubicBezTo>
                    <a:pt x="44615" y="-294"/>
                    <a:pt x="42879" y="1734"/>
                    <a:pt x="41827" y="5241"/>
                  </a:cubicBezTo>
                  <a:cubicBezTo>
                    <a:pt x="38740" y="9778"/>
                    <a:pt x="33695" y="12426"/>
                    <a:pt x="28358" y="12311"/>
                  </a:cubicBezTo>
                  <a:cubicBezTo>
                    <a:pt x="27060" y="11948"/>
                    <a:pt x="25832" y="11355"/>
                    <a:pt x="24728" y="10557"/>
                  </a:cubicBezTo>
                  <a:cubicBezTo>
                    <a:pt x="20993" y="6830"/>
                    <a:pt x="18415" y="9132"/>
                    <a:pt x="15416" y="11763"/>
                  </a:cubicBezTo>
                  <a:cubicBezTo>
                    <a:pt x="12417" y="14393"/>
                    <a:pt x="12575" y="16805"/>
                    <a:pt x="14206" y="20202"/>
                  </a:cubicBezTo>
                  <a:cubicBezTo>
                    <a:pt x="16144" y="27220"/>
                    <a:pt x="12294" y="34554"/>
                    <a:pt x="5578" y="36644"/>
                  </a:cubicBezTo>
                  <a:cubicBezTo>
                    <a:pt x="2884" y="36627"/>
                    <a:pt x="613" y="38732"/>
                    <a:pt x="316" y="41521"/>
                  </a:cubicBezTo>
                  <a:lnTo>
                    <a:pt x="1" y="45905"/>
                  </a:lnTo>
                  <a:cubicBezTo>
                    <a:pt x="-41" y="48585"/>
                    <a:pt x="1784" y="50904"/>
                    <a:pt x="4315" y="51386"/>
                  </a:cubicBezTo>
                  <a:cubicBezTo>
                    <a:pt x="10736" y="54445"/>
                    <a:pt x="13560" y="62348"/>
                    <a:pt x="10623" y="69036"/>
                  </a:cubicBezTo>
                  <a:cubicBezTo>
                    <a:pt x="10607" y="69071"/>
                    <a:pt x="10591" y="69107"/>
                    <a:pt x="10576" y="69142"/>
                  </a:cubicBezTo>
                  <a:cubicBezTo>
                    <a:pt x="8471" y="72211"/>
                    <a:pt x="7945" y="74623"/>
                    <a:pt x="10576" y="77637"/>
                  </a:cubicBezTo>
                  <a:cubicBezTo>
                    <a:pt x="13206" y="80651"/>
                    <a:pt x="15416" y="83117"/>
                    <a:pt x="19572" y="80322"/>
                  </a:cubicBezTo>
                  <a:cubicBezTo>
                    <a:pt x="20799" y="79692"/>
                    <a:pt x="22112" y="79267"/>
                    <a:pt x="23465" y="79062"/>
                  </a:cubicBezTo>
                  <a:cubicBezTo>
                    <a:pt x="28306" y="79500"/>
                    <a:pt x="35198" y="84542"/>
                    <a:pt x="35724" y="88159"/>
                  </a:cubicBezTo>
                  <a:cubicBezTo>
                    <a:pt x="36250" y="91776"/>
                    <a:pt x="37460" y="94133"/>
                    <a:pt x="41511" y="94242"/>
                  </a:cubicBezTo>
                  <a:cubicBezTo>
                    <a:pt x="45562" y="94352"/>
                    <a:pt x="48298" y="94790"/>
                    <a:pt x="49824" y="89694"/>
                  </a:cubicBezTo>
                  <a:cubicBezTo>
                    <a:pt x="52814" y="83097"/>
                    <a:pt x="60371" y="80276"/>
                    <a:pt x="66703" y="83390"/>
                  </a:cubicBezTo>
                  <a:cubicBezTo>
                    <a:pt x="66777" y="83426"/>
                    <a:pt x="66850" y="83463"/>
                    <a:pt x="66923" y="83501"/>
                  </a:cubicBezTo>
                  <a:cubicBezTo>
                    <a:pt x="69370" y="85826"/>
                    <a:pt x="73164" y="85643"/>
                    <a:pt x="75396" y="83094"/>
                  </a:cubicBezTo>
                  <a:cubicBezTo>
                    <a:pt x="75467" y="83012"/>
                    <a:pt x="75536" y="82929"/>
                    <a:pt x="75604" y="82843"/>
                  </a:cubicBezTo>
                  <a:cubicBezTo>
                    <a:pt x="78287" y="80267"/>
                    <a:pt x="79655" y="78240"/>
                    <a:pt x="77550" y="74184"/>
                  </a:cubicBezTo>
                  <a:cubicBezTo>
                    <a:pt x="75028" y="68033"/>
                    <a:pt x="77770" y="60916"/>
                    <a:pt x="83675" y="58288"/>
                  </a:cubicBezTo>
                  <a:cubicBezTo>
                    <a:pt x="84164" y="58071"/>
                    <a:pt x="84666" y="57889"/>
                    <a:pt x="85179" y="57743"/>
                  </a:cubicBezTo>
                  <a:cubicBezTo>
                    <a:pt x="88704" y="57085"/>
                    <a:pt x="90440" y="55551"/>
                    <a:pt x="90861" y="52865"/>
                  </a:cubicBezTo>
                  <a:lnTo>
                    <a:pt x="91124" y="48426"/>
                  </a:lnTo>
                  <a:cubicBezTo>
                    <a:pt x="90756" y="45851"/>
                    <a:pt x="89546" y="44097"/>
                    <a:pt x="86126" y="42946"/>
                  </a:cubicBezTo>
                  <a:close/>
                  <a:moveTo>
                    <a:pt x="67396" y="50838"/>
                  </a:moveTo>
                  <a:cubicBezTo>
                    <a:pt x="65348" y="63462"/>
                    <a:pt x="53863" y="71966"/>
                    <a:pt x="41744" y="69833"/>
                  </a:cubicBezTo>
                  <a:cubicBezTo>
                    <a:pt x="31202" y="67976"/>
                    <a:pt x="23417" y="58574"/>
                    <a:pt x="23202" y="47440"/>
                  </a:cubicBezTo>
                  <a:lnTo>
                    <a:pt x="23518" y="43549"/>
                  </a:lnTo>
                  <a:cubicBezTo>
                    <a:pt x="25398" y="30927"/>
                    <a:pt x="36745" y="22283"/>
                    <a:pt x="48862" y="24242"/>
                  </a:cubicBezTo>
                  <a:cubicBezTo>
                    <a:pt x="59626" y="25982"/>
                    <a:pt x="67589" y="35600"/>
                    <a:pt x="67659" y="46947"/>
                  </a:cubicBezTo>
                  <a:close/>
                </a:path>
              </a:pathLst>
            </a:custGeom>
            <a:solidFill>
              <a:schemeClr val="bg1"/>
            </a:solidFill>
            <a:ln w="11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b="0" i="0" dirty="0">
                <a:latin typeface="Calibri" panose="020F0502020204030204" pitchFamily="34" charset="0"/>
              </a:endParaRPr>
            </a:p>
          </p:txBody>
        </p:sp>
        <p:sp>
          <p:nvSpPr>
            <p:cNvPr id="53" name="Freihandform 52">
              <a:extLst>
                <a:ext uri="{FF2B5EF4-FFF2-40B4-BE49-F238E27FC236}">
                  <a16:creationId xmlns:a16="http://schemas.microsoft.com/office/drawing/2014/main" id="{37125705-882E-C647-8F51-B9679352E2FA}"/>
                </a:ext>
              </a:extLst>
            </p:cNvPr>
            <p:cNvSpPr/>
            <p:nvPr/>
          </p:nvSpPr>
          <p:spPr>
            <a:xfrm>
              <a:off x="1366159" y="4008909"/>
              <a:ext cx="310747" cy="322959"/>
            </a:xfrm>
            <a:custGeom>
              <a:avLst/>
              <a:gdLst>
                <a:gd name="connsiteX0" fmla="*/ 309222 w 310747"/>
                <a:gd name="connsiteY0" fmla="*/ 132848 h 322959"/>
                <a:gd name="connsiteX1" fmla="*/ 289019 w 310747"/>
                <a:gd name="connsiteY1" fmla="*/ 117229 h 322959"/>
                <a:gd name="connsiteX2" fmla="*/ 259925 w 310747"/>
                <a:gd name="connsiteY2" fmla="*/ 62425 h 322959"/>
                <a:gd name="connsiteX3" fmla="*/ 251349 w 310747"/>
                <a:gd name="connsiteY3" fmla="*/ 32886 h 322959"/>
                <a:gd name="connsiteX4" fmla="*/ 221729 w 310747"/>
                <a:gd name="connsiteY4" fmla="*/ 32886 h 322959"/>
                <a:gd name="connsiteX5" fmla="*/ 162330 w 310747"/>
                <a:gd name="connsiteY5" fmla="*/ 15020 h 322959"/>
                <a:gd name="connsiteX6" fmla="*/ 133183 w 310747"/>
                <a:gd name="connsiteY6" fmla="*/ 716 h 322959"/>
                <a:gd name="connsiteX7" fmla="*/ 114559 w 310747"/>
                <a:gd name="connsiteY7" fmla="*/ 22638 h 322959"/>
                <a:gd name="connsiteX8" fmla="*/ 74153 w 310747"/>
                <a:gd name="connsiteY8" fmla="*/ 56068 h 322959"/>
                <a:gd name="connsiteX9" fmla="*/ 60737 w 310747"/>
                <a:gd name="connsiteY9" fmla="*/ 52670 h 322959"/>
                <a:gd name="connsiteX10" fmla="*/ 30328 w 310747"/>
                <a:gd name="connsiteY10" fmla="*/ 63631 h 322959"/>
                <a:gd name="connsiteX11" fmla="*/ 31906 w 310747"/>
                <a:gd name="connsiteY11" fmla="*/ 92786 h 322959"/>
                <a:gd name="connsiteX12" fmla="*/ 13913 w 310747"/>
                <a:gd name="connsiteY12" fmla="*/ 154715 h 322959"/>
                <a:gd name="connsiteX13" fmla="*/ 23 w 310747"/>
                <a:gd name="connsiteY13" fmla="*/ 174608 h 322959"/>
                <a:gd name="connsiteX14" fmla="*/ 1865 w 310747"/>
                <a:gd name="connsiteY14" fmla="*/ 189570 h 322959"/>
                <a:gd name="connsiteX15" fmla="*/ 20121 w 310747"/>
                <a:gd name="connsiteY15" fmla="*/ 205189 h 322959"/>
                <a:gd name="connsiteX16" fmla="*/ 52635 w 310747"/>
                <a:gd name="connsiteY16" fmla="*/ 259992 h 322959"/>
                <a:gd name="connsiteX17" fmla="*/ 58212 w 310747"/>
                <a:gd name="connsiteY17" fmla="*/ 288710 h 322959"/>
                <a:gd name="connsiteX18" fmla="*/ 90252 w 310747"/>
                <a:gd name="connsiteY18" fmla="*/ 291011 h 322959"/>
                <a:gd name="connsiteX19" fmla="*/ 102458 w 310747"/>
                <a:gd name="connsiteY19" fmla="*/ 284161 h 322959"/>
                <a:gd name="connsiteX20" fmla="*/ 149809 w 310747"/>
                <a:gd name="connsiteY20" fmla="*/ 306082 h 322959"/>
                <a:gd name="connsiteX21" fmla="*/ 173116 w 310747"/>
                <a:gd name="connsiteY21" fmla="*/ 322524 h 322959"/>
                <a:gd name="connsiteX22" fmla="*/ 197948 w 310747"/>
                <a:gd name="connsiteY22" fmla="*/ 301205 h 322959"/>
                <a:gd name="connsiteX23" fmla="*/ 215784 w 310747"/>
                <a:gd name="connsiteY23" fmla="*/ 274022 h 322959"/>
                <a:gd name="connsiteX24" fmla="*/ 226306 w 310747"/>
                <a:gd name="connsiteY24" fmla="*/ 268542 h 322959"/>
                <a:gd name="connsiteX25" fmla="*/ 250613 w 310747"/>
                <a:gd name="connsiteY25" fmla="*/ 267994 h 322959"/>
                <a:gd name="connsiteX26" fmla="*/ 279286 w 310747"/>
                <a:gd name="connsiteY26" fmla="*/ 259718 h 322959"/>
                <a:gd name="connsiteX27" fmla="*/ 280233 w 310747"/>
                <a:gd name="connsiteY27" fmla="*/ 229302 h 322959"/>
                <a:gd name="connsiteX28" fmla="*/ 294964 w 310747"/>
                <a:gd name="connsiteY28" fmla="*/ 168525 h 322959"/>
                <a:gd name="connsiteX29" fmla="*/ 310748 w 310747"/>
                <a:gd name="connsiteY29" fmla="*/ 148083 h 322959"/>
                <a:gd name="connsiteX30" fmla="*/ 155859 w 310747"/>
                <a:gd name="connsiteY30" fmla="*/ 250237 h 322959"/>
                <a:gd name="connsiteX31" fmla="*/ 70470 w 310747"/>
                <a:gd name="connsiteY31" fmla="*/ 161291 h 322959"/>
                <a:gd name="connsiteX32" fmla="*/ 155859 w 310747"/>
                <a:gd name="connsiteY32" fmla="*/ 72345 h 322959"/>
                <a:gd name="connsiteX33" fmla="*/ 241248 w 310747"/>
                <a:gd name="connsiteY33" fmla="*/ 161291 h 322959"/>
                <a:gd name="connsiteX34" fmla="*/ 155859 w 310747"/>
                <a:gd name="connsiteY34" fmla="*/ 250237 h 322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10747" h="322959">
                  <a:moveTo>
                    <a:pt x="309222" y="132848"/>
                  </a:moveTo>
                  <a:cubicBezTo>
                    <a:pt x="306539" y="123531"/>
                    <a:pt x="301172" y="118654"/>
                    <a:pt x="289019" y="117229"/>
                  </a:cubicBezTo>
                  <a:cubicBezTo>
                    <a:pt x="266554" y="114434"/>
                    <a:pt x="250349" y="83963"/>
                    <a:pt x="259925" y="62425"/>
                  </a:cubicBezTo>
                  <a:cubicBezTo>
                    <a:pt x="266133" y="48067"/>
                    <a:pt x="261030" y="41381"/>
                    <a:pt x="251349" y="32886"/>
                  </a:cubicBezTo>
                  <a:cubicBezTo>
                    <a:pt x="241669" y="24391"/>
                    <a:pt x="232672" y="23624"/>
                    <a:pt x="221729" y="32886"/>
                  </a:cubicBezTo>
                  <a:cubicBezTo>
                    <a:pt x="205419" y="46423"/>
                    <a:pt x="170064" y="36503"/>
                    <a:pt x="162330" y="15020"/>
                  </a:cubicBezTo>
                  <a:cubicBezTo>
                    <a:pt x="156227" y="-2408"/>
                    <a:pt x="146126" y="-435"/>
                    <a:pt x="133183" y="716"/>
                  </a:cubicBezTo>
                  <a:cubicBezTo>
                    <a:pt x="119294" y="2032"/>
                    <a:pt x="115822" y="10307"/>
                    <a:pt x="114559" y="22638"/>
                  </a:cubicBezTo>
                  <a:cubicBezTo>
                    <a:pt x="113296" y="34969"/>
                    <a:pt x="90621" y="53766"/>
                    <a:pt x="74153" y="56068"/>
                  </a:cubicBezTo>
                  <a:cubicBezTo>
                    <a:pt x="69523" y="55774"/>
                    <a:pt x="64980" y="54623"/>
                    <a:pt x="60737" y="52670"/>
                  </a:cubicBezTo>
                  <a:cubicBezTo>
                    <a:pt x="45848" y="42915"/>
                    <a:pt x="38693" y="52670"/>
                    <a:pt x="30328" y="63631"/>
                  </a:cubicBezTo>
                  <a:cubicBezTo>
                    <a:pt x="21962" y="74592"/>
                    <a:pt x="24067" y="82757"/>
                    <a:pt x="31906" y="92786"/>
                  </a:cubicBezTo>
                  <a:cubicBezTo>
                    <a:pt x="44638" y="109228"/>
                    <a:pt x="34379" y="147590"/>
                    <a:pt x="13913" y="154715"/>
                  </a:cubicBezTo>
                  <a:cubicBezTo>
                    <a:pt x="1549" y="159044"/>
                    <a:pt x="-240" y="165675"/>
                    <a:pt x="23" y="174608"/>
                  </a:cubicBezTo>
                  <a:lnTo>
                    <a:pt x="1865" y="189570"/>
                  </a:lnTo>
                  <a:cubicBezTo>
                    <a:pt x="3706" y="198010"/>
                    <a:pt x="7126" y="204257"/>
                    <a:pt x="20121" y="205189"/>
                  </a:cubicBezTo>
                  <a:cubicBezTo>
                    <a:pt x="41692" y="206833"/>
                    <a:pt x="61000" y="240976"/>
                    <a:pt x="52635" y="259992"/>
                  </a:cubicBezTo>
                  <a:cubicBezTo>
                    <a:pt x="47374" y="271830"/>
                    <a:pt x="47374" y="280379"/>
                    <a:pt x="58212" y="288710"/>
                  </a:cubicBezTo>
                  <a:cubicBezTo>
                    <a:pt x="69050" y="297040"/>
                    <a:pt x="78204" y="304438"/>
                    <a:pt x="90252" y="291011"/>
                  </a:cubicBezTo>
                  <a:cubicBezTo>
                    <a:pt x="93906" y="288004"/>
                    <a:pt x="98037" y="285686"/>
                    <a:pt x="102458" y="284161"/>
                  </a:cubicBezTo>
                  <a:cubicBezTo>
                    <a:pt x="118926" y="282078"/>
                    <a:pt x="145337" y="294354"/>
                    <a:pt x="149809" y="306082"/>
                  </a:cubicBezTo>
                  <a:cubicBezTo>
                    <a:pt x="154281" y="317810"/>
                    <a:pt x="159437" y="324825"/>
                    <a:pt x="173116" y="322524"/>
                  </a:cubicBezTo>
                  <a:cubicBezTo>
                    <a:pt x="185953" y="320222"/>
                    <a:pt x="196212" y="319509"/>
                    <a:pt x="197948" y="301205"/>
                  </a:cubicBezTo>
                  <a:cubicBezTo>
                    <a:pt x="199739" y="289841"/>
                    <a:pt x="206270" y="279887"/>
                    <a:pt x="215784" y="274022"/>
                  </a:cubicBezTo>
                  <a:cubicBezTo>
                    <a:pt x="219071" y="271770"/>
                    <a:pt x="222604" y="269931"/>
                    <a:pt x="226306" y="268542"/>
                  </a:cubicBezTo>
                  <a:cubicBezTo>
                    <a:pt x="234051" y="265170"/>
                    <a:pt x="242734" y="264974"/>
                    <a:pt x="250613" y="267994"/>
                  </a:cubicBezTo>
                  <a:cubicBezTo>
                    <a:pt x="263450" y="273913"/>
                    <a:pt x="271394" y="271063"/>
                    <a:pt x="279286" y="259718"/>
                  </a:cubicBezTo>
                  <a:cubicBezTo>
                    <a:pt x="287178" y="248374"/>
                    <a:pt x="289808" y="241414"/>
                    <a:pt x="280233" y="229302"/>
                  </a:cubicBezTo>
                  <a:cubicBezTo>
                    <a:pt x="265712" y="210943"/>
                    <a:pt x="273919" y="177129"/>
                    <a:pt x="294964" y="168525"/>
                  </a:cubicBezTo>
                  <a:cubicBezTo>
                    <a:pt x="306381" y="163922"/>
                    <a:pt x="310327" y="157564"/>
                    <a:pt x="310748" y="148083"/>
                  </a:cubicBezTo>
                  <a:close/>
                  <a:moveTo>
                    <a:pt x="155859" y="250237"/>
                  </a:moveTo>
                  <a:cubicBezTo>
                    <a:pt x="108700" y="250237"/>
                    <a:pt x="70470" y="210415"/>
                    <a:pt x="70470" y="161291"/>
                  </a:cubicBezTo>
                  <a:cubicBezTo>
                    <a:pt x="70470" y="112167"/>
                    <a:pt x="108700" y="72345"/>
                    <a:pt x="155859" y="72345"/>
                  </a:cubicBezTo>
                  <a:cubicBezTo>
                    <a:pt x="203018" y="72345"/>
                    <a:pt x="241248" y="112167"/>
                    <a:pt x="241248" y="161291"/>
                  </a:cubicBezTo>
                  <a:cubicBezTo>
                    <a:pt x="241190" y="210390"/>
                    <a:pt x="202994" y="250177"/>
                    <a:pt x="155859" y="250237"/>
                  </a:cubicBezTo>
                  <a:close/>
                </a:path>
              </a:pathLst>
            </a:custGeom>
            <a:noFill/>
            <a:ln w="1143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 b="0" i="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54" name="Grafik 44">
            <a:extLst>
              <a:ext uri="{FF2B5EF4-FFF2-40B4-BE49-F238E27FC236}">
                <a16:creationId xmlns:a16="http://schemas.microsoft.com/office/drawing/2014/main" id="{B6CFA194-8761-4D41-9519-3697E905AE51}"/>
              </a:ext>
            </a:extLst>
          </p:cNvPr>
          <p:cNvGrpSpPr/>
          <p:nvPr userDrawn="1"/>
        </p:nvGrpSpPr>
        <p:grpSpPr>
          <a:xfrm>
            <a:off x="3434932" y="3982557"/>
            <a:ext cx="448758" cy="406979"/>
            <a:chOff x="1228148" y="4008909"/>
            <a:chExt cx="448758" cy="406979"/>
          </a:xfrm>
        </p:grpSpPr>
        <p:sp>
          <p:nvSpPr>
            <p:cNvPr id="55" name="Freihandform 54">
              <a:extLst>
                <a:ext uri="{FF2B5EF4-FFF2-40B4-BE49-F238E27FC236}">
                  <a16:creationId xmlns:a16="http://schemas.microsoft.com/office/drawing/2014/main" id="{E5D11D69-CBC8-CA48-BEC0-41F1C8C45DF0}"/>
                </a:ext>
              </a:extLst>
            </p:cNvPr>
            <p:cNvSpPr/>
            <p:nvPr/>
          </p:nvSpPr>
          <p:spPr>
            <a:xfrm>
              <a:off x="1228148" y="4219901"/>
              <a:ext cx="180018" cy="186620"/>
            </a:xfrm>
            <a:custGeom>
              <a:avLst/>
              <a:gdLst>
                <a:gd name="connsiteX0" fmla="*/ 170390 w 180018"/>
                <a:gd name="connsiteY0" fmla="*/ 84952 h 186620"/>
                <a:gd name="connsiteX1" fmla="*/ 158237 w 180018"/>
                <a:gd name="connsiteY1" fmla="*/ 53705 h 186620"/>
                <a:gd name="connsiteX2" fmla="*/ 159868 w 180018"/>
                <a:gd name="connsiteY2" fmla="*/ 50426 h 186620"/>
                <a:gd name="connsiteX3" fmla="*/ 158395 w 180018"/>
                <a:gd name="connsiteY3" fmla="*/ 32943 h 186620"/>
                <a:gd name="connsiteX4" fmla="*/ 142496 w 180018"/>
                <a:gd name="connsiteY4" fmla="*/ 28572 h 186620"/>
                <a:gd name="connsiteX5" fmla="*/ 142085 w 180018"/>
                <a:gd name="connsiteY5" fmla="*/ 28833 h 186620"/>
                <a:gd name="connsiteX6" fmla="*/ 110518 w 180018"/>
                <a:gd name="connsiteY6" fmla="*/ 11570 h 186620"/>
                <a:gd name="connsiteX7" fmla="*/ 95577 w 180018"/>
                <a:gd name="connsiteY7" fmla="*/ 116 h 186620"/>
                <a:gd name="connsiteX8" fmla="*/ 82634 w 180018"/>
                <a:gd name="connsiteY8" fmla="*/ 10255 h 186620"/>
                <a:gd name="connsiteX9" fmla="*/ 56328 w 180018"/>
                <a:gd name="connsiteY9" fmla="*/ 24284 h 186620"/>
                <a:gd name="connsiteX10" fmla="*/ 49068 w 180018"/>
                <a:gd name="connsiteY10" fmla="*/ 20722 h 186620"/>
                <a:gd name="connsiteX11" fmla="*/ 30759 w 180018"/>
                <a:gd name="connsiteY11" fmla="*/ 23134 h 186620"/>
                <a:gd name="connsiteX12" fmla="*/ 28392 w 180018"/>
                <a:gd name="connsiteY12" fmla="*/ 39849 h 186620"/>
                <a:gd name="connsiteX13" fmla="*/ 11293 w 180018"/>
                <a:gd name="connsiteY13" fmla="*/ 72731 h 186620"/>
                <a:gd name="connsiteX14" fmla="*/ 1244 w 180018"/>
                <a:gd name="connsiteY14" fmla="*/ 82322 h 186620"/>
                <a:gd name="connsiteX15" fmla="*/ 34 w 180018"/>
                <a:gd name="connsiteY15" fmla="*/ 90926 h 186620"/>
                <a:gd name="connsiteX16" fmla="*/ 8610 w 180018"/>
                <a:gd name="connsiteY16" fmla="*/ 101886 h 186620"/>
                <a:gd name="connsiteX17" fmla="*/ 20921 w 180018"/>
                <a:gd name="connsiteY17" fmla="*/ 136906 h 186620"/>
                <a:gd name="connsiteX18" fmla="*/ 20921 w 180018"/>
                <a:gd name="connsiteY18" fmla="*/ 153840 h 186620"/>
                <a:gd name="connsiteX19" fmla="*/ 38809 w 180018"/>
                <a:gd name="connsiteY19" fmla="*/ 158937 h 186620"/>
                <a:gd name="connsiteX20" fmla="*/ 46437 w 180018"/>
                <a:gd name="connsiteY20" fmla="*/ 156526 h 186620"/>
                <a:gd name="connsiteX21" fmla="*/ 70691 w 180018"/>
                <a:gd name="connsiteY21" fmla="*/ 174501 h 186620"/>
                <a:gd name="connsiteX22" fmla="*/ 82108 w 180018"/>
                <a:gd name="connsiteY22" fmla="*/ 186503 h 186620"/>
                <a:gd name="connsiteX23" fmla="*/ 98470 w 180018"/>
                <a:gd name="connsiteY23" fmla="*/ 177461 h 186620"/>
                <a:gd name="connsiteX24" fmla="*/ 132194 w 180018"/>
                <a:gd name="connsiteY24" fmla="*/ 165185 h 186620"/>
                <a:gd name="connsiteX25" fmla="*/ 148705 w 180018"/>
                <a:gd name="connsiteY25" fmla="*/ 164680 h 186620"/>
                <a:gd name="connsiteX26" fmla="*/ 149293 w 180018"/>
                <a:gd name="connsiteY26" fmla="*/ 163979 h 186620"/>
                <a:gd name="connsiteX27" fmla="*/ 153186 w 180018"/>
                <a:gd name="connsiteY27" fmla="*/ 146880 h 186620"/>
                <a:gd name="connsiteX28" fmla="*/ 165139 w 180018"/>
                <a:gd name="connsiteY28" fmla="*/ 115549 h 186620"/>
                <a:gd name="connsiteX29" fmla="*/ 168391 w 180018"/>
                <a:gd name="connsiteY29" fmla="*/ 114382 h 186620"/>
                <a:gd name="connsiteX30" fmla="*/ 179439 w 180018"/>
                <a:gd name="connsiteY30" fmla="*/ 104681 h 186620"/>
                <a:gd name="connsiteX31" fmla="*/ 180018 w 180018"/>
                <a:gd name="connsiteY31" fmla="*/ 95913 h 186620"/>
                <a:gd name="connsiteX32" fmla="*/ 170390 w 180018"/>
                <a:gd name="connsiteY32" fmla="*/ 84952 h 186620"/>
                <a:gd name="connsiteX33" fmla="*/ 133562 w 180018"/>
                <a:gd name="connsiteY33" fmla="*/ 100516 h 186620"/>
                <a:gd name="connsiteX34" fmla="*/ 84998 w 180018"/>
                <a:gd name="connsiteY34" fmla="*/ 140753 h 186620"/>
                <a:gd name="connsiteX35" fmla="*/ 46122 w 180018"/>
                <a:gd name="connsiteY35" fmla="*/ 93556 h 186620"/>
                <a:gd name="connsiteX36" fmla="*/ 46700 w 180018"/>
                <a:gd name="connsiteY36" fmla="*/ 86377 h 186620"/>
                <a:gd name="connsiteX37" fmla="*/ 96819 w 180018"/>
                <a:gd name="connsiteY37" fmla="*/ 48265 h 186620"/>
                <a:gd name="connsiteX38" fmla="*/ 133930 w 180018"/>
                <a:gd name="connsiteY38" fmla="*/ 93063 h 186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80018" h="186620">
                  <a:moveTo>
                    <a:pt x="170390" y="84952"/>
                  </a:moveTo>
                  <a:cubicBezTo>
                    <a:pt x="158750" y="79819"/>
                    <a:pt x="153309" y="65829"/>
                    <a:pt x="158237" y="53705"/>
                  </a:cubicBezTo>
                  <a:cubicBezTo>
                    <a:pt x="158698" y="52570"/>
                    <a:pt x="159244" y="51473"/>
                    <a:pt x="159868" y="50426"/>
                  </a:cubicBezTo>
                  <a:cubicBezTo>
                    <a:pt x="165129" y="43082"/>
                    <a:pt x="162972" y="38753"/>
                    <a:pt x="158395" y="32943"/>
                  </a:cubicBezTo>
                  <a:cubicBezTo>
                    <a:pt x="155163" y="27163"/>
                    <a:pt x="148045" y="25206"/>
                    <a:pt x="142496" y="28572"/>
                  </a:cubicBezTo>
                  <a:cubicBezTo>
                    <a:pt x="142357" y="28656"/>
                    <a:pt x="142220" y="28743"/>
                    <a:pt x="142085" y="28833"/>
                  </a:cubicBezTo>
                  <a:cubicBezTo>
                    <a:pt x="131563" y="34313"/>
                    <a:pt x="112412" y="24668"/>
                    <a:pt x="110518" y="11570"/>
                  </a:cubicBezTo>
                  <a:cubicBezTo>
                    <a:pt x="108993" y="1048"/>
                    <a:pt x="103047" y="993"/>
                    <a:pt x="95577" y="116"/>
                  </a:cubicBezTo>
                  <a:cubicBezTo>
                    <a:pt x="88106" y="-761"/>
                    <a:pt x="84791" y="3404"/>
                    <a:pt x="82634" y="10255"/>
                  </a:cubicBezTo>
                  <a:cubicBezTo>
                    <a:pt x="80477" y="17105"/>
                    <a:pt x="65693" y="24997"/>
                    <a:pt x="56328" y="24284"/>
                  </a:cubicBezTo>
                  <a:cubicBezTo>
                    <a:pt x="53722" y="23562"/>
                    <a:pt x="51262" y="22355"/>
                    <a:pt x="49068" y="20722"/>
                  </a:cubicBezTo>
                  <a:cubicBezTo>
                    <a:pt x="41755" y="13488"/>
                    <a:pt x="36652" y="18037"/>
                    <a:pt x="30759" y="23134"/>
                  </a:cubicBezTo>
                  <a:cubicBezTo>
                    <a:pt x="24867" y="28230"/>
                    <a:pt x="25077" y="33163"/>
                    <a:pt x="28392" y="39849"/>
                  </a:cubicBezTo>
                  <a:cubicBezTo>
                    <a:pt x="33653" y="50809"/>
                    <a:pt x="23709" y="70922"/>
                    <a:pt x="11293" y="72731"/>
                  </a:cubicBezTo>
                  <a:cubicBezTo>
                    <a:pt x="3822" y="73717"/>
                    <a:pt x="2033" y="77389"/>
                    <a:pt x="1244" y="82322"/>
                  </a:cubicBezTo>
                  <a:lnTo>
                    <a:pt x="34" y="90926"/>
                  </a:lnTo>
                  <a:cubicBezTo>
                    <a:pt x="-400" y="96386"/>
                    <a:pt x="3388" y="101228"/>
                    <a:pt x="8610" y="101886"/>
                  </a:cubicBezTo>
                  <a:cubicBezTo>
                    <a:pt x="20710" y="105394"/>
                    <a:pt x="27760" y="127041"/>
                    <a:pt x="20921" y="136906"/>
                  </a:cubicBezTo>
                  <a:cubicBezTo>
                    <a:pt x="16659" y="142989"/>
                    <a:pt x="15660" y="147867"/>
                    <a:pt x="20921" y="153840"/>
                  </a:cubicBezTo>
                  <a:cubicBezTo>
                    <a:pt x="26182" y="159814"/>
                    <a:pt x="30443" y="164801"/>
                    <a:pt x="38809" y="158937"/>
                  </a:cubicBezTo>
                  <a:cubicBezTo>
                    <a:pt x="41202" y="157689"/>
                    <a:pt x="43782" y="156874"/>
                    <a:pt x="46437" y="156526"/>
                  </a:cubicBezTo>
                  <a:cubicBezTo>
                    <a:pt x="55960" y="157348"/>
                    <a:pt x="69534" y="167486"/>
                    <a:pt x="70691" y="174501"/>
                  </a:cubicBezTo>
                  <a:cubicBezTo>
                    <a:pt x="71849" y="181516"/>
                    <a:pt x="74006" y="186284"/>
                    <a:pt x="82108" y="186503"/>
                  </a:cubicBezTo>
                  <a:cubicBezTo>
                    <a:pt x="90210" y="186723"/>
                    <a:pt x="95471" y="187599"/>
                    <a:pt x="98470" y="177461"/>
                  </a:cubicBezTo>
                  <a:cubicBezTo>
                    <a:pt x="102258" y="164801"/>
                    <a:pt x="122356" y="158005"/>
                    <a:pt x="132194" y="165185"/>
                  </a:cubicBezTo>
                  <a:cubicBezTo>
                    <a:pt x="136887" y="169795"/>
                    <a:pt x="144279" y="169569"/>
                    <a:pt x="148705" y="164680"/>
                  </a:cubicBezTo>
                  <a:cubicBezTo>
                    <a:pt x="148909" y="164455"/>
                    <a:pt x="149106" y="164221"/>
                    <a:pt x="149293" y="163979"/>
                  </a:cubicBezTo>
                  <a:cubicBezTo>
                    <a:pt x="154554" y="158937"/>
                    <a:pt x="157290" y="154882"/>
                    <a:pt x="153186" y="146880"/>
                  </a:cubicBezTo>
                  <a:cubicBezTo>
                    <a:pt x="148181" y="134790"/>
                    <a:pt x="153532" y="120763"/>
                    <a:pt x="165139" y="115549"/>
                  </a:cubicBezTo>
                  <a:cubicBezTo>
                    <a:pt x="166193" y="115075"/>
                    <a:pt x="167280" y="114685"/>
                    <a:pt x="168391" y="114382"/>
                  </a:cubicBezTo>
                  <a:cubicBezTo>
                    <a:pt x="173783" y="114194"/>
                    <a:pt x="178349" y="110185"/>
                    <a:pt x="179439" y="104681"/>
                  </a:cubicBezTo>
                  <a:lnTo>
                    <a:pt x="180018" y="95913"/>
                  </a:lnTo>
                  <a:cubicBezTo>
                    <a:pt x="179545" y="90432"/>
                    <a:pt x="177072" y="86980"/>
                    <a:pt x="170390" y="84952"/>
                  </a:cubicBezTo>
                  <a:close/>
                  <a:moveTo>
                    <a:pt x="133562" y="100516"/>
                  </a:moveTo>
                  <a:cubicBezTo>
                    <a:pt x="130818" y="125597"/>
                    <a:pt x="109075" y="143611"/>
                    <a:pt x="84998" y="140753"/>
                  </a:cubicBezTo>
                  <a:cubicBezTo>
                    <a:pt x="62178" y="138044"/>
                    <a:pt x="45225" y="117462"/>
                    <a:pt x="46122" y="93556"/>
                  </a:cubicBezTo>
                  <a:lnTo>
                    <a:pt x="46700" y="86377"/>
                  </a:lnTo>
                  <a:cubicBezTo>
                    <a:pt x="50437" y="61436"/>
                    <a:pt x="72876" y="44373"/>
                    <a:pt x="96819" y="48265"/>
                  </a:cubicBezTo>
                  <a:cubicBezTo>
                    <a:pt x="118052" y="51716"/>
                    <a:pt x="133760" y="70678"/>
                    <a:pt x="133930" y="93063"/>
                  </a:cubicBezTo>
                  <a:close/>
                </a:path>
              </a:pathLst>
            </a:custGeom>
            <a:noFill/>
            <a:ln w="1143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 b="0" i="0" dirty="0">
                <a:latin typeface="Calibri" panose="020F0502020204030204" pitchFamily="34" charset="0"/>
              </a:endParaRPr>
            </a:p>
          </p:txBody>
        </p:sp>
        <p:sp>
          <p:nvSpPr>
            <p:cNvPr id="56" name="Freihandform 55">
              <a:extLst>
                <a:ext uri="{FF2B5EF4-FFF2-40B4-BE49-F238E27FC236}">
                  <a16:creationId xmlns:a16="http://schemas.microsoft.com/office/drawing/2014/main" id="{F093C747-5F44-0548-BB6E-BC575A94C26B}"/>
                </a:ext>
              </a:extLst>
            </p:cNvPr>
            <p:cNvSpPr/>
            <p:nvPr/>
          </p:nvSpPr>
          <p:spPr>
            <a:xfrm>
              <a:off x="1418267" y="4321588"/>
              <a:ext cx="91124" cy="94300"/>
            </a:xfrm>
            <a:custGeom>
              <a:avLst/>
              <a:gdLst>
                <a:gd name="connsiteX0" fmla="*/ 86126 w 91124"/>
                <a:gd name="connsiteY0" fmla="*/ 42946 h 94300"/>
                <a:gd name="connsiteX1" fmla="*/ 80087 w 91124"/>
                <a:gd name="connsiteY1" fmla="*/ 27015 h 94300"/>
                <a:gd name="connsiteX2" fmla="*/ 80865 w 91124"/>
                <a:gd name="connsiteY2" fmla="*/ 25464 h 94300"/>
                <a:gd name="connsiteX3" fmla="*/ 80181 w 91124"/>
                <a:gd name="connsiteY3" fmla="*/ 16585 h 94300"/>
                <a:gd name="connsiteX4" fmla="*/ 72117 w 91124"/>
                <a:gd name="connsiteY4" fmla="*/ 14395 h 94300"/>
                <a:gd name="connsiteX5" fmla="*/ 71710 w 91124"/>
                <a:gd name="connsiteY5" fmla="*/ 14667 h 94300"/>
                <a:gd name="connsiteX6" fmla="*/ 55927 w 91124"/>
                <a:gd name="connsiteY6" fmla="*/ 5844 h 94300"/>
                <a:gd name="connsiteX7" fmla="*/ 48403 w 91124"/>
                <a:gd name="connsiteY7" fmla="*/ 35 h 94300"/>
                <a:gd name="connsiteX8" fmla="*/ 41827 w 91124"/>
                <a:gd name="connsiteY8" fmla="*/ 5241 h 94300"/>
                <a:gd name="connsiteX9" fmla="*/ 28358 w 91124"/>
                <a:gd name="connsiteY9" fmla="*/ 12311 h 94300"/>
                <a:gd name="connsiteX10" fmla="*/ 24728 w 91124"/>
                <a:gd name="connsiteY10" fmla="*/ 10557 h 94300"/>
                <a:gd name="connsiteX11" fmla="*/ 15416 w 91124"/>
                <a:gd name="connsiteY11" fmla="*/ 11763 h 94300"/>
                <a:gd name="connsiteX12" fmla="*/ 14206 w 91124"/>
                <a:gd name="connsiteY12" fmla="*/ 20202 h 94300"/>
                <a:gd name="connsiteX13" fmla="*/ 5578 w 91124"/>
                <a:gd name="connsiteY13" fmla="*/ 36644 h 94300"/>
                <a:gd name="connsiteX14" fmla="*/ 316 w 91124"/>
                <a:gd name="connsiteY14" fmla="*/ 41521 h 94300"/>
                <a:gd name="connsiteX15" fmla="*/ 1 w 91124"/>
                <a:gd name="connsiteY15" fmla="*/ 45905 h 94300"/>
                <a:gd name="connsiteX16" fmla="*/ 4315 w 91124"/>
                <a:gd name="connsiteY16" fmla="*/ 51386 h 94300"/>
                <a:gd name="connsiteX17" fmla="*/ 10623 w 91124"/>
                <a:gd name="connsiteY17" fmla="*/ 69036 h 94300"/>
                <a:gd name="connsiteX18" fmla="*/ 10576 w 91124"/>
                <a:gd name="connsiteY18" fmla="*/ 69142 h 94300"/>
                <a:gd name="connsiteX19" fmla="*/ 10576 w 91124"/>
                <a:gd name="connsiteY19" fmla="*/ 77637 h 94300"/>
                <a:gd name="connsiteX20" fmla="*/ 19572 w 91124"/>
                <a:gd name="connsiteY20" fmla="*/ 80322 h 94300"/>
                <a:gd name="connsiteX21" fmla="*/ 23465 w 91124"/>
                <a:gd name="connsiteY21" fmla="*/ 79062 h 94300"/>
                <a:gd name="connsiteX22" fmla="*/ 35724 w 91124"/>
                <a:gd name="connsiteY22" fmla="*/ 88159 h 94300"/>
                <a:gd name="connsiteX23" fmla="*/ 41511 w 91124"/>
                <a:gd name="connsiteY23" fmla="*/ 94242 h 94300"/>
                <a:gd name="connsiteX24" fmla="*/ 49824 w 91124"/>
                <a:gd name="connsiteY24" fmla="*/ 89694 h 94300"/>
                <a:gd name="connsiteX25" fmla="*/ 66703 w 91124"/>
                <a:gd name="connsiteY25" fmla="*/ 83390 h 94300"/>
                <a:gd name="connsiteX26" fmla="*/ 66923 w 91124"/>
                <a:gd name="connsiteY26" fmla="*/ 83501 h 94300"/>
                <a:gd name="connsiteX27" fmla="*/ 75396 w 91124"/>
                <a:gd name="connsiteY27" fmla="*/ 83094 h 94300"/>
                <a:gd name="connsiteX28" fmla="*/ 75604 w 91124"/>
                <a:gd name="connsiteY28" fmla="*/ 82843 h 94300"/>
                <a:gd name="connsiteX29" fmla="*/ 77550 w 91124"/>
                <a:gd name="connsiteY29" fmla="*/ 74184 h 94300"/>
                <a:gd name="connsiteX30" fmla="*/ 83675 w 91124"/>
                <a:gd name="connsiteY30" fmla="*/ 58288 h 94300"/>
                <a:gd name="connsiteX31" fmla="*/ 85179 w 91124"/>
                <a:gd name="connsiteY31" fmla="*/ 57743 h 94300"/>
                <a:gd name="connsiteX32" fmla="*/ 90861 w 91124"/>
                <a:gd name="connsiteY32" fmla="*/ 52865 h 94300"/>
                <a:gd name="connsiteX33" fmla="*/ 91124 w 91124"/>
                <a:gd name="connsiteY33" fmla="*/ 48426 h 94300"/>
                <a:gd name="connsiteX34" fmla="*/ 86126 w 91124"/>
                <a:gd name="connsiteY34" fmla="*/ 42946 h 94300"/>
                <a:gd name="connsiteX35" fmla="*/ 67396 w 91124"/>
                <a:gd name="connsiteY35" fmla="*/ 50838 h 94300"/>
                <a:gd name="connsiteX36" fmla="*/ 41744 w 91124"/>
                <a:gd name="connsiteY36" fmla="*/ 69833 h 94300"/>
                <a:gd name="connsiteX37" fmla="*/ 23202 w 91124"/>
                <a:gd name="connsiteY37" fmla="*/ 47440 h 94300"/>
                <a:gd name="connsiteX38" fmla="*/ 23518 w 91124"/>
                <a:gd name="connsiteY38" fmla="*/ 43549 h 94300"/>
                <a:gd name="connsiteX39" fmla="*/ 48862 w 91124"/>
                <a:gd name="connsiteY39" fmla="*/ 24242 h 94300"/>
                <a:gd name="connsiteX40" fmla="*/ 67659 w 91124"/>
                <a:gd name="connsiteY40" fmla="*/ 46947 h 9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91124" h="94300">
                  <a:moveTo>
                    <a:pt x="86126" y="42946"/>
                  </a:moveTo>
                  <a:cubicBezTo>
                    <a:pt x="80235" y="40284"/>
                    <a:pt x="77531" y="33151"/>
                    <a:pt x="80087" y="27015"/>
                  </a:cubicBezTo>
                  <a:cubicBezTo>
                    <a:pt x="80310" y="26479"/>
                    <a:pt x="80570" y="25961"/>
                    <a:pt x="80865" y="25464"/>
                  </a:cubicBezTo>
                  <a:cubicBezTo>
                    <a:pt x="83548" y="21737"/>
                    <a:pt x="82496" y="19545"/>
                    <a:pt x="80181" y="16585"/>
                  </a:cubicBezTo>
                  <a:cubicBezTo>
                    <a:pt x="78535" y="13661"/>
                    <a:pt x="74925" y="12680"/>
                    <a:pt x="72117" y="14395"/>
                  </a:cubicBezTo>
                  <a:cubicBezTo>
                    <a:pt x="71978" y="14480"/>
                    <a:pt x="71842" y="14571"/>
                    <a:pt x="71710" y="14667"/>
                  </a:cubicBezTo>
                  <a:cubicBezTo>
                    <a:pt x="65017" y="16731"/>
                    <a:pt x="57977" y="12795"/>
                    <a:pt x="55927" y="5844"/>
                  </a:cubicBezTo>
                  <a:cubicBezTo>
                    <a:pt x="55138" y="364"/>
                    <a:pt x="52191" y="364"/>
                    <a:pt x="48403" y="35"/>
                  </a:cubicBezTo>
                  <a:cubicBezTo>
                    <a:pt x="44615" y="-294"/>
                    <a:pt x="42879" y="1734"/>
                    <a:pt x="41827" y="5241"/>
                  </a:cubicBezTo>
                  <a:cubicBezTo>
                    <a:pt x="38740" y="9778"/>
                    <a:pt x="33695" y="12426"/>
                    <a:pt x="28358" y="12311"/>
                  </a:cubicBezTo>
                  <a:cubicBezTo>
                    <a:pt x="27060" y="11948"/>
                    <a:pt x="25832" y="11355"/>
                    <a:pt x="24728" y="10557"/>
                  </a:cubicBezTo>
                  <a:cubicBezTo>
                    <a:pt x="20993" y="6830"/>
                    <a:pt x="18415" y="9132"/>
                    <a:pt x="15416" y="11763"/>
                  </a:cubicBezTo>
                  <a:cubicBezTo>
                    <a:pt x="12417" y="14393"/>
                    <a:pt x="12575" y="16805"/>
                    <a:pt x="14206" y="20202"/>
                  </a:cubicBezTo>
                  <a:cubicBezTo>
                    <a:pt x="16144" y="27220"/>
                    <a:pt x="12294" y="34554"/>
                    <a:pt x="5578" y="36644"/>
                  </a:cubicBezTo>
                  <a:cubicBezTo>
                    <a:pt x="2884" y="36627"/>
                    <a:pt x="613" y="38732"/>
                    <a:pt x="316" y="41521"/>
                  </a:cubicBezTo>
                  <a:lnTo>
                    <a:pt x="1" y="45905"/>
                  </a:lnTo>
                  <a:cubicBezTo>
                    <a:pt x="-41" y="48585"/>
                    <a:pt x="1784" y="50904"/>
                    <a:pt x="4315" y="51386"/>
                  </a:cubicBezTo>
                  <a:cubicBezTo>
                    <a:pt x="10736" y="54445"/>
                    <a:pt x="13560" y="62348"/>
                    <a:pt x="10623" y="69036"/>
                  </a:cubicBezTo>
                  <a:cubicBezTo>
                    <a:pt x="10607" y="69071"/>
                    <a:pt x="10591" y="69107"/>
                    <a:pt x="10576" y="69142"/>
                  </a:cubicBezTo>
                  <a:cubicBezTo>
                    <a:pt x="8471" y="72211"/>
                    <a:pt x="7945" y="74623"/>
                    <a:pt x="10576" y="77637"/>
                  </a:cubicBezTo>
                  <a:cubicBezTo>
                    <a:pt x="13206" y="80651"/>
                    <a:pt x="15416" y="83117"/>
                    <a:pt x="19572" y="80322"/>
                  </a:cubicBezTo>
                  <a:cubicBezTo>
                    <a:pt x="20799" y="79692"/>
                    <a:pt x="22112" y="79267"/>
                    <a:pt x="23465" y="79062"/>
                  </a:cubicBezTo>
                  <a:cubicBezTo>
                    <a:pt x="28306" y="79500"/>
                    <a:pt x="35198" y="84542"/>
                    <a:pt x="35724" y="88159"/>
                  </a:cubicBezTo>
                  <a:cubicBezTo>
                    <a:pt x="36250" y="91776"/>
                    <a:pt x="37460" y="94133"/>
                    <a:pt x="41511" y="94242"/>
                  </a:cubicBezTo>
                  <a:cubicBezTo>
                    <a:pt x="45562" y="94352"/>
                    <a:pt x="48298" y="94790"/>
                    <a:pt x="49824" y="89694"/>
                  </a:cubicBezTo>
                  <a:cubicBezTo>
                    <a:pt x="52814" y="83097"/>
                    <a:pt x="60371" y="80276"/>
                    <a:pt x="66703" y="83390"/>
                  </a:cubicBezTo>
                  <a:cubicBezTo>
                    <a:pt x="66777" y="83426"/>
                    <a:pt x="66850" y="83463"/>
                    <a:pt x="66923" y="83501"/>
                  </a:cubicBezTo>
                  <a:cubicBezTo>
                    <a:pt x="69370" y="85826"/>
                    <a:pt x="73164" y="85643"/>
                    <a:pt x="75396" y="83094"/>
                  </a:cubicBezTo>
                  <a:cubicBezTo>
                    <a:pt x="75467" y="83012"/>
                    <a:pt x="75536" y="82929"/>
                    <a:pt x="75604" y="82843"/>
                  </a:cubicBezTo>
                  <a:cubicBezTo>
                    <a:pt x="78287" y="80267"/>
                    <a:pt x="79655" y="78240"/>
                    <a:pt x="77550" y="74184"/>
                  </a:cubicBezTo>
                  <a:cubicBezTo>
                    <a:pt x="75028" y="68033"/>
                    <a:pt x="77770" y="60916"/>
                    <a:pt x="83675" y="58288"/>
                  </a:cubicBezTo>
                  <a:cubicBezTo>
                    <a:pt x="84164" y="58071"/>
                    <a:pt x="84666" y="57889"/>
                    <a:pt x="85179" y="57743"/>
                  </a:cubicBezTo>
                  <a:cubicBezTo>
                    <a:pt x="88704" y="57085"/>
                    <a:pt x="90440" y="55551"/>
                    <a:pt x="90861" y="52865"/>
                  </a:cubicBezTo>
                  <a:lnTo>
                    <a:pt x="91124" y="48426"/>
                  </a:lnTo>
                  <a:cubicBezTo>
                    <a:pt x="90756" y="45851"/>
                    <a:pt x="89546" y="44097"/>
                    <a:pt x="86126" y="42946"/>
                  </a:cubicBezTo>
                  <a:close/>
                  <a:moveTo>
                    <a:pt x="67396" y="50838"/>
                  </a:moveTo>
                  <a:cubicBezTo>
                    <a:pt x="65348" y="63462"/>
                    <a:pt x="53863" y="71966"/>
                    <a:pt x="41744" y="69833"/>
                  </a:cubicBezTo>
                  <a:cubicBezTo>
                    <a:pt x="31202" y="67976"/>
                    <a:pt x="23417" y="58574"/>
                    <a:pt x="23202" y="47440"/>
                  </a:cubicBezTo>
                  <a:lnTo>
                    <a:pt x="23518" y="43549"/>
                  </a:lnTo>
                  <a:cubicBezTo>
                    <a:pt x="25398" y="30927"/>
                    <a:pt x="36745" y="22283"/>
                    <a:pt x="48862" y="24242"/>
                  </a:cubicBezTo>
                  <a:cubicBezTo>
                    <a:pt x="59626" y="25982"/>
                    <a:pt x="67589" y="35600"/>
                    <a:pt x="67659" y="46947"/>
                  </a:cubicBezTo>
                  <a:close/>
                </a:path>
              </a:pathLst>
            </a:custGeom>
            <a:solidFill>
              <a:schemeClr val="bg1"/>
            </a:solidFill>
            <a:ln w="11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b="0" i="0" dirty="0">
                <a:latin typeface="Calibri" panose="020F0502020204030204" pitchFamily="34" charset="0"/>
              </a:endParaRPr>
            </a:p>
          </p:txBody>
        </p:sp>
        <p:sp>
          <p:nvSpPr>
            <p:cNvPr id="57" name="Freihandform 56">
              <a:extLst>
                <a:ext uri="{FF2B5EF4-FFF2-40B4-BE49-F238E27FC236}">
                  <a16:creationId xmlns:a16="http://schemas.microsoft.com/office/drawing/2014/main" id="{403C558D-C5B0-6240-9BA8-CB5FC73F291F}"/>
                </a:ext>
              </a:extLst>
            </p:cNvPr>
            <p:cNvSpPr/>
            <p:nvPr/>
          </p:nvSpPr>
          <p:spPr>
            <a:xfrm>
              <a:off x="1366159" y="4008909"/>
              <a:ext cx="310747" cy="322959"/>
            </a:xfrm>
            <a:custGeom>
              <a:avLst/>
              <a:gdLst>
                <a:gd name="connsiteX0" fmla="*/ 309222 w 310747"/>
                <a:gd name="connsiteY0" fmla="*/ 132848 h 322959"/>
                <a:gd name="connsiteX1" fmla="*/ 289019 w 310747"/>
                <a:gd name="connsiteY1" fmla="*/ 117229 h 322959"/>
                <a:gd name="connsiteX2" fmla="*/ 259925 w 310747"/>
                <a:gd name="connsiteY2" fmla="*/ 62425 h 322959"/>
                <a:gd name="connsiteX3" fmla="*/ 251349 w 310747"/>
                <a:gd name="connsiteY3" fmla="*/ 32886 h 322959"/>
                <a:gd name="connsiteX4" fmla="*/ 221729 w 310747"/>
                <a:gd name="connsiteY4" fmla="*/ 32886 h 322959"/>
                <a:gd name="connsiteX5" fmla="*/ 162330 w 310747"/>
                <a:gd name="connsiteY5" fmla="*/ 15020 h 322959"/>
                <a:gd name="connsiteX6" fmla="*/ 133183 w 310747"/>
                <a:gd name="connsiteY6" fmla="*/ 716 h 322959"/>
                <a:gd name="connsiteX7" fmla="*/ 114559 w 310747"/>
                <a:gd name="connsiteY7" fmla="*/ 22638 h 322959"/>
                <a:gd name="connsiteX8" fmla="*/ 74153 w 310747"/>
                <a:gd name="connsiteY8" fmla="*/ 56068 h 322959"/>
                <a:gd name="connsiteX9" fmla="*/ 60737 w 310747"/>
                <a:gd name="connsiteY9" fmla="*/ 52670 h 322959"/>
                <a:gd name="connsiteX10" fmla="*/ 30328 w 310747"/>
                <a:gd name="connsiteY10" fmla="*/ 63631 h 322959"/>
                <a:gd name="connsiteX11" fmla="*/ 31906 w 310747"/>
                <a:gd name="connsiteY11" fmla="*/ 92786 h 322959"/>
                <a:gd name="connsiteX12" fmla="*/ 13913 w 310747"/>
                <a:gd name="connsiteY12" fmla="*/ 154715 h 322959"/>
                <a:gd name="connsiteX13" fmla="*/ 23 w 310747"/>
                <a:gd name="connsiteY13" fmla="*/ 174608 h 322959"/>
                <a:gd name="connsiteX14" fmla="*/ 1865 w 310747"/>
                <a:gd name="connsiteY14" fmla="*/ 189570 h 322959"/>
                <a:gd name="connsiteX15" fmla="*/ 20121 w 310747"/>
                <a:gd name="connsiteY15" fmla="*/ 205189 h 322959"/>
                <a:gd name="connsiteX16" fmla="*/ 52635 w 310747"/>
                <a:gd name="connsiteY16" fmla="*/ 259992 h 322959"/>
                <a:gd name="connsiteX17" fmla="*/ 58212 w 310747"/>
                <a:gd name="connsiteY17" fmla="*/ 288710 h 322959"/>
                <a:gd name="connsiteX18" fmla="*/ 90252 w 310747"/>
                <a:gd name="connsiteY18" fmla="*/ 291011 h 322959"/>
                <a:gd name="connsiteX19" fmla="*/ 102458 w 310747"/>
                <a:gd name="connsiteY19" fmla="*/ 284161 h 322959"/>
                <a:gd name="connsiteX20" fmla="*/ 149809 w 310747"/>
                <a:gd name="connsiteY20" fmla="*/ 306082 h 322959"/>
                <a:gd name="connsiteX21" fmla="*/ 173116 w 310747"/>
                <a:gd name="connsiteY21" fmla="*/ 322524 h 322959"/>
                <a:gd name="connsiteX22" fmla="*/ 197948 w 310747"/>
                <a:gd name="connsiteY22" fmla="*/ 301205 h 322959"/>
                <a:gd name="connsiteX23" fmla="*/ 215784 w 310747"/>
                <a:gd name="connsiteY23" fmla="*/ 274022 h 322959"/>
                <a:gd name="connsiteX24" fmla="*/ 226306 w 310747"/>
                <a:gd name="connsiteY24" fmla="*/ 268542 h 322959"/>
                <a:gd name="connsiteX25" fmla="*/ 250613 w 310747"/>
                <a:gd name="connsiteY25" fmla="*/ 267994 h 322959"/>
                <a:gd name="connsiteX26" fmla="*/ 279286 w 310747"/>
                <a:gd name="connsiteY26" fmla="*/ 259718 h 322959"/>
                <a:gd name="connsiteX27" fmla="*/ 280233 w 310747"/>
                <a:gd name="connsiteY27" fmla="*/ 229302 h 322959"/>
                <a:gd name="connsiteX28" fmla="*/ 294964 w 310747"/>
                <a:gd name="connsiteY28" fmla="*/ 168525 h 322959"/>
                <a:gd name="connsiteX29" fmla="*/ 310748 w 310747"/>
                <a:gd name="connsiteY29" fmla="*/ 148083 h 322959"/>
                <a:gd name="connsiteX30" fmla="*/ 155859 w 310747"/>
                <a:gd name="connsiteY30" fmla="*/ 250237 h 322959"/>
                <a:gd name="connsiteX31" fmla="*/ 70470 w 310747"/>
                <a:gd name="connsiteY31" fmla="*/ 161291 h 322959"/>
                <a:gd name="connsiteX32" fmla="*/ 155859 w 310747"/>
                <a:gd name="connsiteY32" fmla="*/ 72345 h 322959"/>
                <a:gd name="connsiteX33" fmla="*/ 241248 w 310747"/>
                <a:gd name="connsiteY33" fmla="*/ 161291 h 322959"/>
                <a:gd name="connsiteX34" fmla="*/ 155859 w 310747"/>
                <a:gd name="connsiteY34" fmla="*/ 250237 h 322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10747" h="322959">
                  <a:moveTo>
                    <a:pt x="309222" y="132848"/>
                  </a:moveTo>
                  <a:cubicBezTo>
                    <a:pt x="306539" y="123531"/>
                    <a:pt x="301172" y="118654"/>
                    <a:pt x="289019" y="117229"/>
                  </a:cubicBezTo>
                  <a:cubicBezTo>
                    <a:pt x="266554" y="114434"/>
                    <a:pt x="250349" y="83963"/>
                    <a:pt x="259925" y="62425"/>
                  </a:cubicBezTo>
                  <a:cubicBezTo>
                    <a:pt x="266133" y="48067"/>
                    <a:pt x="261030" y="41381"/>
                    <a:pt x="251349" y="32886"/>
                  </a:cubicBezTo>
                  <a:cubicBezTo>
                    <a:pt x="241669" y="24391"/>
                    <a:pt x="232672" y="23624"/>
                    <a:pt x="221729" y="32886"/>
                  </a:cubicBezTo>
                  <a:cubicBezTo>
                    <a:pt x="205419" y="46423"/>
                    <a:pt x="170064" y="36503"/>
                    <a:pt x="162330" y="15020"/>
                  </a:cubicBezTo>
                  <a:cubicBezTo>
                    <a:pt x="156227" y="-2408"/>
                    <a:pt x="146126" y="-435"/>
                    <a:pt x="133183" y="716"/>
                  </a:cubicBezTo>
                  <a:cubicBezTo>
                    <a:pt x="119294" y="2032"/>
                    <a:pt x="115822" y="10307"/>
                    <a:pt x="114559" y="22638"/>
                  </a:cubicBezTo>
                  <a:cubicBezTo>
                    <a:pt x="113296" y="34969"/>
                    <a:pt x="90621" y="53766"/>
                    <a:pt x="74153" y="56068"/>
                  </a:cubicBezTo>
                  <a:cubicBezTo>
                    <a:pt x="69523" y="55774"/>
                    <a:pt x="64980" y="54623"/>
                    <a:pt x="60737" y="52670"/>
                  </a:cubicBezTo>
                  <a:cubicBezTo>
                    <a:pt x="45848" y="42915"/>
                    <a:pt x="38693" y="52670"/>
                    <a:pt x="30328" y="63631"/>
                  </a:cubicBezTo>
                  <a:cubicBezTo>
                    <a:pt x="21962" y="74592"/>
                    <a:pt x="24067" y="82757"/>
                    <a:pt x="31906" y="92786"/>
                  </a:cubicBezTo>
                  <a:cubicBezTo>
                    <a:pt x="44638" y="109228"/>
                    <a:pt x="34379" y="147590"/>
                    <a:pt x="13913" y="154715"/>
                  </a:cubicBezTo>
                  <a:cubicBezTo>
                    <a:pt x="1549" y="159044"/>
                    <a:pt x="-240" y="165675"/>
                    <a:pt x="23" y="174608"/>
                  </a:cubicBezTo>
                  <a:lnTo>
                    <a:pt x="1865" y="189570"/>
                  </a:lnTo>
                  <a:cubicBezTo>
                    <a:pt x="3706" y="198010"/>
                    <a:pt x="7126" y="204257"/>
                    <a:pt x="20121" y="205189"/>
                  </a:cubicBezTo>
                  <a:cubicBezTo>
                    <a:pt x="41692" y="206833"/>
                    <a:pt x="61000" y="240976"/>
                    <a:pt x="52635" y="259992"/>
                  </a:cubicBezTo>
                  <a:cubicBezTo>
                    <a:pt x="47374" y="271830"/>
                    <a:pt x="47374" y="280379"/>
                    <a:pt x="58212" y="288710"/>
                  </a:cubicBezTo>
                  <a:cubicBezTo>
                    <a:pt x="69050" y="297040"/>
                    <a:pt x="78204" y="304438"/>
                    <a:pt x="90252" y="291011"/>
                  </a:cubicBezTo>
                  <a:cubicBezTo>
                    <a:pt x="93906" y="288004"/>
                    <a:pt x="98037" y="285686"/>
                    <a:pt x="102458" y="284161"/>
                  </a:cubicBezTo>
                  <a:cubicBezTo>
                    <a:pt x="118926" y="282078"/>
                    <a:pt x="145337" y="294354"/>
                    <a:pt x="149809" y="306082"/>
                  </a:cubicBezTo>
                  <a:cubicBezTo>
                    <a:pt x="154281" y="317810"/>
                    <a:pt x="159437" y="324825"/>
                    <a:pt x="173116" y="322524"/>
                  </a:cubicBezTo>
                  <a:cubicBezTo>
                    <a:pt x="185953" y="320222"/>
                    <a:pt x="196212" y="319509"/>
                    <a:pt x="197948" y="301205"/>
                  </a:cubicBezTo>
                  <a:cubicBezTo>
                    <a:pt x="199739" y="289841"/>
                    <a:pt x="206270" y="279887"/>
                    <a:pt x="215784" y="274022"/>
                  </a:cubicBezTo>
                  <a:cubicBezTo>
                    <a:pt x="219071" y="271770"/>
                    <a:pt x="222604" y="269931"/>
                    <a:pt x="226306" y="268542"/>
                  </a:cubicBezTo>
                  <a:cubicBezTo>
                    <a:pt x="234051" y="265170"/>
                    <a:pt x="242734" y="264974"/>
                    <a:pt x="250613" y="267994"/>
                  </a:cubicBezTo>
                  <a:cubicBezTo>
                    <a:pt x="263450" y="273913"/>
                    <a:pt x="271394" y="271063"/>
                    <a:pt x="279286" y="259718"/>
                  </a:cubicBezTo>
                  <a:cubicBezTo>
                    <a:pt x="287178" y="248374"/>
                    <a:pt x="289808" y="241414"/>
                    <a:pt x="280233" y="229302"/>
                  </a:cubicBezTo>
                  <a:cubicBezTo>
                    <a:pt x="265712" y="210943"/>
                    <a:pt x="273919" y="177129"/>
                    <a:pt x="294964" y="168525"/>
                  </a:cubicBezTo>
                  <a:cubicBezTo>
                    <a:pt x="306381" y="163922"/>
                    <a:pt x="310327" y="157564"/>
                    <a:pt x="310748" y="148083"/>
                  </a:cubicBezTo>
                  <a:close/>
                  <a:moveTo>
                    <a:pt x="155859" y="250237"/>
                  </a:moveTo>
                  <a:cubicBezTo>
                    <a:pt x="108700" y="250237"/>
                    <a:pt x="70470" y="210415"/>
                    <a:pt x="70470" y="161291"/>
                  </a:cubicBezTo>
                  <a:cubicBezTo>
                    <a:pt x="70470" y="112167"/>
                    <a:pt x="108700" y="72345"/>
                    <a:pt x="155859" y="72345"/>
                  </a:cubicBezTo>
                  <a:cubicBezTo>
                    <a:pt x="203018" y="72345"/>
                    <a:pt x="241248" y="112167"/>
                    <a:pt x="241248" y="161291"/>
                  </a:cubicBezTo>
                  <a:cubicBezTo>
                    <a:pt x="241190" y="210390"/>
                    <a:pt x="202994" y="250177"/>
                    <a:pt x="155859" y="250237"/>
                  </a:cubicBezTo>
                  <a:close/>
                </a:path>
              </a:pathLst>
            </a:custGeom>
            <a:noFill/>
            <a:ln w="1143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 b="0" i="0" dirty="0">
                <a:latin typeface="Calibri" panose="020F0502020204030204" pitchFamily="34" charset="0"/>
              </a:endParaRPr>
            </a:p>
          </p:txBody>
        </p:sp>
      </p:grpSp>
      <p:sp>
        <p:nvSpPr>
          <p:cNvPr id="61" name="Textplatzhalter 2">
            <a:extLst>
              <a:ext uri="{FF2B5EF4-FFF2-40B4-BE49-F238E27FC236}">
                <a16:creationId xmlns:a16="http://schemas.microsoft.com/office/drawing/2014/main" id="{AB9C794F-0BDA-0140-A69C-49345ACAD18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74000" y="918000"/>
            <a:ext cx="8858249" cy="37164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 i="0">
                <a:latin typeface="Calibri" panose="020F0502020204030204" pitchFamily="34" charset="0"/>
              </a:defRPr>
            </a:lvl1pPr>
            <a:lvl2pPr marL="457200" marR="0" indent="0" algn="l" defTabSz="55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de-DE" sz="100" b="0" i="0">
                <a:effectLst/>
                <a:latin typeface="Calibri" panose="020F0502020204030204" pitchFamily="34" charset="0"/>
              </a:defRPr>
            </a:lvl2pPr>
            <a:lvl3pPr marL="914400" indent="0" defTabSz="720000">
              <a:lnSpc>
                <a:spcPts val="2000"/>
              </a:lnSpc>
              <a:spcBef>
                <a:spcPts val="300"/>
              </a:spcBef>
              <a:spcAft>
                <a:spcPts val="0"/>
              </a:spcAft>
              <a:buClr>
                <a:schemeClr val="tx1"/>
              </a:buClr>
              <a:buSzPct val="130000"/>
              <a:buFont typeface="Arial" panose="020B0604020202020204" pitchFamily="34" charset="0"/>
              <a:buNone/>
              <a:defRPr sz="9100" b="0" i="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800000" indent="-285750" defTabSz="720000">
              <a:lnSpc>
                <a:spcPts val="2000"/>
              </a:lnSpc>
              <a:spcBef>
                <a:spcPts val="3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30000"/>
              <a:buFont typeface="Arial" panose="020B0604020202020204" pitchFamily="34" charset="0"/>
              <a:buChar char="•"/>
              <a:defRPr sz="100"/>
            </a:lvl4pPr>
            <a:lvl5pPr marL="1771650" indent="0" defTabSz="720000">
              <a:lnSpc>
                <a:spcPts val="2000"/>
              </a:lnSpc>
              <a:spcBef>
                <a:spcPts val="300"/>
              </a:spcBef>
              <a:spcAft>
                <a:spcPts val="0"/>
              </a:spcAft>
              <a:buFontTx/>
              <a:buNone/>
              <a:defRPr sz="9100" b="0" i="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286000" indent="0">
              <a:buNone/>
              <a:defRPr sz="100"/>
            </a:lvl6pPr>
          </a:lstStyle>
          <a:p>
            <a:pPr lvl="0"/>
            <a:r>
              <a:rPr lang="de-DE" dirty="0"/>
              <a:t>Zwischenüberschrift (Folgefolie)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2000" b="0" i="0" kern="1200" dirty="0">
              <a:solidFill>
                <a:schemeClr val="tx1"/>
              </a:solidFill>
              <a:effectLst/>
              <a:latin typeface="InfoOTText" panose="02000506030000020004" pitchFamily="2" charset="77"/>
              <a:ea typeface="+mn-ea"/>
              <a:cs typeface="+mn-cs"/>
            </a:endParaRPr>
          </a:p>
          <a:p>
            <a:pPr marL="2057400" lvl="4" indent="-285750">
              <a:buClr>
                <a:schemeClr val="bg1">
                  <a:lumMod val="50000"/>
                </a:schemeClr>
              </a:buClr>
              <a:buSzPct val="130000"/>
              <a:buFont typeface="Arial" panose="020B0604020202020204" pitchFamily="34" charset="0"/>
              <a:buChar char="•"/>
            </a:pPr>
            <a:endParaRPr lang="de-DE" sz="1600" b="0" i="0" dirty="0">
              <a:solidFill>
                <a:schemeClr val="tx1">
                  <a:lumMod val="50000"/>
                  <a:lumOff val="50000"/>
                </a:schemeClr>
              </a:solidFill>
              <a:latin typeface="InfoOTText" panose="02000506030000020004" pitchFamily="2" charset="77"/>
            </a:endParaRPr>
          </a:p>
          <a:p>
            <a:pPr marL="2057400" lvl="4" indent="-285750">
              <a:buClr>
                <a:schemeClr val="bg1">
                  <a:lumMod val="50000"/>
                </a:schemeClr>
              </a:buClr>
              <a:buSzPct val="130000"/>
              <a:buFont typeface="Arial" panose="020B0604020202020204" pitchFamily="34" charset="0"/>
              <a:buChar char="•"/>
            </a:pPr>
            <a:endParaRPr lang="de-DE" sz="1600" b="0" i="0" dirty="0">
              <a:solidFill>
                <a:schemeClr val="tx1">
                  <a:lumMod val="50000"/>
                  <a:lumOff val="50000"/>
                </a:schemeClr>
              </a:solidFill>
              <a:latin typeface="InfoOTText" panose="02000506030000020004" pitchFamily="2" charset="77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2000" b="0" i="0" kern="1200" dirty="0">
              <a:solidFill>
                <a:schemeClr val="tx1"/>
              </a:solidFill>
              <a:effectLst/>
              <a:latin typeface="InfoOTText" panose="02000506030000020004" pitchFamily="2" charset="77"/>
              <a:ea typeface="+mn-ea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2000" b="0" i="0" kern="1200" dirty="0">
              <a:solidFill>
                <a:schemeClr val="tx1"/>
              </a:solidFill>
              <a:effectLst/>
              <a:latin typeface="InfoOTText" panose="02000506030000020004" pitchFamily="2" charset="77"/>
              <a:ea typeface="+mn-ea"/>
              <a:cs typeface="+mn-cs"/>
            </a:endParaRPr>
          </a:p>
          <a:p>
            <a:pPr marL="154305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2000" b="0" i="0" kern="1200" dirty="0">
              <a:solidFill>
                <a:schemeClr val="tx1"/>
              </a:solidFill>
              <a:effectLst/>
              <a:latin typeface="InfoOTText" panose="02000506030000020004" pitchFamily="2" charset="77"/>
              <a:ea typeface="+mn-ea"/>
              <a:cs typeface="+mn-cs"/>
            </a:endParaRPr>
          </a:p>
        </p:txBody>
      </p:sp>
      <p:sp>
        <p:nvSpPr>
          <p:cNvPr id="29" name="Inhaltsplatzhalter 4">
            <a:extLst>
              <a:ext uri="{FF2B5EF4-FFF2-40B4-BE49-F238E27FC236}">
                <a16:creationId xmlns:a16="http://schemas.microsoft.com/office/drawing/2014/main" id="{78D43CC0-F47E-7343-8773-C41B13E6C5D2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66762" y="1989137"/>
            <a:ext cx="8854612" cy="4318061"/>
          </a:xfrm>
          <a:prstGeom prst="rect">
            <a:avLst/>
          </a:prstGeom>
        </p:spPr>
        <p:txBody>
          <a:bodyPr/>
          <a:lstStyle>
            <a:lvl1pPr marL="342900" indent="-342900">
              <a:buFont typeface="Lucida Grande" panose="020B0600040502020204" pitchFamily="34" charset="0"/>
              <a:buChar char="▸"/>
              <a:defRPr sz="24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>
              <a:buFont typeface="Lucida Grande" panose="020B0600040502020204" pitchFamily="34" charset="0"/>
              <a:buChar char="▸"/>
              <a:defRPr sz="2000" b="0" i="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>
              <a:buFont typeface="Lucida Grande" panose="020B0600040502020204" pitchFamily="34" charset="0"/>
              <a:buChar char="▸"/>
              <a:defRPr sz="16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>
              <a:buFont typeface="Lucida Grande" panose="020B0600040502020204" pitchFamily="34" charset="0"/>
              <a:buChar char="▸"/>
              <a:defRPr sz="1600" b="0" i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>
              <a:buFont typeface="Lucida Grande" panose="020B0600040502020204" pitchFamily="34" charset="0"/>
              <a:buChar char="▸"/>
              <a:defRPr sz="1600" b="0" i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de-DE" dirty="0"/>
              <a:t>Zwischenüberschrift: einspaltig</a:t>
            </a:r>
          </a:p>
          <a:p>
            <a:pPr lvl="1"/>
            <a:r>
              <a:rPr lang="de-DE" dirty="0"/>
              <a:t>Stichpunkte bitte kurz halten</a:t>
            </a:r>
          </a:p>
          <a:p>
            <a:pPr lvl="2"/>
            <a:r>
              <a:rPr lang="de-DE" dirty="0"/>
              <a:t>In der Kürze liegt die Würze</a:t>
            </a:r>
          </a:p>
          <a:p>
            <a:pPr lvl="3"/>
            <a:r>
              <a:rPr lang="de-DE" dirty="0"/>
              <a:t>Weniger ist mehr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2" name="Foliennummernplatzhalter 5">
            <a:extLst>
              <a:ext uri="{FF2B5EF4-FFF2-40B4-BE49-F238E27FC236}">
                <a16:creationId xmlns:a16="http://schemas.microsoft.com/office/drawing/2014/main" id="{CB830AD5-E8D7-9E46-B40D-C75C87DAFC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81349" y="6397467"/>
            <a:ext cx="1649666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solidFill>
                  <a:srgbClr val="10A1D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de-DE" dirty="0"/>
              <a:t> </a:t>
            </a:r>
            <a:r>
              <a:rPr lang="de-DE" sz="1400" dirty="0"/>
              <a:t>Seite </a:t>
            </a:r>
            <a:fld id="{1009E830-1A31-2046-A084-D1E9F200294C}" type="slidenum">
              <a:rPr lang="de-DE" sz="1400" smtClean="0"/>
              <a:pPr/>
              <a:t>‹#›</a:t>
            </a:fld>
            <a:endParaRPr lang="de-DE" sz="1400" dirty="0"/>
          </a:p>
        </p:txBody>
      </p:sp>
      <p:sp>
        <p:nvSpPr>
          <p:cNvPr id="36" name="Datumsplatzhalter 2">
            <a:extLst>
              <a:ext uri="{FF2B5EF4-FFF2-40B4-BE49-F238E27FC236}">
                <a16:creationId xmlns:a16="http://schemas.microsoft.com/office/drawing/2014/main" id="{59EF227E-345E-3847-BB3F-17E55915EE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4447" y="6397467"/>
            <a:ext cx="1649666" cy="365125"/>
          </a:xfrm>
          <a:prstGeom prst="rect">
            <a:avLst/>
          </a:prstGeom>
        </p:spPr>
        <p:txBody>
          <a:bodyPr lIns="0" rIns="0"/>
          <a:lstStyle>
            <a:lvl1pPr>
              <a:defRPr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BCFC6669-1919-E94F-844D-55F0729AD51C}" type="datetime1">
              <a:rPr lang="de-DE" sz="1400" smtClean="0"/>
              <a:t>24.06.2024</a:t>
            </a:fld>
            <a:endParaRPr lang="de-DE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Fußzeilenplatzhalter 3">
            <a:extLst>
              <a:ext uri="{FF2B5EF4-FFF2-40B4-BE49-F238E27FC236}">
                <a16:creationId xmlns:a16="http://schemas.microsoft.com/office/drawing/2014/main" id="{35F11A89-8EC0-A541-9E2A-688FAAFDD0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76352" y="6397467"/>
            <a:ext cx="5248435" cy="365125"/>
          </a:xfrm>
          <a:prstGeom prst="rect">
            <a:avLst/>
          </a:prstGeom>
        </p:spPr>
        <p:txBody>
          <a:bodyPr lIns="0" rIns="0"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r>
              <a:rPr lang="de-DE">
                <a:latin typeface="Calibri" panose="020F0502020204030204" pitchFamily="34" charset="0"/>
                <a:cs typeface="Calibri" panose="020F0502020204030204" pitchFamily="34" charset="0"/>
              </a:rPr>
              <a:t>Bitte Fußzeile definieren</a:t>
            </a:r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8199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9.xml"/><Relationship Id="rId10" Type="http://schemas.openxmlformats.org/officeDocument/2006/relationships/theme" Target="../theme/theme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84AAE50-6F5F-9446-830F-BA30C647A38D}"/>
              </a:ext>
            </a:extLst>
          </p:cNvPr>
          <p:cNvSpPr txBox="1">
            <a:spLocks/>
          </p:cNvSpPr>
          <p:nvPr userDrawn="1"/>
        </p:nvSpPr>
        <p:spPr>
          <a:xfrm>
            <a:off x="766762" y="5057554"/>
            <a:ext cx="7047260" cy="963096"/>
          </a:xfrm>
          <a:prstGeom prst="rect">
            <a:avLst/>
          </a:prstGeom>
        </p:spPr>
        <p:txBody>
          <a:bodyPr vert="horz" lIns="0" tIns="0" rIns="0" bIns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b="1" i="0" kern="1200" baseline="0">
                <a:solidFill>
                  <a:schemeClr val="tx1"/>
                </a:solidFill>
                <a:latin typeface="InfoOTText Semibold" panose="02000506030000020004" pitchFamily="2" charset="77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0" i="0" dirty="0">
              <a:latin typeface="Calibri" panose="020F0502020204030204" pitchFamily="34" charset="0"/>
            </a:endParaRPr>
          </a:p>
          <a:p>
            <a:endParaRPr lang="en-US" sz="1800" b="0" i="0" dirty="0">
              <a:latin typeface="Calibri" panose="020F0502020204030204" pitchFamily="34" charset="0"/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2A4D2BBF-2F31-BD4A-8AA7-1AA60A9ADE7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12602" y="505876"/>
            <a:ext cx="3743922" cy="989773"/>
          </a:xfrm>
          <a:prstGeom prst="rect">
            <a:avLst/>
          </a:prstGeom>
        </p:spPr>
      </p:pic>
      <p:sp>
        <p:nvSpPr>
          <p:cNvPr id="11" name="Textplatzhalter 36">
            <a:extLst>
              <a:ext uri="{FF2B5EF4-FFF2-40B4-BE49-F238E27FC236}">
                <a16:creationId xmlns:a16="http://schemas.microsoft.com/office/drawing/2014/main" id="{099D3D0A-F81C-984E-B34A-A28DF3FD3559}"/>
              </a:ext>
            </a:extLst>
          </p:cNvPr>
          <p:cNvSpPr txBox="1">
            <a:spLocks/>
          </p:cNvSpPr>
          <p:nvPr userDrawn="1"/>
        </p:nvSpPr>
        <p:spPr>
          <a:xfrm>
            <a:off x="766764" y="6480000"/>
            <a:ext cx="1657350" cy="350140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InfoOTText" panose="02000506030000020004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InfoOTText" panose="02000506030000020004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InfoOTText" panose="02000506030000020004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InfoOTText" panose="02000506030000020004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solidFill>
                  <a:schemeClr val="bg1"/>
                </a:solidFill>
              </a:rPr>
              <a:t>05.10.20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7956604C-BBBA-E949-9F91-668A0C944C3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202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2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300" b="1" i="0" kern="1200">
          <a:solidFill>
            <a:schemeClr val="tx1"/>
          </a:solidFill>
          <a:latin typeface="InfoOTText Semibold" panose="02000506030000020004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InfoOTText Semibold" panose="02000506030000020004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InfoOTText" panose="02000506030000020004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InfoOTText" panose="02000506030000020004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InfoOTText" panose="02000506030000020004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InfoOTText" panose="02000506030000020004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6" userDrawn="1">
          <p15:clr>
            <a:srgbClr val="F26B43"/>
          </p15:clr>
        </p15:guide>
        <p15:guide id="2" pos="393" userDrawn="1">
          <p15:clr>
            <a:srgbClr val="F26B43"/>
          </p15:clr>
        </p15:guide>
        <p15:guide id="3" pos="7287" userDrawn="1">
          <p15:clr>
            <a:srgbClr val="F26B43"/>
          </p15:clr>
        </p15:guide>
        <p15:guide id="4" pos="3885" userDrawn="1">
          <p15:clr>
            <a:srgbClr val="F26B43"/>
          </p15:clr>
        </p15:guide>
        <p15:guide id="5" pos="2751" userDrawn="1">
          <p15:clr>
            <a:srgbClr val="F26B43"/>
          </p15:clr>
        </p15:guide>
        <p15:guide id="6" pos="5019" userDrawn="1">
          <p15:clr>
            <a:srgbClr val="F26B43"/>
          </p15:clr>
        </p15:guide>
        <p15:guide id="7" pos="1617" userDrawn="1">
          <p15:clr>
            <a:srgbClr val="F26B43"/>
          </p15:clr>
        </p15:guide>
        <p15:guide id="8" pos="6153" userDrawn="1">
          <p15:clr>
            <a:srgbClr val="F26B43"/>
          </p15:clr>
        </p15:guide>
        <p15:guide id="9" pos="1527" userDrawn="1">
          <p15:clr>
            <a:srgbClr val="F26B43"/>
          </p15:clr>
        </p15:guide>
        <p15:guide id="10" pos="2661" userDrawn="1">
          <p15:clr>
            <a:srgbClr val="F26B43"/>
          </p15:clr>
        </p15:guide>
        <p15:guide id="11" pos="3795" userDrawn="1">
          <p15:clr>
            <a:srgbClr val="F26B43"/>
          </p15:clr>
        </p15:guide>
        <p15:guide id="12" pos="4929" userDrawn="1">
          <p15:clr>
            <a:srgbClr val="F26B43"/>
          </p15:clr>
        </p15:guide>
        <p15:guide id="13" pos="6063" userDrawn="1">
          <p15:clr>
            <a:srgbClr val="F26B43"/>
          </p15:clr>
        </p15:guide>
        <p15:guide id="14" pos="7197" userDrawn="1">
          <p15:clr>
            <a:srgbClr val="F26B43"/>
          </p15:clr>
        </p15:guide>
        <p15:guide id="15" orient="horz" pos="3974" userDrawn="1">
          <p15:clr>
            <a:srgbClr val="F26B43"/>
          </p15:clr>
        </p15:guide>
        <p15:guide id="16" pos="483" userDrawn="1">
          <p15:clr>
            <a:srgbClr val="F26B43"/>
          </p15:clr>
        </p15:guide>
        <p15:guide id="17" orient="horz" pos="2160" userDrawn="1">
          <p15:clr>
            <a:srgbClr val="F26B43"/>
          </p15:clr>
        </p15:guide>
        <p15:guide id="18" orient="horz" pos="1253" userDrawn="1">
          <p15:clr>
            <a:srgbClr val="F26B43"/>
          </p15:clr>
        </p15:guide>
        <p15:guide id="19" orient="horz" pos="3067" userDrawn="1">
          <p15:clr>
            <a:srgbClr val="F26B43"/>
          </p15:clr>
        </p15:guide>
        <p15:guide id="20" orient="horz" pos="572" userDrawn="1">
          <p15:clr>
            <a:srgbClr val="F26B43"/>
          </p15:clr>
        </p15:guide>
        <p15:guide id="21" orient="horz" pos="799" userDrawn="1">
          <p15:clr>
            <a:srgbClr val="F26B43"/>
          </p15:clr>
        </p15:guide>
        <p15:guide id="22" orient="horz" pos="3521" userDrawn="1">
          <p15:clr>
            <a:srgbClr val="F26B43"/>
          </p15:clr>
        </p15:guide>
        <p15:guide id="23" orient="horz" pos="1026" userDrawn="1">
          <p15:clr>
            <a:srgbClr val="F26B43"/>
          </p15:clr>
        </p15:guide>
        <p15:guide id="24" orient="horz" pos="2840" userDrawn="1">
          <p15:clr>
            <a:srgbClr val="F26B43"/>
          </p15:clr>
        </p15:guide>
        <p15:guide id="25" orient="horz" pos="1933" userDrawn="1">
          <p15:clr>
            <a:srgbClr val="F26B43"/>
          </p15:clr>
        </p15:guide>
        <p15:guide id="26" orient="horz" pos="170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rafik 72">
            <a:extLst>
              <a:ext uri="{FF2B5EF4-FFF2-40B4-BE49-F238E27FC236}">
                <a16:creationId xmlns:a16="http://schemas.microsoft.com/office/drawing/2014/main" id="{5312F29A-2D58-8849-8B99-E33654C50C2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74611" y="555492"/>
            <a:ext cx="2696700" cy="712921"/>
          </a:xfrm>
          <a:prstGeom prst="rect">
            <a:avLst/>
          </a:prstGeom>
        </p:spPr>
      </p:pic>
      <p:sp>
        <p:nvSpPr>
          <p:cNvPr id="74" name="Rechtwinkliges Dreieck 73">
            <a:extLst>
              <a:ext uri="{FF2B5EF4-FFF2-40B4-BE49-F238E27FC236}">
                <a16:creationId xmlns:a16="http://schemas.microsoft.com/office/drawing/2014/main" id="{07F5C409-AB29-8E44-A156-06D2D4D29152}"/>
              </a:ext>
            </a:extLst>
          </p:cNvPr>
          <p:cNvSpPr/>
          <p:nvPr userDrawn="1"/>
        </p:nvSpPr>
        <p:spPr>
          <a:xfrm>
            <a:off x="0" y="3068638"/>
            <a:ext cx="9319214" cy="3789362"/>
          </a:xfrm>
          <a:prstGeom prst="rtTriangle">
            <a:avLst/>
          </a:prstGeom>
          <a:gradFill>
            <a:gsLst>
              <a:gs pos="0">
                <a:schemeClr val="tx2">
                  <a:alpha val="23000"/>
                </a:schemeClr>
              </a:gs>
              <a:gs pos="100000">
                <a:schemeClr val="bg2">
                  <a:alpha val="63000"/>
                  <a:lumMod val="80000"/>
                  <a:lumOff val="2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5" name="Rechtwinkliges Dreieck 74">
            <a:extLst>
              <a:ext uri="{FF2B5EF4-FFF2-40B4-BE49-F238E27FC236}">
                <a16:creationId xmlns:a16="http://schemas.microsoft.com/office/drawing/2014/main" id="{0501885F-DDE6-5B4F-984E-B0E3AD4F83F6}"/>
              </a:ext>
            </a:extLst>
          </p:cNvPr>
          <p:cNvSpPr/>
          <p:nvPr userDrawn="1"/>
        </p:nvSpPr>
        <p:spPr>
          <a:xfrm flipH="1">
            <a:off x="6167438" y="4513163"/>
            <a:ext cx="6024562" cy="2346326"/>
          </a:xfrm>
          <a:prstGeom prst="rtTriangle">
            <a:avLst/>
          </a:prstGeom>
          <a:gradFill>
            <a:gsLst>
              <a:gs pos="0">
                <a:schemeClr val="bg2">
                  <a:alpha val="45000"/>
                </a:schemeClr>
              </a:gs>
              <a:gs pos="99000">
                <a:schemeClr val="tx2">
                  <a:alpha val="70000"/>
                  <a:lumMod val="90000"/>
                  <a:lumOff val="1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Datumsplatzhalter 3">
            <a:extLst>
              <a:ext uri="{FF2B5EF4-FFF2-40B4-BE49-F238E27FC236}">
                <a16:creationId xmlns:a16="http://schemas.microsoft.com/office/drawing/2014/main" id="{0F54EA53-6D22-1646-8E74-8D75DE5BCB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4447" y="6397467"/>
            <a:ext cx="1649666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4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CD33B751-61F1-8D44-B94F-3CA57512EA7D}" type="datetime1">
              <a:rPr lang="de-DE" smtClean="0"/>
              <a:t>24.06.2024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99442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300" b="1" i="0" kern="1200">
          <a:solidFill>
            <a:schemeClr val="tx1"/>
          </a:solidFill>
          <a:latin typeface="InfoOTText Semibold" panose="02000506030000020004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InfoOTText Semibold" panose="02000506030000020004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InfoOTText" panose="02000506030000020004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InfoOTText" panose="02000506030000020004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InfoOTText" panose="02000506030000020004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InfoOTText" panose="02000506030000020004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6" userDrawn="1">
          <p15:clr>
            <a:srgbClr val="F26B43"/>
          </p15:clr>
        </p15:guide>
        <p15:guide id="2" pos="393" userDrawn="1">
          <p15:clr>
            <a:srgbClr val="F26B43"/>
          </p15:clr>
        </p15:guide>
        <p15:guide id="3" pos="7287" userDrawn="1">
          <p15:clr>
            <a:srgbClr val="F26B43"/>
          </p15:clr>
        </p15:guide>
        <p15:guide id="4" pos="3885" userDrawn="1">
          <p15:clr>
            <a:srgbClr val="F26B43"/>
          </p15:clr>
        </p15:guide>
        <p15:guide id="5" pos="2751" userDrawn="1">
          <p15:clr>
            <a:srgbClr val="F26B43"/>
          </p15:clr>
        </p15:guide>
        <p15:guide id="6" pos="5019" userDrawn="1">
          <p15:clr>
            <a:srgbClr val="F26B43"/>
          </p15:clr>
        </p15:guide>
        <p15:guide id="7" pos="1617" userDrawn="1">
          <p15:clr>
            <a:srgbClr val="F26B43"/>
          </p15:clr>
        </p15:guide>
        <p15:guide id="8" pos="6153" userDrawn="1">
          <p15:clr>
            <a:srgbClr val="F26B43"/>
          </p15:clr>
        </p15:guide>
        <p15:guide id="9" pos="1527" userDrawn="1">
          <p15:clr>
            <a:srgbClr val="F26B43"/>
          </p15:clr>
        </p15:guide>
        <p15:guide id="10" pos="2661" userDrawn="1">
          <p15:clr>
            <a:srgbClr val="F26B43"/>
          </p15:clr>
        </p15:guide>
        <p15:guide id="11" pos="3795" userDrawn="1">
          <p15:clr>
            <a:srgbClr val="F26B43"/>
          </p15:clr>
        </p15:guide>
        <p15:guide id="12" pos="4929" userDrawn="1">
          <p15:clr>
            <a:srgbClr val="F26B43"/>
          </p15:clr>
        </p15:guide>
        <p15:guide id="13" pos="6063" userDrawn="1">
          <p15:clr>
            <a:srgbClr val="F26B43"/>
          </p15:clr>
        </p15:guide>
        <p15:guide id="14" pos="7197" userDrawn="1">
          <p15:clr>
            <a:srgbClr val="F26B43"/>
          </p15:clr>
        </p15:guide>
        <p15:guide id="15" orient="horz" pos="3974" userDrawn="1">
          <p15:clr>
            <a:srgbClr val="F26B43"/>
          </p15:clr>
        </p15:guide>
        <p15:guide id="16" pos="483" userDrawn="1">
          <p15:clr>
            <a:srgbClr val="F26B43"/>
          </p15:clr>
        </p15:guide>
        <p15:guide id="17" orient="horz" pos="2160" userDrawn="1">
          <p15:clr>
            <a:srgbClr val="F26B43"/>
          </p15:clr>
        </p15:guide>
        <p15:guide id="18" orient="horz" pos="1253" userDrawn="1">
          <p15:clr>
            <a:srgbClr val="F26B43"/>
          </p15:clr>
        </p15:guide>
        <p15:guide id="19" orient="horz" pos="3067" userDrawn="1">
          <p15:clr>
            <a:srgbClr val="F26B43"/>
          </p15:clr>
        </p15:guide>
        <p15:guide id="20" orient="horz" pos="572" userDrawn="1">
          <p15:clr>
            <a:srgbClr val="F26B43"/>
          </p15:clr>
        </p15:guide>
        <p15:guide id="21" orient="horz" pos="799" userDrawn="1">
          <p15:clr>
            <a:srgbClr val="F26B43"/>
          </p15:clr>
        </p15:guide>
        <p15:guide id="22" orient="horz" pos="3521" userDrawn="1">
          <p15:clr>
            <a:srgbClr val="F26B43"/>
          </p15:clr>
        </p15:guide>
        <p15:guide id="23" orient="horz" pos="1026" userDrawn="1">
          <p15:clr>
            <a:srgbClr val="F26B43"/>
          </p15:clr>
        </p15:guide>
        <p15:guide id="24" orient="horz" pos="2840" userDrawn="1">
          <p15:clr>
            <a:srgbClr val="F26B43"/>
          </p15:clr>
        </p15:guide>
        <p15:guide id="25" orient="horz" pos="1933" userDrawn="1">
          <p15:clr>
            <a:srgbClr val="F26B43"/>
          </p15:clr>
        </p15:guide>
        <p15:guide id="26" orient="horz" pos="1706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rafik 72">
            <a:extLst>
              <a:ext uri="{FF2B5EF4-FFF2-40B4-BE49-F238E27FC236}">
                <a16:creationId xmlns:a16="http://schemas.microsoft.com/office/drawing/2014/main" id="{5312F29A-2D58-8849-8B99-E33654C50C2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74611" y="555492"/>
            <a:ext cx="2696700" cy="712921"/>
          </a:xfrm>
          <a:prstGeom prst="rect">
            <a:avLst/>
          </a:prstGeom>
        </p:spPr>
      </p:pic>
      <p:sp>
        <p:nvSpPr>
          <p:cNvPr id="6" name="Rechtwinkliges Dreieck 5">
            <a:extLst>
              <a:ext uri="{FF2B5EF4-FFF2-40B4-BE49-F238E27FC236}">
                <a16:creationId xmlns:a16="http://schemas.microsoft.com/office/drawing/2014/main" id="{AC7443A0-ECF8-974A-809B-83FEE2F4F02B}"/>
              </a:ext>
            </a:extLst>
          </p:cNvPr>
          <p:cNvSpPr/>
          <p:nvPr userDrawn="1"/>
        </p:nvSpPr>
        <p:spPr>
          <a:xfrm flipH="1" flipV="1">
            <a:off x="3657600" y="-5204"/>
            <a:ext cx="8534400" cy="3501438"/>
          </a:xfrm>
          <a:prstGeom prst="rtTriangle">
            <a:avLst/>
          </a:prstGeom>
          <a:gradFill>
            <a:gsLst>
              <a:gs pos="0">
                <a:schemeClr val="bg2">
                  <a:lumMod val="95000"/>
                  <a:lumOff val="5000"/>
                  <a:alpha val="63000"/>
                </a:schemeClr>
              </a:gs>
              <a:gs pos="100000">
                <a:schemeClr val="tx2">
                  <a:lumMod val="40000"/>
                  <a:lumOff val="60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Calibri" panose="020F0502020204030204" pitchFamily="34" charset="0"/>
            </a:endParaRPr>
          </a:p>
        </p:txBody>
      </p:sp>
      <p:sp>
        <p:nvSpPr>
          <p:cNvPr id="5" name="Datumsplatzhalter 3">
            <a:extLst>
              <a:ext uri="{FF2B5EF4-FFF2-40B4-BE49-F238E27FC236}">
                <a16:creationId xmlns:a16="http://schemas.microsoft.com/office/drawing/2014/main" id="{4AB97131-834C-E349-8F27-AF95017BFB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4447" y="6397467"/>
            <a:ext cx="1649666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4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C0AD0EE-10BC-1A46-B278-86D657622DAF}" type="datetime1">
              <a:rPr lang="de-DE" smtClean="0"/>
              <a:t>24.06.2024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08632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6" r:id="rId1"/>
    <p:sldLayoutId id="2147484013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300" b="1" i="0" kern="1200">
          <a:solidFill>
            <a:schemeClr val="tx1"/>
          </a:solidFill>
          <a:latin typeface="InfoOTText Semibold" panose="02000506030000020004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InfoOTText Semibold" panose="02000506030000020004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InfoOTText" panose="02000506030000020004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InfoOTText" panose="02000506030000020004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InfoOTText" panose="02000506030000020004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InfoOTText" panose="02000506030000020004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6" userDrawn="1">
          <p15:clr>
            <a:srgbClr val="F26B43"/>
          </p15:clr>
        </p15:guide>
        <p15:guide id="2" pos="393" userDrawn="1">
          <p15:clr>
            <a:srgbClr val="F26B43"/>
          </p15:clr>
        </p15:guide>
        <p15:guide id="3" pos="7287" userDrawn="1">
          <p15:clr>
            <a:srgbClr val="F26B43"/>
          </p15:clr>
        </p15:guide>
        <p15:guide id="4" pos="3885" userDrawn="1">
          <p15:clr>
            <a:srgbClr val="F26B43"/>
          </p15:clr>
        </p15:guide>
        <p15:guide id="5" pos="2751" userDrawn="1">
          <p15:clr>
            <a:srgbClr val="F26B43"/>
          </p15:clr>
        </p15:guide>
        <p15:guide id="6" pos="5019" userDrawn="1">
          <p15:clr>
            <a:srgbClr val="F26B43"/>
          </p15:clr>
        </p15:guide>
        <p15:guide id="7" pos="1617" userDrawn="1">
          <p15:clr>
            <a:srgbClr val="F26B43"/>
          </p15:clr>
        </p15:guide>
        <p15:guide id="8" pos="6153" userDrawn="1">
          <p15:clr>
            <a:srgbClr val="F26B43"/>
          </p15:clr>
        </p15:guide>
        <p15:guide id="9" pos="1527" userDrawn="1">
          <p15:clr>
            <a:srgbClr val="F26B43"/>
          </p15:clr>
        </p15:guide>
        <p15:guide id="10" pos="2661" userDrawn="1">
          <p15:clr>
            <a:srgbClr val="F26B43"/>
          </p15:clr>
        </p15:guide>
        <p15:guide id="11" pos="3795" userDrawn="1">
          <p15:clr>
            <a:srgbClr val="F26B43"/>
          </p15:clr>
        </p15:guide>
        <p15:guide id="12" pos="4929" userDrawn="1">
          <p15:clr>
            <a:srgbClr val="F26B43"/>
          </p15:clr>
        </p15:guide>
        <p15:guide id="13" pos="6063" userDrawn="1">
          <p15:clr>
            <a:srgbClr val="F26B43"/>
          </p15:clr>
        </p15:guide>
        <p15:guide id="14" pos="7197" userDrawn="1">
          <p15:clr>
            <a:srgbClr val="F26B43"/>
          </p15:clr>
        </p15:guide>
        <p15:guide id="15" orient="horz" pos="3974" userDrawn="1">
          <p15:clr>
            <a:srgbClr val="F26B43"/>
          </p15:clr>
        </p15:guide>
        <p15:guide id="16" pos="483" userDrawn="1">
          <p15:clr>
            <a:srgbClr val="F26B43"/>
          </p15:clr>
        </p15:guide>
        <p15:guide id="17" orient="horz" pos="2160" userDrawn="1">
          <p15:clr>
            <a:srgbClr val="F26B43"/>
          </p15:clr>
        </p15:guide>
        <p15:guide id="18" orient="horz" pos="1253" userDrawn="1">
          <p15:clr>
            <a:srgbClr val="F26B43"/>
          </p15:clr>
        </p15:guide>
        <p15:guide id="19" orient="horz" pos="3067" userDrawn="1">
          <p15:clr>
            <a:srgbClr val="F26B43"/>
          </p15:clr>
        </p15:guide>
        <p15:guide id="20" orient="horz" pos="572" userDrawn="1">
          <p15:clr>
            <a:srgbClr val="F26B43"/>
          </p15:clr>
        </p15:guide>
        <p15:guide id="21" orient="horz" pos="799" userDrawn="1">
          <p15:clr>
            <a:srgbClr val="F26B43"/>
          </p15:clr>
        </p15:guide>
        <p15:guide id="22" orient="horz" pos="3521" userDrawn="1">
          <p15:clr>
            <a:srgbClr val="F26B43"/>
          </p15:clr>
        </p15:guide>
        <p15:guide id="23" orient="horz" pos="1026" userDrawn="1">
          <p15:clr>
            <a:srgbClr val="F26B43"/>
          </p15:clr>
        </p15:guide>
        <p15:guide id="24" orient="horz" pos="2840" userDrawn="1">
          <p15:clr>
            <a:srgbClr val="F26B43"/>
          </p15:clr>
        </p15:guide>
        <p15:guide id="25" orient="horz" pos="1933" userDrawn="1">
          <p15:clr>
            <a:srgbClr val="F26B43"/>
          </p15:clr>
        </p15:guide>
        <p15:guide id="26" orient="horz" pos="1706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winkliges Dreieck 1">
            <a:extLst>
              <a:ext uri="{FF2B5EF4-FFF2-40B4-BE49-F238E27FC236}">
                <a16:creationId xmlns:a16="http://schemas.microsoft.com/office/drawing/2014/main" id="{07F56CF8-AB14-AB45-A557-FE193EB1458D}"/>
              </a:ext>
            </a:extLst>
          </p:cNvPr>
          <p:cNvSpPr/>
          <p:nvPr userDrawn="1"/>
        </p:nvSpPr>
        <p:spPr>
          <a:xfrm flipH="1" flipV="1">
            <a:off x="3657600" y="-5204"/>
            <a:ext cx="8534400" cy="3501438"/>
          </a:xfrm>
          <a:prstGeom prst="rtTriangle">
            <a:avLst/>
          </a:prstGeom>
          <a:gradFill>
            <a:gsLst>
              <a:gs pos="0">
                <a:schemeClr val="bg2">
                  <a:lumMod val="20000"/>
                  <a:lumOff val="8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Calibri" panose="020F0502020204030204" pitchFamily="34" charset="0"/>
            </a:endParaRPr>
          </a:p>
        </p:txBody>
      </p:sp>
      <p:cxnSp>
        <p:nvCxnSpPr>
          <p:cNvPr id="3" name="Gerade Verbindung 2">
            <a:extLst>
              <a:ext uri="{FF2B5EF4-FFF2-40B4-BE49-F238E27FC236}">
                <a16:creationId xmlns:a16="http://schemas.microsoft.com/office/drawing/2014/main" id="{21BC18C4-21BA-844C-81CC-8AAEE363A54D}"/>
              </a:ext>
            </a:extLst>
          </p:cNvPr>
          <p:cNvCxnSpPr>
            <a:cxnSpLocks/>
          </p:cNvCxnSpPr>
          <p:nvPr userDrawn="1"/>
        </p:nvCxnSpPr>
        <p:spPr>
          <a:xfrm>
            <a:off x="766763" y="6395161"/>
            <a:ext cx="885825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fik 3" descr="Ein Bild, das Zeichnung, Hemd enthält.&#10;&#10;Automatisch generierte Beschreibung">
            <a:extLst>
              <a:ext uri="{FF2B5EF4-FFF2-40B4-BE49-F238E27FC236}">
                <a16:creationId xmlns:a16="http://schemas.microsoft.com/office/drawing/2014/main" id="{34F6645E-3FF4-C841-9190-6E7B025D341D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0388620" y="6344142"/>
            <a:ext cx="1039697" cy="335386"/>
          </a:xfrm>
          <a:prstGeom prst="rect">
            <a:avLst/>
          </a:prstGeom>
        </p:spPr>
      </p:pic>
      <p:sp>
        <p:nvSpPr>
          <p:cNvPr id="11" name="Foliennummernplatzhalter 5">
            <a:extLst>
              <a:ext uri="{FF2B5EF4-FFF2-40B4-BE49-F238E27FC236}">
                <a16:creationId xmlns:a16="http://schemas.microsoft.com/office/drawing/2014/main" id="{A8A3B6D7-7EB4-8646-B562-457F9E6E0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81349" y="6397467"/>
            <a:ext cx="1649666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solidFill>
                  <a:srgbClr val="10A1D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de-DE" dirty="0"/>
              <a:t> </a:t>
            </a:r>
            <a:r>
              <a:rPr lang="de-DE" sz="1400" dirty="0"/>
              <a:t>Seite </a:t>
            </a:r>
            <a:fld id="{1009E830-1A31-2046-A084-D1E9F200294C}" type="slidenum">
              <a:rPr lang="de-DE" sz="1400" smtClean="0"/>
              <a:pPr/>
              <a:t>‹#›</a:t>
            </a:fld>
            <a:endParaRPr lang="de-DE" sz="1400" dirty="0"/>
          </a:p>
        </p:txBody>
      </p:sp>
      <p:sp>
        <p:nvSpPr>
          <p:cNvPr id="8" name="Datumsplatzhalter 2">
            <a:extLst>
              <a:ext uri="{FF2B5EF4-FFF2-40B4-BE49-F238E27FC236}">
                <a16:creationId xmlns:a16="http://schemas.microsoft.com/office/drawing/2014/main" id="{15A5FF9B-A132-F641-97F9-6F076D4217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4447" y="6397467"/>
            <a:ext cx="1649666" cy="365125"/>
          </a:xfrm>
          <a:prstGeom prst="rect">
            <a:avLst/>
          </a:prstGeom>
        </p:spPr>
        <p:txBody>
          <a:bodyPr lIns="0" rIns="0"/>
          <a:lstStyle>
            <a:lvl1pPr>
              <a:defRPr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A080FF9B-F16D-CA48-AEC0-3CC2FEA644E3}" type="datetime1">
              <a:rPr lang="de-DE" sz="1400" smtClean="0"/>
              <a:t>24.06.2024</a:t>
            </a:fld>
            <a:endParaRPr lang="de-DE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Fußzeilenplatzhalter 3">
            <a:extLst>
              <a:ext uri="{FF2B5EF4-FFF2-40B4-BE49-F238E27FC236}">
                <a16:creationId xmlns:a16="http://schemas.microsoft.com/office/drawing/2014/main" id="{12109E91-427D-E645-9EC5-AD9498E495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76352" y="6397467"/>
            <a:ext cx="5248435" cy="365125"/>
          </a:xfrm>
          <a:prstGeom prst="rect">
            <a:avLst/>
          </a:prstGeom>
        </p:spPr>
        <p:txBody>
          <a:bodyPr lIns="0" rIns="0"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r>
              <a:rPr lang="de-DE">
                <a:latin typeface="Calibri" panose="020F0502020204030204" pitchFamily="34" charset="0"/>
                <a:cs typeface="Calibri" panose="020F0502020204030204" pitchFamily="34" charset="0"/>
              </a:rPr>
              <a:t>Bitte Fußzeile definieren</a:t>
            </a:r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3207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4" r:id="rId1"/>
    <p:sldLayoutId id="2147483970" r:id="rId2"/>
    <p:sldLayoutId id="2147483969" r:id="rId3"/>
    <p:sldLayoutId id="2147483953" r:id="rId4"/>
    <p:sldLayoutId id="2147483955" r:id="rId5"/>
    <p:sldLayoutId id="2147483956" r:id="rId6"/>
    <p:sldLayoutId id="2147483962" r:id="rId7"/>
    <p:sldLayoutId id="2147483965" r:id="rId8"/>
    <p:sldLayoutId id="2147483967" r:id="rId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300" b="1" i="0" kern="1200">
          <a:solidFill>
            <a:schemeClr val="tx1"/>
          </a:solidFill>
          <a:latin typeface="InfoOTText Semibold" panose="02000506030000020004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InfoOTText Semibold" panose="02000506030000020004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InfoOTText" panose="02000506030000020004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InfoOTText" panose="02000506030000020004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InfoOTText" panose="02000506030000020004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InfoOTText" panose="02000506030000020004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6" userDrawn="1">
          <p15:clr>
            <a:srgbClr val="F26B43"/>
          </p15:clr>
        </p15:guide>
        <p15:guide id="2" pos="393" userDrawn="1">
          <p15:clr>
            <a:srgbClr val="F26B43"/>
          </p15:clr>
        </p15:guide>
        <p15:guide id="3" pos="7287" userDrawn="1">
          <p15:clr>
            <a:srgbClr val="F26B43"/>
          </p15:clr>
        </p15:guide>
        <p15:guide id="4" pos="3885" userDrawn="1">
          <p15:clr>
            <a:srgbClr val="F26B43"/>
          </p15:clr>
        </p15:guide>
        <p15:guide id="5" pos="2751" userDrawn="1">
          <p15:clr>
            <a:srgbClr val="F26B43"/>
          </p15:clr>
        </p15:guide>
        <p15:guide id="6" pos="5019" userDrawn="1">
          <p15:clr>
            <a:srgbClr val="F26B43"/>
          </p15:clr>
        </p15:guide>
        <p15:guide id="7" pos="1617" userDrawn="1">
          <p15:clr>
            <a:srgbClr val="F26B43"/>
          </p15:clr>
        </p15:guide>
        <p15:guide id="8" pos="6153" userDrawn="1">
          <p15:clr>
            <a:srgbClr val="F26B43"/>
          </p15:clr>
        </p15:guide>
        <p15:guide id="9" pos="1527" userDrawn="1">
          <p15:clr>
            <a:srgbClr val="F26B43"/>
          </p15:clr>
        </p15:guide>
        <p15:guide id="10" pos="2661" userDrawn="1">
          <p15:clr>
            <a:srgbClr val="F26B43"/>
          </p15:clr>
        </p15:guide>
        <p15:guide id="11" pos="3795" userDrawn="1">
          <p15:clr>
            <a:srgbClr val="F26B43"/>
          </p15:clr>
        </p15:guide>
        <p15:guide id="12" pos="4929" userDrawn="1">
          <p15:clr>
            <a:srgbClr val="F26B43"/>
          </p15:clr>
        </p15:guide>
        <p15:guide id="13" pos="6063" userDrawn="1">
          <p15:clr>
            <a:srgbClr val="F26B43"/>
          </p15:clr>
        </p15:guide>
        <p15:guide id="14" pos="7197" userDrawn="1">
          <p15:clr>
            <a:srgbClr val="F26B43"/>
          </p15:clr>
        </p15:guide>
        <p15:guide id="15" orient="horz" pos="3974" userDrawn="1">
          <p15:clr>
            <a:srgbClr val="F26B43"/>
          </p15:clr>
        </p15:guide>
        <p15:guide id="16" pos="483" userDrawn="1">
          <p15:clr>
            <a:srgbClr val="F26B43"/>
          </p15:clr>
        </p15:guide>
        <p15:guide id="17" orient="horz" pos="2160" userDrawn="1">
          <p15:clr>
            <a:srgbClr val="F26B43"/>
          </p15:clr>
        </p15:guide>
        <p15:guide id="18" orient="horz" pos="1253" userDrawn="1">
          <p15:clr>
            <a:srgbClr val="F26B43"/>
          </p15:clr>
        </p15:guide>
        <p15:guide id="19" orient="horz" pos="3067" userDrawn="1">
          <p15:clr>
            <a:srgbClr val="F26B43"/>
          </p15:clr>
        </p15:guide>
        <p15:guide id="20" orient="horz" pos="572" userDrawn="1">
          <p15:clr>
            <a:srgbClr val="F26B43"/>
          </p15:clr>
        </p15:guide>
        <p15:guide id="21" orient="horz" pos="799" userDrawn="1">
          <p15:clr>
            <a:srgbClr val="F26B43"/>
          </p15:clr>
        </p15:guide>
        <p15:guide id="22" orient="horz" pos="3521" userDrawn="1">
          <p15:clr>
            <a:srgbClr val="F26B43"/>
          </p15:clr>
        </p15:guide>
        <p15:guide id="23" orient="horz" pos="1026" userDrawn="1">
          <p15:clr>
            <a:srgbClr val="F26B43"/>
          </p15:clr>
        </p15:guide>
        <p15:guide id="24" orient="horz" pos="2840" userDrawn="1">
          <p15:clr>
            <a:srgbClr val="F26B43"/>
          </p15:clr>
        </p15:guide>
        <p15:guide id="25" orient="horz" pos="1933" userDrawn="1">
          <p15:clr>
            <a:srgbClr val="F26B43"/>
          </p15:clr>
        </p15:guide>
        <p15:guide id="26" orient="horz" pos="1706" userDrawn="1">
          <p15:clr>
            <a:srgbClr val="F26B43"/>
          </p15:clr>
        </p15:guide>
        <p15:guide id="27" orient="horz" pos="417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24DAA9-E8BA-7749-932C-F8B1FFCD8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Final Energy Demand </a:t>
            </a:r>
            <a:r>
              <a:rPr lang="en-GB" dirty="0"/>
              <a:t>Calculation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48B486B-CDB6-5048-BD43-A0292178BD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10F98CF-EB2F-7F43-8D5B-9EE6AD4307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94189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DB82BA1-B916-0AA0-4FBC-52077DC2F5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D03764E-E750-B24C-8D4A-E138820843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0.   M</a:t>
            </a:r>
            <a:r>
              <a:rPr lang="en-GB" dirty="0"/>
              <a:t>aster</a:t>
            </a:r>
            <a:r>
              <a:rPr lang="de-DE" dirty="0"/>
              <a:t> </a:t>
            </a:r>
            <a:r>
              <a:rPr lang="en-GB" dirty="0"/>
              <a:t>file</a:t>
            </a:r>
          </a:p>
          <a:p>
            <a:r>
              <a:rPr lang="en-GB" dirty="0" err="1"/>
              <a:t>Wärme</a:t>
            </a:r>
            <a:r>
              <a:rPr lang="en-GB" dirty="0"/>
              <a:t>- &amp; </a:t>
            </a:r>
            <a:r>
              <a:rPr lang="en-GB" dirty="0" err="1"/>
              <a:t>Wohnen</a:t>
            </a:r>
            <a:r>
              <a:rPr lang="en-GB" dirty="0"/>
              <a:t>-Panel</a:t>
            </a:r>
            <a:r>
              <a:rPr lang="de-DE" dirty="0"/>
              <a:t> (WUW) </a:t>
            </a:r>
            <a:r>
              <a:rPr lang="en-GB" dirty="0"/>
              <a:t>data</a:t>
            </a:r>
            <a:r>
              <a:rPr lang="de-DE" dirty="0"/>
              <a:t> </a:t>
            </a:r>
            <a:r>
              <a:rPr lang="en-GB" dirty="0"/>
              <a:t>cleaning</a:t>
            </a:r>
          </a:p>
          <a:p>
            <a:r>
              <a:rPr lang="en-GB" dirty="0"/>
              <a:t>Load parameters</a:t>
            </a:r>
          </a:p>
          <a:p>
            <a:r>
              <a:rPr lang="en-GB" dirty="0"/>
              <a:t>Defining technology used in the dataset</a:t>
            </a:r>
          </a:p>
          <a:p>
            <a:r>
              <a:rPr lang="en-US" dirty="0"/>
              <a:t>energy balance of a building</a:t>
            </a:r>
          </a:p>
          <a:p>
            <a:r>
              <a:rPr lang="en-GB" dirty="0"/>
              <a:t>Final energy demand calculation 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860BB08-DCD9-D456-A74B-1D0AC048296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R code script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40015ABD-D490-BE45-A6F1-95995D9541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 dirty="0"/>
              <a:t> </a:t>
            </a:r>
            <a:r>
              <a:rPr lang="de-DE" sz="1400" dirty="0"/>
              <a:t>Seite </a:t>
            </a:r>
            <a:fld id="{1009E830-1A31-2046-A084-D1E9F200294C}" type="slidenum">
              <a:rPr lang="de-DE" sz="1400" smtClean="0"/>
              <a:pPr/>
              <a:t>2</a:t>
            </a:fld>
            <a:endParaRPr lang="de-DE" sz="1400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B8D28875-9D74-E948-A7A1-97C44494535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CB9996C-AF4D-514B-8165-65E1ACD3B2EB}" type="datetime1">
              <a:rPr lang="de-DE" sz="1400" smtClean="0"/>
              <a:t>24.06.2024</a:t>
            </a:fld>
            <a:endParaRPr lang="de-DE" sz="1400" dirty="0"/>
          </a:p>
        </p:txBody>
      </p:sp>
    </p:spTree>
    <p:extLst>
      <p:ext uri="{BB962C8B-B14F-4D97-AF65-F5344CB8AC3E}">
        <p14:creationId xmlns:p14="http://schemas.microsoft.com/office/powerpoint/2010/main" val="2548455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370E76-0145-0C46-9A00-946838C15B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0400" y="1989138"/>
            <a:ext cx="7054388" cy="670935"/>
          </a:xfrm>
        </p:spPr>
        <p:txBody>
          <a:bodyPr/>
          <a:lstStyle/>
          <a:p>
            <a:r>
              <a:rPr lang="en-US" dirty="0"/>
              <a:t>0. Master file</a:t>
            </a:r>
            <a:endParaRPr lang="en-GB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EC4C0E70-ECC2-AB4D-86CC-9048AF3A9A79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117983B-DF90-444B-9BF6-7593EBE7AD9E}" type="datetime1">
              <a:rPr kumimoji="0" 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24.06.2024</a:t>
            </a:fld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4" name="Textplatzhalter 8">
            <a:extLst>
              <a:ext uri="{FF2B5EF4-FFF2-40B4-BE49-F238E27FC236}">
                <a16:creationId xmlns:a16="http://schemas.microsoft.com/office/drawing/2014/main" id="{B14CEEA0-70B8-5217-6632-585CB9CDE90B}"/>
              </a:ext>
            </a:extLst>
          </p:cNvPr>
          <p:cNvSpPr txBox="1">
            <a:spLocks/>
          </p:cNvSpPr>
          <p:nvPr/>
        </p:nvSpPr>
        <p:spPr>
          <a:xfrm>
            <a:off x="1019781" y="2845095"/>
            <a:ext cx="7040909" cy="2016183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dirty="0"/>
              <a:t>Uploading the needed libraries and setting the paths </a:t>
            </a:r>
          </a:p>
        </p:txBody>
      </p:sp>
    </p:spTree>
    <p:extLst>
      <p:ext uri="{BB962C8B-B14F-4D97-AF65-F5344CB8AC3E}">
        <p14:creationId xmlns:p14="http://schemas.microsoft.com/office/powerpoint/2010/main" val="1562194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0E49CAF-7121-1119-2119-362F0C13CD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> </a:t>
            </a:r>
            <a:r>
              <a:rPr lang="de-DE" sz="1400"/>
              <a:t>Seite </a:t>
            </a:r>
            <a:fld id="{1009E830-1A31-2046-A084-D1E9F200294C}" type="slidenum">
              <a:rPr lang="de-DE" sz="1400" smtClean="0"/>
              <a:pPr/>
              <a:t>4</a:t>
            </a:fld>
            <a:endParaRPr lang="de-DE" sz="140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DA00229-D2D6-31E0-8E29-687CCD9E30C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EE3BB37-241D-F742-AF57-57B0232CDDCA}" type="datetime1">
              <a:rPr lang="de-DE" sz="1400" smtClean="0"/>
              <a:t>24.06.2024</a:t>
            </a:fld>
            <a:endParaRPr lang="de-DE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29E8D30-2752-2A79-0902-EF18721E61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>
                <a:latin typeface="Calibri" panose="020F0502020204030204" pitchFamily="34" charset="0"/>
                <a:cs typeface="Calibri" panose="020F0502020204030204" pitchFamily="34" charset="0"/>
              </a:rPr>
              <a:t>Bitte Fußzeile definieren</a:t>
            </a:r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9E3FB263-08FB-BA0B-FCCC-5180DC12AD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0. Master file</a:t>
            </a:r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60EF9D8-CB45-237A-9583-59A7CCDD75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Library needed for running the R script</a:t>
            </a:r>
            <a:endParaRPr lang="de-DE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802F0627-6C20-2F61-2798-02A351A5DDB4}"/>
              </a:ext>
            </a:extLst>
          </p:cNvPr>
          <p:cNvSpPr txBox="1"/>
          <p:nvPr/>
        </p:nvSpPr>
        <p:spPr>
          <a:xfrm>
            <a:off x="976749" y="1945016"/>
            <a:ext cx="5088504" cy="320600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742950" lvl="1" indent="-285750">
              <a:spcAft>
                <a:spcPts val="1000"/>
              </a:spcAft>
              <a:buFont typeface="Arial" panose="020B0604020202020204" pitchFamily="34" charset="0"/>
              <a:buChar char="–"/>
              <a:tabLst>
                <a:tab pos="457200" algn="l"/>
              </a:tabLst>
            </a:pPr>
            <a:r>
              <a:rPr lang="en-US" sz="1800" dirty="0" err="1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data.table</a:t>
            </a:r>
            <a:r>
              <a:rPr lang="en-US" sz="1800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 (1.14.10)</a:t>
            </a:r>
            <a:endParaRPr lang="de-DE" sz="1800" dirty="0">
              <a:effectLst/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742950" lvl="1" indent="-285750">
              <a:spcAft>
                <a:spcPts val="1000"/>
              </a:spcAft>
              <a:buFont typeface="Arial" panose="020B0604020202020204" pitchFamily="34" charset="0"/>
              <a:buChar char="–"/>
              <a:tabLst>
                <a:tab pos="457200" algn="l"/>
              </a:tabLst>
            </a:pPr>
            <a:r>
              <a:rPr lang="en-US" sz="1800" dirty="0" err="1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dplyr</a:t>
            </a:r>
            <a:r>
              <a:rPr lang="en-US" sz="1800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 (1.1.4)</a:t>
            </a:r>
            <a:endParaRPr lang="de-DE" sz="1800" dirty="0">
              <a:effectLst/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742950" lvl="1" indent="-285750">
              <a:spcAft>
                <a:spcPts val="1000"/>
              </a:spcAft>
              <a:buFont typeface="Arial" panose="020B0604020202020204" pitchFamily="34" charset="0"/>
              <a:buChar char="–"/>
              <a:tabLst>
                <a:tab pos="457200" algn="l"/>
              </a:tabLst>
            </a:pPr>
            <a:r>
              <a:rPr lang="en-US" sz="1800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foreign (0.8-86)</a:t>
            </a:r>
            <a:endParaRPr lang="de-DE" sz="1800" dirty="0">
              <a:effectLst/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742950" lvl="1" indent="-285750">
              <a:spcAft>
                <a:spcPts val="1000"/>
              </a:spcAft>
              <a:buFont typeface="Arial" panose="020B0604020202020204" pitchFamily="34" charset="0"/>
              <a:buChar char="–"/>
              <a:tabLst>
                <a:tab pos="457200" algn="l"/>
              </a:tabLst>
            </a:pPr>
            <a:r>
              <a:rPr lang="en-US" sz="1800" dirty="0" err="1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gdata</a:t>
            </a:r>
            <a:r>
              <a:rPr lang="en-US" sz="1800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 (3.0.0)</a:t>
            </a:r>
            <a:endParaRPr lang="de-DE" sz="1800" dirty="0">
              <a:effectLst/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742950" lvl="1" indent="-285750">
              <a:spcAft>
                <a:spcPts val="1000"/>
              </a:spcAft>
              <a:buFont typeface="Arial" panose="020B0604020202020204" pitchFamily="34" charset="0"/>
              <a:buChar char="–"/>
              <a:tabLst>
                <a:tab pos="457200" algn="l"/>
              </a:tabLst>
            </a:pPr>
            <a:r>
              <a:rPr lang="en-US" sz="1800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haven (2.5.4)</a:t>
            </a:r>
            <a:endParaRPr lang="de-DE" sz="1800" dirty="0">
              <a:effectLst/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742950" lvl="1" indent="-285750">
              <a:spcAft>
                <a:spcPts val="1000"/>
              </a:spcAft>
              <a:buFont typeface="Arial" panose="020B0604020202020204" pitchFamily="34" charset="0"/>
              <a:buChar char="–"/>
              <a:tabLst>
                <a:tab pos="457200" algn="l"/>
              </a:tabLst>
            </a:pPr>
            <a:r>
              <a:rPr lang="en-US" sz="1800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labelled (2.12.0)</a:t>
            </a:r>
            <a:endParaRPr lang="de-DE" sz="1800" dirty="0">
              <a:effectLst/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742950" lvl="1" indent="-285750">
              <a:spcAft>
                <a:spcPts val="1000"/>
              </a:spcAft>
              <a:buFont typeface="Arial" panose="020B0604020202020204" pitchFamily="34" charset="0"/>
              <a:buChar char="–"/>
              <a:tabLst>
                <a:tab pos="457200" algn="l"/>
              </a:tabLst>
            </a:pPr>
            <a:r>
              <a:rPr lang="en-US" sz="1800" dirty="0" err="1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openxlsx</a:t>
            </a:r>
            <a:r>
              <a:rPr lang="en-US" sz="1800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 (4.2.5.2)</a:t>
            </a:r>
            <a:endParaRPr lang="de-DE" sz="1800" dirty="0">
              <a:effectLst/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de-DE" sz="2400" b="1" i="0" dirty="0" err="1">
              <a:solidFill>
                <a:schemeClr val="tx2"/>
              </a:solidFill>
              <a:latin typeface="InfoOTDisp Semibold" panose="02000506040000020004" pitchFamily="2" charset="77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A2988CC8-068A-495E-39F1-75D21E7E4A61}"/>
              </a:ext>
            </a:extLst>
          </p:cNvPr>
          <p:cNvSpPr txBox="1"/>
          <p:nvPr/>
        </p:nvSpPr>
        <p:spPr>
          <a:xfrm>
            <a:off x="6888435" y="1945016"/>
            <a:ext cx="4218955" cy="280076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742950" lvl="1" indent="-285750">
              <a:spcAft>
                <a:spcPts val="1000"/>
              </a:spcAft>
              <a:buFont typeface="Arial" panose="020B0604020202020204" pitchFamily="34" charset="0"/>
              <a:buChar char="–"/>
              <a:tabLst>
                <a:tab pos="457200" algn="l"/>
              </a:tabLst>
            </a:pPr>
            <a:r>
              <a:rPr lang="en-US" sz="1800" dirty="0" err="1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readxl</a:t>
            </a:r>
            <a:r>
              <a:rPr lang="en-US" sz="1800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 (1.4.3)</a:t>
            </a:r>
            <a:endParaRPr lang="de-DE" sz="1800" dirty="0">
              <a:effectLst/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742950" lvl="1" indent="-285750">
              <a:spcAft>
                <a:spcPts val="1000"/>
              </a:spcAft>
              <a:buFont typeface="Arial" panose="020B0604020202020204" pitchFamily="34" charset="0"/>
              <a:buChar char="–"/>
              <a:tabLst>
                <a:tab pos="457200" algn="l"/>
              </a:tabLst>
            </a:pPr>
            <a:r>
              <a:rPr lang="en-US" sz="1800" dirty="0" err="1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sjlabelled</a:t>
            </a:r>
            <a:r>
              <a:rPr lang="en-US" sz="1800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 (1.2.0)</a:t>
            </a:r>
            <a:endParaRPr lang="de-DE" sz="1800" dirty="0">
              <a:effectLst/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742950" lvl="1" indent="-285750">
              <a:spcAft>
                <a:spcPts val="1000"/>
              </a:spcAft>
              <a:buFont typeface="Arial" panose="020B0604020202020204" pitchFamily="34" charset="0"/>
              <a:buChar char="–"/>
              <a:tabLst>
                <a:tab pos="457200" algn="l"/>
              </a:tabLst>
            </a:pPr>
            <a:r>
              <a:rPr lang="en-US" sz="1800" dirty="0" err="1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sjmisc</a:t>
            </a:r>
            <a:r>
              <a:rPr lang="en-US" sz="1800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 (2.8.9)</a:t>
            </a:r>
            <a:endParaRPr lang="de-DE" sz="1800" dirty="0">
              <a:effectLst/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742950" lvl="1" indent="-285750">
              <a:spcAft>
                <a:spcPts val="1000"/>
              </a:spcAft>
              <a:buFont typeface="Arial" panose="020B0604020202020204" pitchFamily="34" charset="0"/>
              <a:buChar char="–"/>
              <a:tabLst>
                <a:tab pos="457200" algn="l"/>
              </a:tabLst>
            </a:pPr>
            <a:r>
              <a:rPr lang="en-US" sz="1800" dirty="0" err="1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stringr</a:t>
            </a:r>
            <a:r>
              <a:rPr lang="en-US" sz="1800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 (1.5.1)</a:t>
            </a:r>
            <a:endParaRPr lang="de-DE" sz="1800" dirty="0">
              <a:effectLst/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742950" lvl="1" indent="-285750">
              <a:spcAft>
                <a:spcPts val="1000"/>
              </a:spcAft>
              <a:buFont typeface="Arial" panose="020B0604020202020204" pitchFamily="34" charset="0"/>
              <a:buChar char="–"/>
              <a:tabLst>
                <a:tab pos="457200" algn="l"/>
              </a:tabLst>
            </a:pPr>
            <a:r>
              <a:rPr lang="en-US" sz="1800" dirty="0" err="1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tidyverse</a:t>
            </a:r>
            <a:r>
              <a:rPr lang="en-US" sz="1800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 (2.0.0)</a:t>
            </a:r>
            <a:endParaRPr lang="de-DE" sz="1800" dirty="0">
              <a:effectLst/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742950" lvl="1" indent="-285750">
              <a:spcAft>
                <a:spcPts val="1000"/>
              </a:spcAft>
              <a:buFont typeface="Arial" panose="020B0604020202020204" pitchFamily="34" charset="0"/>
              <a:buChar char="–"/>
              <a:tabLst>
                <a:tab pos="457200" algn="l"/>
              </a:tabLst>
            </a:pPr>
            <a:r>
              <a:rPr lang="en-US" sz="1800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xlsx (0.6.5)</a:t>
            </a:r>
            <a:endParaRPr lang="de-DE" sz="1800" dirty="0">
              <a:effectLst/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de-DE" sz="2400" b="1" i="0" dirty="0" err="1">
              <a:solidFill>
                <a:schemeClr val="tx2"/>
              </a:solidFill>
              <a:latin typeface="InfoOTDisp Semibold" panose="0200050604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73583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5B918E1-B5B5-B6A3-872C-F1B20F8E3372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766761" y="1989137"/>
            <a:ext cx="10465812" cy="4318061"/>
          </a:xfrm>
        </p:spPr>
        <p:txBody>
          <a:bodyPr/>
          <a:lstStyle/>
          <a:p>
            <a:r>
              <a:rPr lang="en-GB" dirty="0"/>
              <a:t>1. Load dataset – Panel 1 (2021)</a:t>
            </a:r>
          </a:p>
          <a:p>
            <a:r>
              <a:rPr lang="en-GB" dirty="0"/>
              <a:t>2. Data customisation and clean-up </a:t>
            </a:r>
          </a:p>
          <a:p>
            <a:r>
              <a:rPr lang="en-GB" dirty="0"/>
              <a:t>3. Identification of KFW funding </a:t>
            </a:r>
            <a:r>
              <a:rPr lang="en-GB" b="0" dirty="0"/>
              <a:t>-</a:t>
            </a:r>
            <a:r>
              <a:rPr lang="en-GB" dirty="0"/>
              <a:t> </a:t>
            </a:r>
            <a:r>
              <a:rPr lang="en-GB" b="0" dirty="0"/>
              <a:t>for calculation of U values later on</a:t>
            </a:r>
          </a:p>
          <a:p>
            <a:r>
              <a:rPr lang="en-GB" dirty="0"/>
              <a:t>4. Subset of data - </a:t>
            </a:r>
            <a:r>
              <a:rPr lang="en-GB" b="0" dirty="0"/>
              <a:t>If no information on living space/heating system remove</a:t>
            </a:r>
          </a:p>
          <a:p>
            <a:r>
              <a:rPr lang="en-GB" dirty="0"/>
              <a:t>5. Recode Missing values to Standard values </a:t>
            </a:r>
            <a:r>
              <a:rPr lang="en-GB" b="0" dirty="0"/>
              <a:t>(Check Assumptions document)</a:t>
            </a:r>
          </a:p>
          <a:p>
            <a:r>
              <a:rPr lang="en-GB" dirty="0"/>
              <a:t>6. Save cleaned dataset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8FADBF7-226F-634C-874B-39F16B9FC6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dirty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 </a:t>
            </a:r>
            <a:r>
              <a:rPr lang="en-US" dirty="0" err="1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Seite</a:t>
            </a:r>
            <a:r>
              <a:rPr lang="en-US" dirty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 </a:t>
            </a:r>
            <a:fld id="{1009E830-1A31-2046-A084-D1E9F200294C}" type="slidenum">
              <a:rPr lang="en-US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pPr defTabSz="914400">
                <a:spcAft>
                  <a:spcPts val="600"/>
                </a:spcAft>
              </a:pPr>
              <a:t>5</a:t>
            </a:fld>
            <a:endParaRPr lang="en-US" dirty="0">
              <a:solidFill>
                <a:schemeClr val="tx1">
                  <a:tint val="75000"/>
                </a:schemeClr>
              </a:solidFill>
              <a:latin typeface="+mn-lt"/>
              <a:cs typeface="+mn-cs"/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7A86BFA-978A-764C-B5AF-9DED2F346CA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2BF76E1-0A38-5547-A653-80A3AFB3E41D}" type="datetime1">
              <a:rPr lang="en-US"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pPr defTabSz="914400">
                <a:spcAft>
                  <a:spcPts val="600"/>
                </a:spcAft>
              </a:pPr>
              <a:t>6/24/2024</a:t>
            </a:fld>
            <a:endParaRPr lang="en-US" sz="1200" dirty="0">
              <a:solidFill>
                <a:schemeClr val="tx1">
                  <a:tint val="75000"/>
                </a:schemeClr>
              </a:solidFill>
              <a:latin typeface="+mn-lt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C29489C-63E1-4DC5-525E-B46B0B7A72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1. </a:t>
            </a:r>
            <a:r>
              <a:rPr lang="en-GB" dirty="0" err="1"/>
              <a:t>Wärme</a:t>
            </a:r>
            <a:r>
              <a:rPr lang="en-GB" dirty="0"/>
              <a:t>- &amp; </a:t>
            </a:r>
            <a:r>
              <a:rPr lang="en-GB" dirty="0" err="1"/>
              <a:t>Wohnen</a:t>
            </a:r>
            <a:r>
              <a:rPr lang="en-GB" dirty="0"/>
              <a:t>-Panel</a:t>
            </a:r>
            <a:r>
              <a:rPr lang="de-DE" dirty="0"/>
              <a:t> (WUW) Data</a:t>
            </a:r>
            <a:br>
              <a:rPr lang="en-GB" dirty="0"/>
            </a:b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EFAD6DE-D908-947F-3B74-95AB013D1E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Dataset</a:t>
            </a:r>
            <a:r>
              <a:rPr lang="de-DE" dirty="0"/>
              <a:t> </a:t>
            </a:r>
            <a:r>
              <a:rPr lang="en-GB" dirty="0"/>
              <a:t>cleaning</a:t>
            </a:r>
          </a:p>
        </p:txBody>
      </p:sp>
    </p:spTree>
    <p:extLst>
      <p:ext uri="{BB962C8B-B14F-4D97-AF65-F5344CB8AC3E}">
        <p14:creationId xmlns:p14="http://schemas.microsoft.com/office/powerpoint/2010/main" val="1905845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FD5CF6D-CA07-5CE7-712A-D72A942882A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05929" y="1421141"/>
            <a:ext cx="5425964" cy="4976326"/>
          </a:xfrm>
        </p:spPr>
        <p:txBody>
          <a:bodyPr/>
          <a:lstStyle/>
          <a:p>
            <a:r>
              <a:rPr lang="en-GB" sz="1800" dirty="0"/>
              <a:t>1. Load U-values: roof, top floor, walls, floor, windows + G-values windows</a:t>
            </a:r>
          </a:p>
          <a:p>
            <a:r>
              <a:rPr lang="en-GB" sz="1800" dirty="0"/>
              <a:t>2. Load Climate coefficients: depending on the energy standard of the building (h)</a:t>
            </a:r>
          </a:p>
          <a:p>
            <a:r>
              <a:rPr lang="en-GB" sz="1800" dirty="0"/>
              <a:t>3. Load Costs per energy source</a:t>
            </a:r>
          </a:p>
          <a:p>
            <a:r>
              <a:rPr lang="en-GB" sz="1800" dirty="0"/>
              <a:t>4. Hot water distribution: </a:t>
            </a:r>
            <a:r>
              <a:rPr lang="en-GB" sz="1800" dirty="0" err="1"/>
              <a:t>Wd</a:t>
            </a:r>
            <a:endParaRPr lang="en-GB" sz="1800" dirty="0"/>
          </a:p>
          <a:p>
            <a:pPr lvl="1"/>
            <a:r>
              <a:rPr lang="en-GB" sz="1800" dirty="0"/>
              <a:t>4.1. Heat loss</a:t>
            </a:r>
          </a:p>
          <a:p>
            <a:pPr lvl="1"/>
            <a:r>
              <a:rPr lang="en-GB" sz="1800" dirty="0"/>
              <a:t>4.2. Heating credit</a:t>
            </a:r>
          </a:p>
          <a:p>
            <a:pPr lvl="1"/>
            <a:r>
              <a:rPr lang="en-GB" sz="1800" dirty="0"/>
              <a:t>4.3. Auxiliary energy requirement</a:t>
            </a:r>
          </a:p>
          <a:p>
            <a:r>
              <a:rPr lang="en-GB" sz="1800" dirty="0"/>
              <a:t>5. Hot water storage: </a:t>
            </a:r>
            <a:r>
              <a:rPr lang="en-GB" sz="1800" dirty="0" err="1"/>
              <a:t>Ws</a:t>
            </a:r>
            <a:endParaRPr lang="en-GB" sz="1800" dirty="0"/>
          </a:p>
          <a:p>
            <a:pPr lvl="1"/>
            <a:r>
              <a:rPr lang="en-GB" sz="1800" dirty="0"/>
              <a:t>5.1. Heat loss</a:t>
            </a:r>
          </a:p>
          <a:p>
            <a:pPr lvl="1"/>
            <a:r>
              <a:rPr lang="en-GB" sz="1800" dirty="0"/>
              <a:t>5.2. Heating credit</a:t>
            </a:r>
          </a:p>
          <a:p>
            <a:pPr lvl="1"/>
            <a:r>
              <a:rPr lang="en-GB" sz="1800" dirty="0"/>
              <a:t>5.3. Auxiliary energy requirement</a:t>
            </a:r>
          </a:p>
          <a:p>
            <a:endParaRPr lang="en-GB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8FADBF7-226F-634C-874B-39F16B9FC6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dirty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 </a:t>
            </a:r>
            <a:r>
              <a:rPr lang="en-US" dirty="0" err="1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Seite</a:t>
            </a:r>
            <a:r>
              <a:rPr lang="en-US" dirty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 </a:t>
            </a:r>
            <a:fld id="{1009E830-1A31-2046-A084-D1E9F200294C}" type="slidenum">
              <a:rPr lang="en-US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pPr defTabSz="914400">
                <a:spcAft>
                  <a:spcPts val="600"/>
                </a:spcAft>
              </a:pPr>
              <a:t>6</a:t>
            </a:fld>
            <a:endParaRPr lang="en-US" dirty="0">
              <a:solidFill>
                <a:schemeClr val="tx1">
                  <a:tint val="75000"/>
                </a:schemeClr>
              </a:solidFill>
              <a:latin typeface="+mn-lt"/>
              <a:cs typeface="+mn-cs"/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7A86BFA-978A-764C-B5AF-9DED2F346CA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2BF76E1-0A38-5547-A653-80A3AFB3E41D}" type="datetime1">
              <a:rPr lang="en-US"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pPr defTabSz="914400">
                <a:spcAft>
                  <a:spcPts val="600"/>
                </a:spcAft>
              </a:pPr>
              <a:t>6/24/2024</a:t>
            </a:fld>
            <a:endParaRPr lang="en-US" sz="1200" dirty="0">
              <a:solidFill>
                <a:schemeClr val="tx1">
                  <a:tint val="75000"/>
                </a:schemeClr>
              </a:solidFill>
              <a:latin typeface="+mn-lt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799BD55-BA5B-3706-D2B9-825A941991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2. Load parameters</a:t>
            </a:r>
            <a:br>
              <a:rPr lang="en-GB" dirty="0"/>
            </a:b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29935B4-0FC1-386C-CA8C-4A6B06DE45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Loads all data which are stored individually in Excel</a:t>
            </a:r>
          </a:p>
        </p:txBody>
      </p:sp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65AF759C-28E3-FCA8-C778-46E56A95248F}"/>
              </a:ext>
            </a:extLst>
          </p:cNvPr>
          <p:cNvSpPr txBox="1">
            <a:spLocks/>
          </p:cNvSpPr>
          <p:nvPr/>
        </p:nvSpPr>
        <p:spPr>
          <a:xfrm>
            <a:off x="6031892" y="1332399"/>
            <a:ext cx="4973027" cy="497632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Lucida Grande" panose="020B0600040502020204" pitchFamily="34" charset="0"/>
              <a:buChar char="▸"/>
              <a:defRPr sz="2400" b="1" i="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Lucida Grande" panose="020B0600040502020204" pitchFamily="34" charset="0"/>
              <a:buChar char="▸"/>
              <a:defRPr sz="2000" b="0" i="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Lucida Grande" panose="020B0600040502020204" pitchFamily="34" charset="0"/>
              <a:buChar char="▸"/>
              <a:defRPr sz="1600" b="0" i="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Lucida Grande" panose="020B0600040502020204" pitchFamily="34" charset="0"/>
              <a:buChar char="▸"/>
              <a:defRPr sz="1600" b="0" i="0" kern="120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Lucida Grande" panose="020B0600040502020204" pitchFamily="34" charset="0"/>
              <a:buChar char="▸"/>
              <a:defRPr sz="1600" b="0" i="0" kern="120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dirty="0"/>
              <a:t>6. Hot water generation: </a:t>
            </a:r>
            <a:r>
              <a:rPr lang="en-GB" sz="1800" dirty="0" err="1"/>
              <a:t>Wg</a:t>
            </a:r>
            <a:endParaRPr lang="en-GB" sz="1800" dirty="0"/>
          </a:p>
          <a:p>
            <a:pPr lvl="1"/>
            <a:r>
              <a:rPr lang="en-GB" sz="1800" dirty="0"/>
              <a:t>6.1. Producer Expense figure</a:t>
            </a:r>
          </a:p>
          <a:p>
            <a:pPr lvl="1"/>
            <a:r>
              <a:rPr lang="en-GB" sz="1800" dirty="0"/>
              <a:t>6.2. Auxiliary energy requirement</a:t>
            </a:r>
          </a:p>
          <a:p>
            <a:r>
              <a:rPr lang="en-GB" sz="1800" dirty="0"/>
              <a:t>7. Heating transfer: </a:t>
            </a:r>
            <a:r>
              <a:rPr lang="en-GB" sz="1800" dirty="0" err="1"/>
              <a:t>Hce</a:t>
            </a:r>
            <a:endParaRPr lang="en-GB" sz="1800" dirty="0"/>
          </a:p>
          <a:p>
            <a:pPr lvl="1"/>
            <a:r>
              <a:rPr lang="en-GB" sz="1800" dirty="0"/>
              <a:t>7.1. Heat losses</a:t>
            </a:r>
          </a:p>
          <a:p>
            <a:pPr lvl="1"/>
            <a:r>
              <a:rPr lang="en-GB" sz="1800" dirty="0"/>
              <a:t>7.2. Auxiliary energy requirement</a:t>
            </a:r>
          </a:p>
          <a:p>
            <a:r>
              <a:rPr lang="en-GB" sz="1800" dirty="0"/>
              <a:t>8. Heat distribution: </a:t>
            </a:r>
            <a:r>
              <a:rPr lang="en-GB" sz="1800" dirty="0" err="1"/>
              <a:t>Hd</a:t>
            </a:r>
            <a:endParaRPr lang="en-GB" sz="1800" dirty="0"/>
          </a:p>
          <a:p>
            <a:pPr lvl="1"/>
            <a:r>
              <a:rPr lang="en-GB" sz="1800" dirty="0"/>
              <a:t>8.1. Heat losses</a:t>
            </a:r>
          </a:p>
          <a:p>
            <a:pPr lvl="1"/>
            <a:r>
              <a:rPr lang="en-GB" sz="1800" dirty="0"/>
              <a:t>8.2. Auxiliary energy requirement</a:t>
            </a:r>
          </a:p>
          <a:p>
            <a:r>
              <a:rPr lang="en-GB" sz="1800" dirty="0"/>
              <a:t>9. Heat storage: Hs</a:t>
            </a:r>
          </a:p>
          <a:p>
            <a:pPr lvl="1"/>
            <a:r>
              <a:rPr lang="en-GB" sz="1800" dirty="0"/>
              <a:t>9.1. Heat losses</a:t>
            </a:r>
          </a:p>
          <a:p>
            <a:pPr lvl="1"/>
            <a:r>
              <a:rPr lang="en-GB" sz="1800" dirty="0"/>
              <a:t>9.2. Auxiliary energy requirement</a:t>
            </a:r>
          </a:p>
          <a:p>
            <a:r>
              <a:rPr lang="en-GB" sz="1800" dirty="0"/>
              <a:t>10. Heat generation: Hg</a:t>
            </a:r>
          </a:p>
          <a:p>
            <a:pPr lvl="1"/>
            <a:r>
              <a:rPr lang="en-GB" sz="1800" dirty="0"/>
              <a:t>10.1. Producer effort figure</a:t>
            </a:r>
          </a:p>
          <a:p>
            <a:pPr lvl="1"/>
            <a:r>
              <a:rPr lang="en-GB" sz="1800" dirty="0"/>
              <a:t>10.2. Auxiliary energy requirement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3872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le 4">
            <a:extLst>
              <a:ext uri="{FF2B5EF4-FFF2-40B4-BE49-F238E27FC236}">
                <a16:creationId xmlns:a16="http://schemas.microsoft.com/office/drawing/2014/main" id="{A477DD9F-9E46-C1D8-0E96-0A166AB3C8D6}"/>
              </a:ext>
            </a:extLst>
          </p:cNvPr>
          <p:cNvGraphicFramePr>
            <a:graphicFrameLocks noGrp="1"/>
          </p:cNvGraphicFramePr>
          <p:nvPr>
            <p:ph sz="quarter" idx="19"/>
            <p:extLst>
              <p:ext uri="{D42A27DB-BD31-4B8C-83A1-F6EECF244321}">
                <p14:modId xmlns:p14="http://schemas.microsoft.com/office/powerpoint/2010/main" val="981521525"/>
              </p:ext>
            </p:extLst>
          </p:nvPr>
        </p:nvGraphicFramePr>
        <p:xfrm>
          <a:off x="1028700" y="1114424"/>
          <a:ext cx="9105899" cy="5200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5975">
                  <a:extLst>
                    <a:ext uri="{9D8B030D-6E8A-4147-A177-3AD203B41FA5}">
                      <a16:colId xmlns:a16="http://schemas.microsoft.com/office/drawing/2014/main" val="1348997567"/>
                    </a:ext>
                  </a:extLst>
                </a:gridCol>
                <a:gridCol w="1091177">
                  <a:extLst>
                    <a:ext uri="{9D8B030D-6E8A-4147-A177-3AD203B41FA5}">
                      <a16:colId xmlns:a16="http://schemas.microsoft.com/office/drawing/2014/main" val="3943778001"/>
                    </a:ext>
                  </a:extLst>
                </a:gridCol>
                <a:gridCol w="719367">
                  <a:extLst>
                    <a:ext uri="{9D8B030D-6E8A-4147-A177-3AD203B41FA5}">
                      <a16:colId xmlns:a16="http://schemas.microsoft.com/office/drawing/2014/main" val="132286613"/>
                    </a:ext>
                  </a:extLst>
                </a:gridCol>
                <a:gridCol w="849600">
                  <a:extLst>
                    <a:ext uri="{9D8B030D-6E8A-4147-A177-3AD203B41FA5}">
                      <a16:colId xmlns:a16="http://schemas.microsoft.com/office/drawing/2014/main" val="2186665132"/>
                    </a:ext>
                  </a:extLst>
                </a:gridCol>
                <a:gridCol w="558717">
                  <a:extLst>
                    <a:ext uri="{9D8B030D-6E8A-4147-A177-3AD203B41FA5}">
                      <a16:colId xmlns:a16="http://schemas.microsoft.com/office/drawing/2014/main" val="1485703673"/>
                    </a:ext>
                  </a:extLst>
                </a:gridCol>
                <a:gridCol w="614592">
                  <a:extLst>
                    <a:ext uri="{9D8B030D-6E8A-4147-A177-3AD203B41FA5}">
                      <a16:colId xmlns:a16="http://schemas.microsoft.com/office/drawing/2014/main" val="1868361338"/>
                    </a:ext>
                  </a:extLst>
                </a:gridCol>
                <a:gridCol w="576578">
                  <a:extLst>
                    <a:ext uri="{9D8B030D-6E8A-4147-A177-3AD203B41FA5}">
                      <a16:colId xmlns:a16="http://schemas.microsoft.com/office/drawing/2014/main" val="1179196809"/>
                    </a:ext>
                  </a:extLst>
                </a:gridCol>
                <a:gridCol w="782171">
                  <a:extLst>
                    <a:ext uri="{9D8B030D-6E8A-4147-A177-3AD203B41FA5}">
                      <a16:colId xmlns:a16="http://schemas.microsoft.com/office/drawing/2014/main" val="1135353749"/>
                    </a:ext>
                  </a:extLst>
                </a:gridCol>
                <a:gridCol w="704902">
                  <a:extLst>
                    <a:ext uri="{9D8B030D-6E8A-4147-A177-3AD203B41FA5}">
                      <a16:colId xmlns:a16="http://schemas.microsoft.com/office/drawing/2014/main" val="2392552474"/>
                    </a:ext>
                  </a:extLst>
                </a:gridCol>
                <a:gridCol w="776971">
                  <a:extLst>
                    <a:ext uri="{9D8B030D-6E8A-4147-A177-3AD203B41FA5}">
                      <a16:colId xmlns:a16="http://schemas.microsoft.com/office/drawing/2014/main" val="3581923689"/>
                    </a:ext>
                  </a:extLst>
                </a:gridCol>
                <a:gridCol w="1085849">
                  <a:extLst>
                    <a:ext uri="{9D8B030D-6E8A-4147-A177-3AD203B41FA5}">
                      <a16:colId xmlns:a16="http://schemas.microsoft.com/office/drawing/2014/main" val="2884570303"/>
                    </a:ext>
                  </a:extLst>
                </a:gridCol>
              </a:tblGrid>
              <a:tr h="299103"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de-D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U-WERTE BAUKONSTRUKTION</a:t>
                      </a:r>
                    </a:p>
                  </a:txBody>
                  <a:tcPr marL="6350" marR="6350" marT="6350" marB="0" anchor="ctr"/>
                </a:tc>
                <a:tc rowSpan="2"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 fontAlgn="b"/>
                      <a:r>
                        <a:rPr lang="de-D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Building </a:t>
                      </a:r>
                      <a:r>
                        <a:rPr lang="de-DE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age</a:t>
                      </a:r>
                      <a:endParaRPr lang="de-DE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297749045"/>
                  </a:ext>
                </a:extLst>
              </a:tr>
              <a:tr h="546975">
                <a:tc gridSpan="2"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bis 1918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1919 bis 1948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1949 bis 1957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1958 bis 1968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1969 bis 1978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1979 bis 1983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1984 bis 1994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  <a:r>
                        <a:rPr lang="de-DE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95</a:t>
                      </a:r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bis 2020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</a:t>
                      </a:r>
                      <a:r>
                        <a:rPr lang="de-DE" sz="12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on`t</a:t>
                      </a:r>
                      <a:r>
                        <a:rPr lang="de-DE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12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know</a:t>
                      </a:r>
                      <a:endParaRPr lang="de-DE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02823922"/>
                  </a:ext>
                </a:extLst>
              </a:tr>
              <a:tr h="360902">
                <a:tc rowSpan="3">
                  <a:txBody>
                    <a:bodyPr/>
                    <a:lstStyle/>
                    <a:p>
                      <a:pPr algn="ctr" fontAlgn="t"/>
                      <a:r>
                        <a:rPr lang="de-D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Roof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Massive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0,5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982031677"/>
                  </a:ext>
                </a:extLst>
              </a:tr>
              <a:tr h="360902"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on`t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know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0,5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248488768"/>
                  </a:ext>
                </a:extLst>
              </a:tr>
              <a:tr h="366736"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Wood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0,5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214302642"/>
                  </a:ext>
                </a:extLst>
              </a:tr>
              <a:tr h="360902">
                <a:tc rowSpan="3">
                  <a:txBody>
                    <a:bodyPr/>
                    <a:lstStyle/>
                    <a:p>
                      <a:pPr algn="ctr" fontAlgn="t"/>
                      <a:r>
                        <a:rPr lang="de-D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Top </a:t>
                      </a:r>
                      <a:r>
                        <a:rPr lang="de-DE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floor</a:t>
                      </a:r>
                      <a:r>
                        <a:rPr lang="de-D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ceiling</a:t>
                      </a:r>
                      <a:endParaRPr lang="de-DE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Massive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0,5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950912664"/>
                  </a:ext>
                </a:extLst>
              </a:tr>
              <a:tr h="360902"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on`t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know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0,5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181855427"/>
                  </a:ext>
                </a:extLst>
              </a:tr>
              <a:tr h="366736"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Wood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0,4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95695064"/>
                  </a:ext>
                </a:extLst>
              </a:tr>
              <a:tr h="360902">
                <a:tc rowSpan="3">
                  <a:txBody>
                    <a:bodyPr/>
                    <a:lstStyle/>
                    <a:p>
                      <a:pPr algn="ctr" fontAlgn="t"/>
                      <a:r>
                        <a:rPr lang="de-DE" sz="14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Exterior</a:t>
                      </a:r>
                      <a:r>
                        <a:rPr lang="de-DE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 wall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Massive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781285366"/>
                  </a:ext>
                </a:extLst>
              </a:tr>
              <a:tr h="360902"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on`t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know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50453098"/>
                  </a:ext>
                </a:extLst>
              </a:tr>
              <a:tr h="366736"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Wood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0,5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275036217"/>
                  </a:ext>
                </a:extLst>
              </a:tr>
              <a:tr h="360902">
                <a:tc rowSpan="3">
                  <a:txBody>
                    <a:bodyPr/>
                    <a:lstStyle/>
                    <a:p>
                      <a:pPr algn="ctr" fontAlgn="t"/>
                      <a:r>
                        <a:rPr lang="de-D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Floor/Basement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Massive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254545202"/>
                  </a:ext>
                </a:extLst>
              </a:tr>
              <a:tr h="360902"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on`t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know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85213541"/>
                  </a:ext>
                </a:extLst>
              </a:tr>
              <a:tr h="366736"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Wood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0,6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69255567"/>
                  </a:ext>
                </a:extLst>
              </a:tr>
            </a:tbl>
          </a:graphicData>
        </a:graphic>
      </p:graphicFrame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8FADBF7-226F-634C-874B-39F16B9FC6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dirty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 </a:t>
            </a:r>
            <a:r>
              <a:rPr lang="en-US" dirty="0" err="1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Seite</a:t>
            </a:r>
            <a:r>
              <a:rPr lang="en-US" dirty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 </a:t>
            </a:r>
            <a:fld id="{1009E830-1A31-2046-A084-D1E9F200294C}" type="slidenum">
              <a:rPr lang="en-US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pPr defTabSz="914400">
                <a:spcAft>
                  <a:spcPts val="600"/>
                </a:spcAft>
              </a:pPr>
              <a:t>7</a:t>
            </a:fld>
            <a:endParaRPr lang="en-US" dirty="0">
              <a:solidFill>
                <a:schemeClr val="tx1">
                  <a:tint val="75000"/>
                </a:schemeClr>
              </a:solidFill>
              <a:latin typeface="+mn-lt"/>
              <a:cs typeface="+mn-cs"/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7A86BFA-978A-764C-B5AF-9DED2F346CA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2BF76E1-0A38-5547-A653-80A3AFB3E41D}" type="datetime1">
              <a:rPr lang="en-US"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pPr defTabSz="914400">
                <a:spcAft>
                  <a:spcPts val="600"/>
                </a:spcAft>
              </a:pPr>
              <a:t>6/24/2024</a:t>
            </a:fld>
            <a:endParaRPr lang="en-US" sz="1200" dirty="0">
              <a:solidFill>
                <a:schemeClr val="tx1">
                  <a:tint val="75000"/>
                </a:schemeClr>
              </a:solidFill>
              <a:latin typeface="+mn-lt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799BD55-BA5B-3706-D2B9-825A941991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0400" y="549275"/>
            <a:ext cx="9707100" cy="358775"/>
          </a:xfrm>
        </p:spPr>
        <p:txBody>
          <a:bodyPr/>
          <a:lstStyle/>
          <a:p>
            <a:r>
              <a:rPr lang="en-GB" sz="2800" dirty="0"/>
              <a:t>1. Load U-values: </a:t>
            </a:r>
            <a:r>
              <a:rPr lang="en-GB" sz="2800" cap="none" dirty="0"/>
              <a:t>Roof, Top Floor, Walls &amp; Floor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77202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8FADBF7-226F-634C-874B-39F16B9FC6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dirty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 </a:t>
            </a:r>
            <a:r>
              <a:rPr lang="en-US" dirty="0" err="1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Seite</a:t>
            </a:r>
            <a:r>
              <a:rPr lang="en-US" dirty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 </a:t>
            </a:r>
            <a:fld id="{1009E830-1A31-2046-A084-D1E9F200294C}" type="slidenum">
              <a:rPr lang="en-US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pPr defTabSz="914400">
                <a:spcAft>
                  <a:spcPts val="600"/>
                </a:spcAft>
              </a:pPr>
              <a:t>8</a:t>
            </a:fld>
            <a:endParaRPr lang="en-US" dirty="0">
              <a:solidFill>
                <a:schemeClr val="tx1">
                  <a:tint val="75000"/>
                </a:schemeClr>
              </a:solidFill>
              <a:latin typeface="+mn-lt"/>
              <a:cs typeface="+mn-cs"/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7A86BFA-978A-764C-B5AF-9DED2F346CA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2BF76E1-0A38-5547-A653-80A3AFB3E41D}" type="datetime1">
              <a:rPr lang="en-US"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pPr defTabSz="914400">
                <a:spcAft>
                  <a:spcPts val="600"/>
                </a:spcAft>
              </a:pPr>
              <a:t>6/24/2024</a:t>
            </a:fld>
            <a:endParaRPr lang="en-US" sz="1200" dirty="0">
              <a:solidFill>
                <a:schemeClr val="tx1">
                  <a:tint val="75000"/>
                </a:schemeClr>
              </a:solidFill>
              <a:latin typeface="+mn-lt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799BD55-BA5B-3706-D2B9-825A941991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sz="2800" dirty="0"/>
              <a:t>1. Load U-values and G-VALUES WINDOWS</a:t>
            </a:r>
            <a:endParaRPr lang="en-GB" dirty="0"/>
          </a:p>
        </p:txBody>
      </p:sp>
      <p:graphicFrame>
        <p:nvGraphicFramePr>
          <p:cNvPr id="8" name="Tabelle 8">
            <a:extLst>
              <a:ext uri="{FF2B5EF4-FFF2-40B4-BE49-F238E27FC236}">
                <a16:creationId xmlns:a16="http://schemas.microsoft.com/office/drawing/2014/main" id="{37704402-D4AF-8077-9799-FD4489CA5FB0}"/>
              </a:ext>
            </a:extLst>
          </p:cNvPr>
          <p:cNvGraphicFramePr>
            <a:graphicFrameLocks noGrp="1"/>
          </p:cNvGraphicFramePr>
          <p:nvPr>
            <p:ph sz="quarter" idx="19"/>
            <p:extLst>
              <p:ext uri="{D42A27DB-BD31-4B8C-83A1-F6EECF244321}">
                <p14:modId xmlns:p14="http://schemas.microsoft.com/office/powerpoint/2010/main" val="70738650"/>
              </p:ext>
            </p:extLst>
          </p:nvPr>
        </p:nvGraphicFramePr>
        <p:xfrm>
          <a:off x="1001365" y="1064367"/>
          <a:ext cx="9553575" cy="52393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8675">
                  <a:extLst>
                    <a:ext uri="{9D8B030D-6E8A-4147-A177-3AD203B41FA5}">
                      <a16:colId xmlns:a16="http://schemas.microsoft.com/office/drawing/2014/main" val="1571983194"/>
                    </a:ext>
                  </a:extLst>
                </a:gridCol>
                <a:gridCol w="1686227">
                  <a:extLst>
                    <a:ext uri="{9D8B030D-6E8A-4147-A177-3AD203B41FA5}">
                      <a16:colId xmlns:a16="http://schemas.microsoft.com/office/drawing/2014/main" val="932588110"/>
                    </a:ext>
                  </a:extLst>
                </a:gridCol>
                <a:gridCol w="578991">
                  <a:extLst>
                    <a:ext uri="{9D8B030D-6E8A-4147-A177-3AD203B41FA5}">
                      <a16:colId xmlns:a16="http://schemas.microsoft.com/office/drawing/2014/main" val="2020739682"/>
                    </a:ext>
                  </a:extLst>
                </a:gridCol>
                <a:gridCol w="773257">
                  <a:extLst>
                    <a:ext uri="{9D8B030D-6E8A-4147-A177-3AD203B41FA5}">
                      <a16:colId xmlns:a16="http://schemas.microsoft.com/office/drawing/2014/main" val="2398420462"/>
                    </a:ext>
                  </a:extLst>
                </a:gridCol>
                <a:gridCol w="847725">
                  <a:extLst>
                    <a:ext uri="{9D8B030D-6E8A-4147-A177-3AD203B41FA5}">
                      <a16:colId xmlns:a16="http://schemas.microsoft.com/office/drawing/2014/main" val="338079642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617601238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247949124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17911275"/>
                    </a:ext>
                  </a:extLst>
                </a:gridCol>
                <a:gridCol w="819150">
                  <a:extLst>
                    <a:ext uri="{9D8B030D-6E8A-4147-A177-3AD203B41FA5}">
                      <a16:colId xmlns:a16="http://schemas.microsoft.com/office/drawing/2014/main" val="3832858279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156405269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3938365108"/>
                    </a:ext>
                  </a:extLst>
                </a:gridCol>
              </a:tblGrid>
              <a:tr h="370340"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U- UND G-WERTE FENSTER</a:t>
                      </a:r>
                    </a:p>
                  </a:txBody>
                  <a:tcPr marL="6350" marR="6350" marT="6350" marB="0" anchor="ctr"/>
                </a:tc>
                <a:tc rowSpan="2"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Einbaujahr (Fenster)</a:t>
                      </a: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50366306"/>
                  </a:ext>
                </a:extLst>
              </a:tr>
              <a:tr h="315460">
                <a:tc gridSpan="2"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bis 1918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1919 bis 1948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1949 bis 1957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1958 bis 1968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1969 bis 1978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1979 bis 1983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1984 bis 1994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1995 bis 2020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Don`t</a:t>
                      </a:r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know</a:t>
                      </a:r>
                      <a:endParaRPr lang="de-DE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677543721"/>
                  </a:ext>
                </a:extLst>
              </a:tr>
              <a:tr h="371609"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U-</a:t>
                      </a:r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value</a:t>
                      </a:r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Windows</a:t>
                      </a:r>
                    </a:p>
                    <a:p>
                      <a:pPr algn="ctr" fontAlgn="t"/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  <a:p>
                      <a:pPr algn="ctr" fontAlgn="t"/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  <a:p>
                      <a:pPr algn="ctr" fontAlgn="t"/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Don`t</a:t>
                      </a:r>
                      <a:r>
                        <a:rPr lang="de-DE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12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know</a:t>
                      </a:r>
                      <a:endParaRPr lang="de-DE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2,7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469073588"/>
                  </a:ext>
                </a:extLst>
              </a:tr>
              <a:tr h="352291"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Single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glazed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–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–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5,0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539035091"/>
                  </a:ext>
                </a:extLst>
              </a:tr>
              <a:tr h="246881"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Wooden windows with double glazing 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2,7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22713876"/>
                  </a:ext>
                </a:extLst>
              </a:tr>
              <a:tr h="408940">
                <a:tc vMerge="1">
                  <a:txBody>
                    <a:bodyPr/>
                    <a:lstStyle/>
                    <a:p>
                      <a:pPr algn="l" fontAlgn="t"/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PVC-U windows with double glazing 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–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–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–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3,0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50750594"/>
                  </a:ext>
                </a:extLst>
              </a:tr>
              <a:tr h="385234">
                <a:tc vMerge="1">
                  <a:txBody>
                    <a:bodyPr/>
                    <a:lstStyle/>
                    <a:p>
                      <a:pPr algn="l" fontAlgn="t"/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Aluminum windows with double glazing 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–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–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4,3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882731281"/>
                  </a:ext>
                </a:extLst>
              </a:tr>
              <a:tr h="367068">
                <a:tc vMerge="1">
                  <a:txBody>
                    <a:bodyPr/>
                    <a:lstStyle/>
                    <a:p>
                      <a:pPr algn="l" fontAlgn="t"/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Triple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glazed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–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–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–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–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–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–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1,6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92989418"/>
                  </a:ext>
                </a:extLst>
              </a:tr>
              <a:tr h="371609"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G-</a:t>
                      </a:r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value</a:t>
                      </a:r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windows</a:t>
                      </a:r>
                      <a:endParaRPr lang="de-DE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fontAlgn="t"/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  <a:p>
                      <a:pPr algn="ctr" fontAlgn="t"/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  <a:p>
                      <a:pPr algn="ctr" fontAlgn="t"/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de-DE" sz="12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Don`t</a:t>
                      </a:r>
                      <a:r>
                        <a:rPr lang="de-DE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12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know</a:t>
                      </a:r>
                      <a:endParaRPr lang="de-DE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0,60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0,75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636456966"/>
                  </a:ext>
                </a:extLst>
              </a:tr>
              <a:tr h="367068"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Single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glazed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–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–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0,87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04300195"/>
                  </a:ext>
                </a:extLst>
              </a:tr>
              <a:tr h="370879"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Wooden windows with double glazing 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0,60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0,75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00863709"/>
                  </a:ext>
                </a:extLst>
              </a:tr>
              <a:tr h="360719">
                <a:tc vMerge="1">
                  <a:txBody>
                    <a:bodyPr/>
                    <a:lstStyle/>
                    <a:p>
                      <a:pPr algn="l" fontAlgn="t"/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PVC-U windows with double glazing 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–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–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–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0,60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0,75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1821358"/>
                  </a:ext>
                </a:extLst>
              </a:tr>
              <a:tr h="316942">
                <a:tc vMerge="1">
                  <a:txBody>
                    <a:bodyPr/>
                    <a:lstStyle/>
                    <a:p>
                      <a:pPr algn="l" fontAlgn="t"/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Aluminum windows with double glazing 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–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–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0,60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0,75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538486323"/>
                  </a:ext>
                </a:extLst>
              </a:tr>
              <a:tr h="384607">
                <a:tc vMerge="1">
                  <a:txBody>
                    <a:bodyPr/>
                    <a:lstStyle/>
                    <a:p>
                      <a:pPr algn="l" fontAlgn="t"/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Triple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glazed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–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–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–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–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–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–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0,6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50958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8359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8FADBF7-226F-634C-874B-39F16B9FC6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dirty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 </a:t>
            </a:r>
            <a:r>
              <a:rPr lang="en-US" dirty="0" err="1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Seite</a:t>
            </a:r>
            <a:r>
              <a:rPr lang="en-US" dirty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 </a:t>
            </a:r>
            <a:fld id="{1009E830-1A31-2046-A084-D1E9F200294C}" type="slidenum">
              <a:rPr lang="en-US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pPr defTabSz="914400">
                <a:spcAft>
                  <a:spcPts val="600"/>
                </a:spcAft>
              </a:pPr>
              <a:t>9</a:t>
            </a:fld>
            <a:endParaRPr lang="en-US" dirty="0">
              <a:solidFill>
                <a:schemeClr val="tx1">
                  <a:tint val="75000"/>
                </a:schemeClr>
              </a:solidFill>
              <a:latin typeface="+mn-lt"/>
              <a:cs typeface="+mn-cs"/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7A86BFA-978A-764C-B5AF-9DED2F346CA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2BF76E1-0A38-5547-A653-80A3AFB3E41D}" type="datetime1">
              <a:rPr lang="en-US"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pPr defTabSz="914400">
                <a:spcAft>
                  <a:spcPts val="600"/>
                </a:spcAft>
              </a:pPr>
              <a:t>6/24/2024</a:t>
            </a:fld>
            <a:endParaRPr lang="en-US" sz="1200" dirty="0">
              <a:solidFill>
                <a:schemeClr val="tx1">
                  <a:tint val="75000"/>
                </a:schemeClr>
              </a:solidFill>
              <a:latin typeface="+mn-lt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799BD55-BA5B-3706-D2B9-825A941991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sz="2800" dirty="0"/>
              <a:t>2. </a:t>
            </a:r>
            <a:r>
              <a:rPr lang="en-US" sz="2800" dirty="0"/>
              <a:t>Climate coefficients</a:t>
            </a:r>
            <a:endParaRPr lang="en-GB" dirty="0"/>
          </a:p>
        </p:txBody>
      </p:sp>
      <p:graphicFrame>
        <p:nvGraphicFramePr>
          <p:cNvPr id="9" name="Tabelle 9">
            <a:extLst>
              <a:ext uri="{FF2B5EF4-FFF2-40B4-BE49-F238E27FC236}">
                <a16:creationId xmlns:a16="http://schemas.microsoft.com/office/drawing/2014/main" id="{B5AC82D6-61C9-95F0-8510-C7AA6079890A}"/>
              </a:ext>
            </a:extLst>
          </p:cNvPr>
          <p:cNvGraphicFramePr>
            <a:graphicFrameLocks noGrp="1"/>
          </p:cNvGraphicFramePr>
          <p:nvPr>
            <p:ph sz="quarter" idx="19"/>
            <p:extLst>
              <p:ext uri="{D42A27DB-BD31-4B8C-83A1-F6EECF244321}">
                <p14:modId xmlns:p14="http://schemas.microsoft.com/office/powerpoint/2010/main" val="2665673419"/>
              </p:ext>
            </p:extLst>
          </p:nvPr>
        </p:nvGraphicFramePr>
        <p:xfrm>
          <a:off x="0" y="1743075"/>
          <a:ext cx="12192010" cy="34099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8650">
                  <a:extLst>
                    <a:ext uri="{9D8B030D-6E8A-4147-A177-3AD203B41FA5}">
                      <a16:colId xmlns:a16="http://schemas.microsoft.com/office/drawing/2014/main" val="3976065369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3012330218"/>
                    </a:ext>
                  </a:extLst>
                </a:gridCol>
                <a:gridCol w="428832">
                  <a:extLst>
                    <a:ext uri="{9D8B030D-6E8A-4147-A177-3AD203B41FA5}">
                      <a16:colId xmlns:a16="http://schemas.microsoft.com/office/drawing/2014/main" val="1942554227"/>
                    </a:ext>
                  </a:extLst>
                </a:gridCol>
                <a:gridCol w="486199">
                  <a:extLst>
                    <a:ext uri="{9D8B030D-6E8A-4147-A177-3AD203B41FA5}">
                      <a16:colId xmlns:a16="http://schemas.microsoft.com/office/drawing/2014/main" val="969676370"/>
                    </a:ext>
                  </a:extLst>
                </a:gridCol>
                <a:gridCol w="486199">
                  <a:extLst>
                    <a:ext uri="{9D8B030D-6E8A-4147-A177-3AD203B41FA5}">
                      <a16:colId xmlns:a16="http://schemas.microsoft.com/office/drawing/2014/main" val="1894926851"/>
                    </a:ext>
                  </a:extLst>
                </a:gridCol>
                <a:gridCol w="486199">
                  <a:extLst>
                    <a:ext uri="{9D8B030D-6E8A-4147-A177-3AD203B41FA5}">
                      <a16:colId xmlns:a16="http://schemas.microsoft.com/office/drawing/2014/main" val="2887580485"/>
                    </a:ext>
                  </a:extLst>
                </a:gridCol>
                <a:gridCol w="486199">
                  <a:extLst>
                    <a:ext uri="{9D8B030D-6E8A-4147-A177-3AD203B41FA5}">
                      <a16:colId xmlns:a16="http://schemas.microsoft.com/office/drawing/2014/main" val="2730100479"/>
                    </a:ext>
                  </a:extLst>
                </a:gridCol>
                <a:gridCol w="486199">
                  <a:extLst>
                    <a:ext uri="{9D8B030D-6E8A-4147-A177-3AD203B41FA5}">
                      <a16:colId xmlns:a16="http://schemas.microsoft.com/office/drawing/2014/main" val="3100997282"/>
                    </a:ext>
                  </a:extLst>
                </a:gridCol>
                <a:gridCol w="486199">
                  <a:extLst>
                    <a:ext uri="{9D8B030D-6E8A-4147-A177-3AD203B41FA5}">
                      <a16:colId xmlns:a16="http://schemas.microsoft.com/office/drawing/2014/main" val="1016544675"/>
                    </a:ext>
                  </a:extLst>
                </a:gridCol>
                <a:gridCol w="486199">
                  <a:extLst>
                    <a:ext uri="{9D8B030D-6E8A-4147-A177-3AD203B41FA5}">
                      <a16:colId xmlns:a16="http://schemas.microsoft.com/office/drawing/2014/main" val="1481767150"/>
                    </a:ext>
                  </a:extLst>
                </a:gridCol>
                <a:gridCol w="486199">
                  <a:extLst>
                    <a:ext uri="{9D8B030D-6E8A-4147-A177-3AD203B41FA5}">
                      <a16:colId xmlns:a16="http://schemas.microsoft.com/office/drawing/2014/main" val="652455302"/>
                    </a:ext>
                  </a:extLst>
                </a:gridCol>
                <a:gridCol w="486199">
                  <a:extLst>
                    <a:ext uri="{9D8B030D-6E8A-4147-A177-3AD203B41FA5}">
                      <a16:colId xmlns:a16="http://schemas.microsoft.com/office/drawing/2014/main" val="3429934094"/>
                    </a:ext>
                  </a:extLst>
                </a:gridCol>
                <a:gridCol w="486199">
                  <a:extLst>
                    <a:ext uri="{9D8B030D-6E8A-4147-A177-3AD203B41FA5}">
                      <a16:colId xmlns:a16="http://schemas.microsoft.com/office/drawing/2014/main" val="2810606131"/>
                    </a:ext>
                  </a:extLst>
                </a:gridCol>
                <a:gridCol w="486199">
                  <a:extLst>
                    <a:ext uri="{9D8B030D-6E8A-4147-A177-3AD203B41FA5}">
                      <a16:colId xmlns:a16="http://schemas.microsoft.com/office/drawing/2014/main" val="822308647"/>
                    </a:ext>
                  </a:extLst>
                </a:gridCol>
                <a:gridCol w="486199">
                  <a:extLst>
                    <a:ext uri="{9D8B030D-6E8A-4147-A177-3AD203B41FA5}">
                      <a16:colId xmlns:a16="http://schemas.microsoft.com/office/drawing/2014/main" val="2695414228"/>
                    </a:ext>
                  </a:extLst>
                </a:gridCol>
                <a:gridCol w="486199">
                  <a:extLst>
                    <a:ext uri="{9D8B030D-6E8A-4147-A177-3AD203B41FA5}">
                      <a16:colId xmlns:a16="http://schemas.microsoft.com/office/drawing/2014/main" val="1737241808"/>
                    </a:ext>
                  </a:extLst>
                </a:gridCol>
                <a:gridCol w="486199">
                  <a:extLst>
                    <a:ext uri="{9D8B030D-6E8A-4147-A177-3AD203B41FA5}">
                      <a16:colId xmlns:a16="http://schemas.microsoft.com/office/drawing/2014/main" val="3163524535"/>
                    </a:ext>
                  </a:extLst>
                </a:gridCol>
                <a:gridCol w="486199">
                  <a:extLst>
                    <a:ext uri="{9D8B030D-6E8A-4147-A177-3AD203B41FA5}">
                      <a16:colId xmlns:a16="http://schemas.microsoft.com/office/drawing/2014/main" val="3045639491"/>
                    </a:ext>
                  </a:extLst>
                </a:gridCol>
                <a:gridCol w="486199">
                  <a:extLst>
                    <a:ext uri="{9D8B030D-6E8A-4147-A177-3AD203B41FA5}">
                      <a16:colId xmlns:a16="http://schemas.microsoft.com/office/drawing/2014/main" val="1692666939"/>
                    </a:ext>
                  </a:extLst>
                </a:gridCol>
                <a:gridCol w="486199">
                  <a:extLst>
                    <a:ext uri="{9D8B030D-6E8A-4147-A177-3AD203B41FA5}">
                      <a16:colId xmlns:a16="http://schemas.microsoft.com/office/drawing/2014/main" val="3245271156"/>
                    </a:ext>
                  </a:extLst>
                </a:gridCol>
                <a:gridCol w="486199">
                  <a:extLst>
                    <a:ext uri="{9D8B030D-6E8A-4147-A177-3AD203B41FA5}">
                      <a16:colId xmlns:a16="http://schemas.microsoft.com/office/drawing/2014/main" val="881193778"/>
                    </a:ext>
                  </a:extLst>
                </a:gridCol>
                <a:gridCol w="486199">
                  <a:extLst>
                    <a:ext uri="{9D8B030D-6E8A-4147-A177-3AD203B41FA5}">
                      <a16:colId xmlns:a16="http://schemas.microsoft.com/office/drawing/2014/main" val="2866047497"/>
                    </a:ext>
                  </a:extLst>
                </a:gridCol>
                <a:gridCol w="486199">
                  <a:extLst>
                    <a:ext uri="{9D8B030D-6E8A-4147-A177-3AD203B41FA5}">
                      <a16:colId xmlns:a16="http://schemas.microsoft.com/office/drawing/2014/main" val="1364205615"/>
                    </a:ext>
                  </a:extLst>
                </a:gridCol>
                <a:gridCol w="486199">
                  <a:extLst>
                    <a:ext uri="{9D8B030D-6E8A-4147-A177-3AD203B41FA5}">
                      <a16:colId xmlns:a16="http://schemas.microsoft.com/office/drawing/2014/main" val="4123018006"/>
                    </a:ext>
                  </a:extLst>
                </a:gridCol>
                <a:gridCol w="486199">
                  <a:extLst>
                    <a:ext uri="{9D8B030D-6E8A-4147-A177-3AD203B41FA5}">
                      <a16:colId xmlns:a16="http://schemas.microsoft.com/office/drawing/2014/main" val="2006274515"/>
                    </a:ext>
                  </a:extLst>
                </a:gridCol>
              </a:tblGrid>
              <a:tr h="478704">
                <a:tc>
                  <a:txBody>
                    <a:bodyPr/>
                    <a:lstStyle/>
                    <a:p>
                      <a:pPr algn="ctr" fontAlgn="b"/>
                      <a:r>
                        <a:rPr lang="de-D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520843272"/>
                  </a:ext>
                </a:extLst>
              </a:tr>
              <a:tr h="480344"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ymbol" panose="05050102010706020507" pitchFamily="18" charset="2"/>
                        </a:rPr>
                        <a:t>J</a:t>
                      </a:r>
                      <a:r>
                        <a:rPr lang="de-DE" sz="1400" b="1" i="0" u="none" strike="noStrike" baseline="-250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HG,int</a:t>
                      </a:r>
                      <a:r>
                        <a:rPr lang="de-DE" sz="1400" b="1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  <a:endParaRPr lang="de-DE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10,25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10,5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10,75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11,25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11,5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11,75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12,2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12,4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12,6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12,8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13,2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13,4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13,6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13,8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14,2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14,4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14,6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14,8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55679434"/>
                  </a:ext>
                </a:extLst>
              </a:tr>
              <a:tr h="478704"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</a:t>
                      </a:r>
                      <a:r>
                        <a:rPr lang="de-DE" sz="1400" b="1" i="0" u="none" strike="noStrike" baseline="-250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HP</a:t>
                      </a:r>
                      <a:endParaRPr lang="de-DE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307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718555212"/>
                  </a:ext>
                </a:extLst>
              </a:tr>
              <a:tr h="657399"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r>
                        <a:rPr lang="de-DE" sz="1400" b="1" i="0" u="none" strike="noStrike" baseline="-250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HP</a:t>
                      </a:r>
                      <a:endParaRPr lang="de-DE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1,33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1,30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0,90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82702638"/>
                  </a:ext>
                </a:extLst>
              </a:tr>
              <a:tr h="657399"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Symbol" panose="05050102010706020507" pitchFamily="18" charset="2"/>
                        </a:rPr>
                        <a:t>J</a:t>
                      </a:r>
                      <a:r>
                        <a:rPr lang="de-DE" sz="1400" b="1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</a:t>
                      </a:r>
                      <a:endParaRPr lang="de-DE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3,72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3,88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4,04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4,19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4,35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4,51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4,67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4,83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4,99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5,12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5,25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5,37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5,50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5,63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5,75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5,88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6,01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6,14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6,26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6,39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6,52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6,65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6,77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6,90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406344426"/>
                  </a:ext>
                </a:extLst>
              </a:tr>
              <a:tr h="657399"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ymbol" panose="05050102010706020507" pitchFamily="18" charset="2"/>
                        </a:rPr>
                        <a:t>J</a:t>
                      </a:r>
                      <a:r>
                        <a:rPr lang="de-DE" sz="1400" b="1" i="0" u="none" strike="noStrike" baseline="-250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Strahlung</a:t>
                      </a:r>
                      <a:endParaRPr lang="de-DE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214,58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227,89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241,20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254,52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267,83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281,14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294,46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307,77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321,09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331,74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342,39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353,04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363,69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374,34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384,99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395,64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406,30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416,95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427,60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438,25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448,90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459,55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470,20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480,85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009403523"/>
                  </a:ext>
                </a:extLst>
              </a:tr>
            </a:tbl>
          </a:graphicData>
        </a:graphic>
      </p:graphicFrame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0061F6A-9A60-0497-1189-5139544C31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0399" y="1060778"/>
            <a:ext cx="8854613" cy="360363"/>
          </a:xfrm>
        </p:spPr>
        <p:txBody>
          <a:bodyPr/>
          <a:lstStyle/>
          <a:p>
            <a:r>
              <a:rPr lang="en-GB" dirty="0"/>
              <a:t>D</a:t>
            </a:r>
            <a:r>
              <a:rPr lang="en-GB" sz="2000" dirty="0"/>
              <a:t>epending on the </a:t>
            </a:r>
            <a:r>
              <a:rPr lang="en-GB" sz="2000" b="0" dirty="0"/>
              <a:t>Energy-efficient building standard </a:t>
            </a:r>
            <a:r>
              <a:rPr lang="en-GB" sz="2000" dirty="0"/>
              <a:t>(h)</a:t>
            </a:r>
          </a:p>
        </p:txBody>
      </p:sp>
    </p:spTree>
    <p:extLst>
      <p:ext uri="{BB962C8B-B14F-4D97-AF65-F5344CB8AC3E}">
        <p14:creationId xmlns:p14="http://schemas.microsoft.com/office/powerpoint/2010/main" val="2518046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8FADBF7-226F-634C-874B-39F16B9FC6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dirty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 </a:t>
            </a:r>
            <a:r>
              <a:rPr lang="en-US" dirty="0" err="1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Seite</a:t>
            </a:r>
            <a:r>
              <a:rPr lang="en-US" dirty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 </a:t>
            </a:r>
            <a:fld id="{1009E830-1A31-2046-A084-D1E9F200294C}" type="slidenum">
              <a:rPr lang="en-US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pPr defTabSz="914400">
                <a:spcAft>
                  <a:spcPts val="600"/>
                </a:spcAft>
              </a:pPr>
              <a:t>10</a:t>
            </a:fld>
            <a:endParaRPr lang="en-US" dirty="0">
              <a:solidFill>
                <a:schemeClr val="tx1">
                  <a:tint val="75000"/>
                </a:schemeClr>
              </a:solidFill>
              <a:latin typeface="+mn-lt"/>
              <a:cs typeface="+mn-cs"/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7A86BFA-978A-764C-B5AF-9DED2F346CA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2BF76E1-0A38-5547-A653-80A3AFB3E41D}" type="datetime1">
              <a:rPr lang="en-US"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pPr defTabSz="914400">
                <a:spcAft>
                  <a:spcPts val="600"/>
                </a:spcAft>
              </a:pPr>
              <a:t>6/24/2024</a:t>
            </a:fld>
            <a:endParaRPr lang="en-US" sz="1200" dirty="0">
              <a:solidFill>
                <a:schemeClr val="tx1">
                  <a:tint val="75000"/>
                </a:schemeClr>
              </a:solidFill>
              <a:latin typeface="+mn-lt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799BD55-BA5B-3706-D2B9-825A941991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sz="2800" dirty="0"/>
              <a:t>3. Costs per energy source</a:t>
            </a:r>
            <a:br>
              <a:rPr lang="en-GB" sz="2800" dirty="0"/>
            </a:br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0061F6A-9A60-0497-1189-5139544C31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0399" y="1060778"/>
            <a:ext cx="8854613" cy="360363"/>
          </a:xfrm>
        </p:spPr>
        <p:txBody>
          <a:bodyPr/>
          <a:lstStyle/>
          <a:p>
            <a:endParaRPr lang="en-GB" sz="2000" dirty="0"/>
          </a:p>
        </p:txBody>
      </p:sp>
      <p:graphicFrame>
        <p:nvGraphicFramePr>
          <p:cNvPr id="7" name="Tabelle 7">
            <a:extLst>
              <a:ext uri="{FF2B5EF4-FFF2-40B4-BE49-F238E27FC236}">
                <a16:creationId xmlns:a16="http://schemas.microsoft.com/office/drawing/2014/main" id="{F19A3131-374D-DC2B-C295-4073805D3E05}"/>
              </a:ext>
            </a:extLst>
          </p:cNvPr>
          <p:cNvGraphicFramePr>
            <a:graphicFrameLocks noGrp="1"/>
          </p:cNvGraphicFramePr>
          <p:nvPr>
            <p:ph sz="quarter" idx="19"/>
            <p:extLst>
              <p:ext uri="{D42A27DB-BD31-4B8C-83A1-F6EECF244321}">
                <p14:modId xmlns:p14="http://schemas.microsoft.com/office/powerpoint/2010/main" val="1613190774"/>
              </p:ext>
            </p:extLst>
          </p:nvPr>
        </p:nvGraphicFramePr>
        <p:xfrm>
          <a:off x="2424113" y="1971675"/>
          <a:ext cx="5795961" cy="32469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1987">
                  <a:extLst>
                    <a:ext uri="{9D8B030D-6E8A-4147-A177-3AD203B41FA5}">
                      <a16:colId xmlns:a16="http://schemas.microsoft.com/office/drawing/2014/main" val="2550578011"/>
                    </a:ext>
                  </a:extLst>
                </a:gridCol>
                <a:gridCol w="1931987">
                  <a:extLst>
                    <a:ext uri="{9D8B030D-6E8A-4147-A177-3AD203B41FA5}">
                      <a16:colId xmlns:a16="http://schemas.microsoft.com/office/drawing/2014/main" val="1786945032"/>
                    </a:ext>
                  </a:extLst>
                </a:gridCol>
                <a:gridCol w="1931987">
                  <a:extLst>
                    <a:ext uri="{9D8B030D-6E8A-4147-A177-3AD203B41FA5}">
                      <a16:colId xmlns:a16="http://schemas.microsoft.com/office/drawing/2014/main" val="904987186"/>
                    </a:ext>
                  </a:extLst>
                </a:gridCol>
              </a:tblGrid>
              <a:tr h="250265">
                <a:tc>
                  <a:txBody>
                    <a:bodyPr/>
                    <a:lstStyle/>
                    <a:p>
                      <a:pPr algn="ctr" fontAlgn="b"/>
                      <a:r>
                        <a:rPr lang="de-DE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Abbreviation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Fuel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Preis 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de-DE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r>
                        <a:rPr lang="de-DE" sz="1600" b="1" i="0" u="none" strike="noStrike" baseline="-25000" dirty="0" err="1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ct</a:t>
                      </a:r>
                      <a:r>
                        <a:rPr lang="de-DE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[ct/</a:t>
                      </a:r>
                      <a:r>
                        <a:rPr lang="de-DE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kwH</a:t>
                      </a:r>
                      <a:r>
                        <a:rPr lang="de-DE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])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814719761"/>
                  </a:ext>
                </a:extLst>
              </a:tr>
              <a:tr h="250265">
                <a:tc>
                  <a:txBody>
                    <a:bodyPr/>
                    <a:lstStyle/>
                    <a:p>
                      <a:pPr algn="l" fontAlgn="ctr"/>
                      <a:r>
                        <a:rPr lang="de-DE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HO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Heizöl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4,99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68057747"/>
                  </a:ext>
                </a:extLst>
              </a:tr>
              <a:tr h="250265">
                <a:tc>
                  <a:txBody>
                    <a:bodyPr/>
                    <a:lstStyle/>
                    <a:p>
                      <a:pPr algn="l" fontAlgn="ctr"/>
                      <a:r>
                        <a:rPr lang="de-DE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EG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Erdgas H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6,52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516884284"/>
                  </a:ext>
                </a:extLst>
              </a:tr>
              <a:tr h="250265">
                <a:tc>
                  <a:txBody>
                    <a:bodyPr/>
                    <a:lstStyle/>
                    <a:p>
                      <a:pPr algn="l" fontAlgn="ctr"/>
                      <a:r>
                        <a:rPr lang="de-DE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SK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Steinkohle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4,11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144786997"/>
                  </a:ext>
                </a:extLst>
              </a:tr>
              <a:tr h="250265">
                <a:tc>
                  <a:txBody>
                    <a:bodyPr/>
                    <a:lstStyle/>
                    <a:p>
                      <a:pPr algn="l" fontAlgn="ctr"/>
                      <a:r>
                        <a:rPr lang="de-DE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BK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Braunkohle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4,11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56393170"/>
                  </a:ext>
                </a:extLst>
              </a:tr>
              <a:tr h="250265">
                <a:tc>
                  <a:txBody>
                    <a:bodyPr/>
                    <a:lstStyle/>
                    <a:p>
                      <a:pPr algn="l" fontAlgn="ctr"/>
                      <a:r>
                        <a:rPr lang="de-DE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HP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Holz-Pellets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4,73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162390275"/>
                  </a:ext>
                </a:extLst>
              </a:tr>
              <a:tr h="250265">
                <a:tc>
                  <a:txBody>
                    <a:bodyPr/>
                    <a:lstStyle/>
                    <a:p>
                      <a:pPr algn="l" fontAlgn="ctr"/>
                      <a:r>
                        <a:rPr lang="de-DE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Strom-Mix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30,43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407760795"/>
                  </a:ext>
                </a:extLst>
              </a:tr>
              <a:tr h="250265">
                <a:tc>
                  <a:txBody>
                    <a:bodyPr/>
                    <a:lstStyle/>
                    <a:p>
                      <a:pPr algn="l" fontAlgn="ctr"/>
                      <a:r>
                        <a:rPr lang="de-DE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FW00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Nah-/Fernwärme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7,48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077135700"/>
                  </a:ext>
                </a:extLst>
              </a:tr>
              <a:tr h="250265">
                <a:tc>
                  <a:txBody>
                    <a:bodyPr/>
                    <a:lstStyle/>
                    <a:p>
                      <a:pPr algn="l" fontAlgn="ctr"/>
                      <a:r>
                        <a:rPr lang="de-DE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FW33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Nah-/Fernwärme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7,48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570088742"/>
                  </a:ext>
                </a:extLst>
              </a:tr>
              <a:tr h="250265">
                <a:tc>
                  <a:txBody>
                    <a:bodyPr/>
                    <a:lstStyle/>
                    <a:p>
                      <a:pPr algn="l" fontAlgn="ctr"/>
                      <a:r>
                        <a:rPr lang="de-DE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FW67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Nah-/Fernwärme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7,48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55795196"/>
                  </a:ext>
                </a:extLst>
              </a:tr>
              <a:tr h="250265">
                <a:tc>
                  <a:txBody>
                    <a:bodyPr/>
                    <a:lstStyle/>
                    <a:p>
                      <a:pPr algn="l" fontAlgn="ctr"/>
                      <a:r>
                        <a:rPr lang="de-DE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So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Sonne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409751580"/>
                  </a:ext>
                </a:extLst>
              </a:tr>
              <a:tr h="250265">
                <a:tc>
                  <a:txBody>
                    <a:bodyPr/>
                    <a:lstStyle/>
                    <a:p>
                      <a:pPr algn="l" fontAlgn="t"/>
                      <a:r>
                        <a:rPr lang="de-DE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FG</a:t>
                      </a: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Flüssiggas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6,52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5415304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62484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8FADBF7-226F-634C-874B-39F16B9FC6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dirty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 </a:t>
            </a:r>
            <a:r>
              <a:rPr lang="en-US" dirty="0" err="1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Seite</a:t>
            </a:r>
            <a:r>
              <a:rPr lang="en-US" dirty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 </a:t>
            </a:r>
            <a:fld id="{1009E830-1A31-2046-A084-D1E9F200294C}" type="slidenum">
              <a:rPr lang="en-US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pPr defTabSz="914400">
                <a:spcAft>
                  <a:spcPts val="600"/>
                </a:spcAft>
              </a:pPr>
              <a:t>11</a:t>
            </a:fld>
            <a:endParaRPr lang="en-US" dirty="0">
              <a:solidFill>
                <a:schemeClr val="tx1">
                  <a:tint val="75000"/>
                </a:schemeClr>
              </a:solidFill>
              <a:latin typeface="+mn-lt"/>
              <a:cs typeface="+mn-cs"/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7A86BFA-978A-764C-B5AF-9DED2F346CA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2BF76E1-0A38-5547-A653-80A3AFB3E41D}" type="datetime1">
              <a:rPr lang="en-US"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pPr defTabSz="914400">
                <a:spcAft>
                  <a:spcPts val="600"/>
                </a:spcAft>
              </a:pPr>
              <a:t>6/24/2024</a:t>
            </a:fld>
            <a:endParaRPr lang="en-US" sz="1200" dirty="0">
              <a:solidFill>
                <a:schemeClr val="tx1">
                  <a:tint val="75000"/>
                </a:schemeClr>
              </a:solidFill>
              <a:latin typeface="+mn-lt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799BD55-BA5B-3706-D2B9-825A941991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sz="2800" dirty="0">
                <a:solidFill>
                  <a:schemeClr val="accent2">
                    <a:lumMod val="75000"/>
                  </a:schemeClr>
                </a:solidFill>
              </a:rPr>
              <a:t>4. Hot water distribution: </a:t>
            </a:r>
            <a:r>
              <a:rPr lang="en-GB" sz="2800" dirty="0" err="1">
                <a:solidFill>
                  <a:schemeClr val="accent2">
                    <a:lumMod val="75000"/>
                  </a:schemeClr>
                </a:solidFill>
              </a:rPr>
              <a:t>Wd</a:t>
            </a:r>
            <a:br>
              <a:rPr lang="en-GB" sz="2800" dirty="0">
                <a:solidFill>
                  <a:schemeClr val="accent2">
                    <a:lumMod val="75000"/>
                  </a:schemeClr>
                </a:solidFill>
              </a:rPr>
            </a:br>
            <a:br>
              <a:rPr lang="en-GB" sz="2800" dirty="0">
                <a:solidFill>
                  <a:schemeClr val="accent2">
                    <a:lumMod val="75000"/>
                  </a:schemeClr>
                </a:solidFill>
              </a:rPr>
            </a:br>
            <a:endParaRPr lang="en-GB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0061F6A-9A60-0497-1189-5139544C31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0399" y="1060778"/>
            <a:ext cx="8854613" cy="360363"/>
          </a:xfrm>
        </p:spPr>
        <p:txBody>
          <a:bodyPr/>
          <a:lstStyle/>
          <a:p>
            <a:endParaRPr lang="en-GB" sz="2000" dirty="0"/>
          </a:p>
        </p:txBody>
      </p:sp>
      <p:graphicFrame>
        <p:nvGraphicFramePr>
          <p:cNvPr id="8" name="Tabelle 8">
            <a:extLst>
              <a:ext uri="{FF2B5EF4-FFF2-40B4-BE49-F238E27FC236}">
                <a16:creationId xmlns:a16="http://schemas.microsoft.com/office/drawing/2014/main" id="{DA37EA19-35B0-9DB8-5BAB-DAF7AC5CDBE7}"/>
              </a:ext>
            </a:extLst>
          </p:cNvPr>
          <p:cNvGraphicFramePr>
            <a:graphicFrameLocks noGrp="1"/>
          </p:cNvGraphicFramePr>
          <p:nvPr>
            <p:ph sz="quarter" idx="19"/>
            <p:extLst>
              <p:ext uri="{D42A27DB-BD31-4B8C-83A1-F6EECF244321}">
                <p14:modId xmlns:p14="http://schemas.microsoft.com/office/powerpoint/2010/main" val="1136188757"/>
              </p:ext>
            </p:extLst>
          </p:nvPr>
        </p:nvGraphicFramePr>
        <p:xfrm>
          <a:off x="123825" y="1421140"/>
          <a:ext cx="11972926" cy="480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7834">
                  <a:extLst>
                    <a:ext uri="{9D8B030D-6E8A-4147-A177-3AD203B41FA5}">
                      <a16:colId xmlns:a16="http://schemas.microsoft.com/office/drawing/2014/main" val="235626534"/>
                    </a:ext>
                  </a:extLst>
                </a:gridCol>
                <a:gridCol w="1403064">
                  <a:extLst>
                    <a:ext uri="{9D8B030D-6E8A-4147-A177-3AD203B41FA5}">
                      <a16:colId xmlns:a16="http://schemas.microsoft.com/office/drawing/2014/main" val="376180611"/>
                    </a:ext>
                  </a:extLst>
                </a:gridCol>
                <a:gridCol w="1180449">
                  <a:extLst>
                    <a:ext uri="{9D8B030D-6E8A-4147-A177-3AD203B41FA5}">
                      <a16:colId xmlns:a16="http://schemas.microsoft.com/office/drawing/2014/main" val="156220636"/>
                    </a:ext>
                  </a:extLst>
                </a:gridCol>
                <a:gridCol w="968609">
                  <a:extLst>
                    <a:ext uri="{9D8B030D-6E8A-4147-A177-3AD203B41FA5}">
                      <a16:colId xmlns:a16="http://schemas.microsoft.com/office/drawing/2014/main" val="1088176135"/>
                    </a:ext>
                  </a:extLst>
                </a:gridCol>
                <a:gridCol w="892650">
                  <a:extLst>
                    <a:ext uri="{9D8B030D-6E8A-4147-A177-3AD203B41FA5}">
                      <a16:colId xmlns:a16="http://schemas.microsoft.com/office/drawing/2014/main" val="2579463522"/>
                    </a:ext>
                  </a:extLst>
                </a:gridCol>
                <a:gridCol w="1017206">
                  <a:extLst>
                    <a:ext uri="{9D8B030D-6E8A-4147-A177-3AD203B41FA5}">
                      <a16:colId xmlns:a16="http://schemas.microsoft.com/office/drawing/2014/main" val="2184618054"/>
                    </a:ext>
                  </a:extLst>
                </a:gridCol>
                <a:gridCol w="869306">
                  <a:extLst>
                    <a:ext uri="{9D8B030D-6E8A-4147-A177-3AD203B41FA5}">
                      <a16:colId xmlns:a16="http://schemas.microsoft.com/office/drawing/2014/main" val="3506114761"/>
                    </a:ext>
                  </a:extLst>
                </a:gridCol>
                <a:gridCol w="814159">
                  <a:extLst>
                    <a:ext uri="{9D8B030D-6E8A-4147-A177-3AD203B41FA5}">
                      <a16:colId xmlns:a16="http://schemas.microsoft.com/office/drawing/2014/main" val="3338152578"/>
                    </a:ext>
                  </a:extLst>
                </a:gridCol>
                <a:gridCol w="1197293">
                  <a:extLst>
                    <a:ext uri="{9D8B030D-6E8A-4147-A177-3AD203B41FA5}">
                      <a16:colId xmlns:a16="http://schemas.microsoft.com/office/drawing/2014/main" val="565343739"/>
                    </a:ext>
                  </a:extLst>
                </a:gridCol>
                <a:gridCol w="1291862">
                  <a:extLst>
                    <a:ext uri="{9D8B030D-6E8A-4147-A177-3AD203B41FA5}">
                      <a16:colId xmlns:a16="http://schemas.microsoft.com/office/drawing/2014/main" val="802665303"/>
                    </a:ext>
                  </a:extLst>
                </a:gridCol>
                <a:gridCol w="1380494">
                  <a:extLst>
                    <a:ext uri="{9D8B030D-6E8A-4147-A177-3AD203B41FA5}">
                      <a16:colId xmlns:a16="http://schemas.microsoft.com/office/drawing/2014/main" val="2751887755"/>
                    </a:ext>
                  </a:extLst>
                </a:gridCol>
              </a:tblGrid>
              <a:tr h="417485"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Wd</a:t>
                      </a:r>
                      <a:endParaRPr lang="de-DE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de-D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Hot </a:t>
                      </a:r>
                      <a:r>
                        <a:rPr lang="de-DE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water</a:t>
                      </a:r>
                      <a:r>
                        <a:rPr lang="de-D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distribution</a:t>
                      </a:r>
                      <a:endParaRPr lang="de-DE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Heat </a:t>
                      </a:r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loss</a:t>
                      </a:r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</a:t>
                      </a:r>
                      <a:r>
                        <a:rPr lang="de-DE" sz="1200" b="1" i="0" u="none" strike="noStrike" baseline="-250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W,d</a:t>
                      </a:r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,[kWh/(m²a)]</a:t>
                      </a: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Heating</a:t>
                      </a:r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credit</a:t>
                      </a:r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</a:t>
                      </a:r>
                      <a:r>
                        <a:rPr lang="de-DE" sz="1200" b="1" i="0" u="none" strike="noStrike" baseline="-250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h,W,d</a:t>
                      </a:r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, [kWh/(m²a)]</a:t>
                      </a: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Auxiliary</a:t>
                      </a:r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energy</a:t>
                      </a:r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requirement</a:t>
                      </a:r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</a:t>
                      </a:r>
                      <a:r>
                        <a:rPr lang="de-DE" sz="1200" b="1" i="0" u="none" strike="noStrike" baseline="-250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W,d,HE</a:t>
                      </a:r>
                      <a:r>
                        <a:rPr lang="de-DE" sz="1200" b="1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, </a:t>
                      </a:r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[kWh/(m²a)] </a:t>
                      </a: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608255098"/>
                  </a:ext>
                </a:extLst>
              </a:tr>
              <a:tr h="415680"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>
                          <a:solidFill>
                            <a:srgbClr val="BFBFB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>
                          <a:solidFill>
                            <a:srgbClr val="BFBFB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Number</a:t>
                      </a:r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</a:t>
                      </a:r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floors</a:t>
                      </a:r>
                      <a:endParaRPr lang="de-DE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Number</a:t>
                      </a:r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</a:t>
                      </a:r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floors</a:t>
                      </a:r>
                      <a:endParaRPr lang="de-DE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 </a:t>
                      </a:r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</a:t>
                      </a:r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apartments</a:t>
                      </a:r>
                      <a:endParaRPr lang="de-DE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3313063"/>
                  </a:ext>
                </a:extLst>
              </a:tr>
              <a:tr h="308139"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Code</a:t>
                      </a: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Name</a:t>
                      </a: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Construction </a:t>
                      </a:r>
                      <a:r>
                        <a:rPr lang="de-DE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year</a:t>
                      </a:r>
                      <a:r>
                        <a:rPr lang="de-D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calss</a:t>
                      </a:r>
                      <a:endParaRPr lang="de-DE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 bis 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 bis 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 und mehr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 bis 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 bis 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 und mehr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 bis 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 und mehr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956761310"/>
                  </a:ext>
                </a:extLst>
              </a:tr>
              <a:tr h="432939"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z70mZ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Centralized</a:t>
                      </a:r>
                      <a:r>
                        <a:rPr lang="de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distribution</a:t>
                      </a:r>
                      <a:r>
                        <a:rPr lang="de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with</a:t>
                      </a:r>
                      <a:r>
                        <a:rPr lang="de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circulation</a:t>
                      </a:r>
                      <a:endParaRPr lang="de-DE" sz="9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9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50er bis 70er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23,7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30,8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27,2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12,3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15,5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15,5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0,5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270970234"/>
                  </a:ext>
                </a:extLst>
              </a:tr>
              <a:tr h="448613"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z70ModmZ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Centralized</a:t>
                      </a:r>
                      <a:r>
                        <a:rPr lang="de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distribution</a:t>
                      </a:r>
                      <a:r>
                        <a:rPr lang="de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with</a:t>
                      </a:r>
                      <a:r>
                        <a:rPr lang="de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circulation</a:t>
                      </a:r>
                      <a:endParaRPr lang="de-DE" sz="9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50er bis 70er, </a:t>
                      </a:r>
                      <a:r>
                        <a:rPr lang="de-DE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insulated</a:t>
                      </a:r>
                      <a:r>
                        <a:rPr lang="de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after </a:t>
                      </a:r>
                      <a:r>
                        <a:rPr lang="de-DE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installation</a:t>
                      </a:r>
                      <a:endParaRPr lang="de-DE" sz="9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21,4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27,5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25,7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12,3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15,5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15,5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0,5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578961305"/>
                  </a:ext>
                </a:extLst>
              </a:tr>
              <a:tr h="314895"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z90mZ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Centralized</a:t>
                      </a:r>
                      <a:r>
                        <a:rPr lang="de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distribution</a:t>
                      </a:r>
                      <a:r>
                        <a:rPr lang="de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with</a:t>
                      </a:r>
                      <a:r>
                        <a:rPr lang="de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circulation</a:t>
                      </a:r>
                      <a:endParaRPr lang="de-DE" sz="9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80er und 90er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8,6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10,3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8,5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0,5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135591247"/>
                  </a:ext>
                </a:extLst>
              </a:tr>
              <a:tr h="314895"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zEnEVmZ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centr</a:t>
                      </a: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. vert. with circ. incl. quality assurance</a:t>
                      </a:r>
                      <a:endParaRPr lang="de-DE" sz="9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EnEV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0,5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633256210"/>
                  </a:ext>
                </a:extLst>
              </a:tr>
              <a:tr h="504895"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z70oZ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Centralized</a:t>
                      </a:r>
                      <a:r>
                        <a:rPr lang="de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distribution</a:t>
                      </a:r>
                      <a:r>
                        <a:rPr lang="de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without</a:t>
                      </a:r>
                      <a:r>
                        <a:rPr lang="de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circulation</a:t>
                      </a:r>
                      <a:endParaRPr lang="de-DE" sz="9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50er bis 70er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11,2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11,2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0" i="0" u="none" strike="noStrike">
                          <a:solidFill>
                            <a:srgbClr val="FF00FF"/>
                          </a:solidFill>
                          <a:effectLst/>
                          <a:latin typeface="Calibri" panose="020F0502020204030204" pitchFamily="34" charset="0"/>
                        </a:rPr>
                        <a:t>11,2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0" i="0" u="none" strike="noStrike">
                          <a:solidFill>
                            <a:srgbClr val="FF00FF"/>
                          </a:solidFill>
                          <a:effectLst/>
                          <a:latin typeface="Calibri" panose="020F0502020204030204" pitchFamily="34" charset="0"/>
                        </a:rPr>
                        <a:t>5,3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2268998"/>
                  </a:ext>
                </a:extLst>
              </a:tr>
              <a:tr h="530550"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z70ModoZ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Centralized</a:t>
                      </a:r>
                      <a:r>
                        <a:rPr lang="de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distribution</a:t>
                      </a:r>
                      <a:r>
                        <a:rPr lang="de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without</a:t>
                      </a:r>
                      <a:r>
                        <a:rPr lang="de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circulation</a:t>
                      </a:r>
                      <a:endParaRPr lang="de-DE" sz="9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50er bis 70er, </a:t>
                      </a:r>
                      <a:r>
                        <a:rPr lang="de-DE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insulated</a:t>
                      </a:r>
                      <a:r>
                        <a:rPr lang="de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after </a:t>
                      </a:r>
                      <a:r>
                        <a:rPr lang="de-DE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installation</a:t>
                      </a:r>
                      <a:endParaRPr lang="de-DE" sz="9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9,7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9,7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0" i="0" u="none" strike="noStrike">
                          <a:solidFill>
                            <a:srgbClr val="FF00FF"/>
                          </a:solidFill>
                          <a:effectLst/>
                          <a:latin typeface="Calibri" panose="020F0502020204030204" pitchFamily="34" charset="0"/>
                        </a:rPr>
                        <a:t>9,7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0" i="0" u="none" strike="noStrike" dirty="0">
                          <a:solidFill>
                            <a:srgbClr val="FF00FF"/>
                          </a:solidFill>
                          <a:effectLst/>
                          <a:latin typeface="Calibri" panose="020F0502020204030204" pitchFamily="34" charset="0"/>
                        </a:rPr>
                        <a:t>5,3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59695458"/>
                  </a:ext>
                </a:extLst>
              </a:tr>
              <a:tr h="381644"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z90oZ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Centralized</a:t>
                      </a:r>
                      <a:r>
                        <a:rPr lang="de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distribution</a:t>
                      </a:r>
                      <a:r>
                        <a:rPr lang="de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without</a:t>
                      </a:r>
                      <a:r>
                        <a:rPr lang="de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circulation</a:t>
                      </a:r>
                      <a:endParaRPr lang="de-DE" sz="9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80er und 90er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0" i="0" u="none" strike="noStrike">
                          <a:solidFill>
                            <a:srgbClr val="FF00FF"/>
                          </a:solidFill>
                          <a:effectLst/>
                          <a:latin typeface="Calibri" panose="020F0502020204030204" pitchFamily="34" charset="0"/>
                        </a:rPr>
                        <a:t>6,8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0" i="0" u="none" strike="noStrike">
                          <a:solidFill>
                            <a:srgbClr val="FF00FF"/>
                          </a:solidFill>
                          <a:effectLst/>
                          <a:latin typeface="Calibri" panose="020F0502020204030204" pitchFamily="34" charset="0"/>
                        </a:rPr>
                        <a:t>3,4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77414696"/>
                  </a:ext>
                </a:extLst>
              </a:tr>
              <a:tr h="347940"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zEnEVoZ</a:t>
                      </a:r>
                      <a:endParaRPr lang="de-DE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centr</a:t>
                      </a: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. vert. without circ. incl. quality assurance</a:t>
                      </a:r>
                      <a:endParaRPr lang="de-DE" sz="9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EnEV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0" i="0" u="none" strike="noStrike">
                          <a:solidFill>
                            <a:srgbClr val="FF00FF"/>
                          </a:solidFill>
                          <a:effectLst/>
                          <a:latin typeface="Calibri" panose="020F0502020204030204" pitchFamily="34" charset="0"/>
                        </a:rPr>
                        <a:t>3,8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0" i="0" u="none" strike="noStrike">
                          <a:solidFill>
                            <a:srgbClr val="FF00FF"/>
                          </a:solidFill>
                          <a:effectLst/>
                          <a:latin typeface="Calibri" panose="020F0502020204030204" pitchFamily="34" charset="0"/>
                        </a:rPr>
                        <a:t>1,5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727998813"/>
                  </a:ext>
                </a:extLst>
              </a:tr>
              <a:tr h="352434"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d90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Decentralized</a:t>
                      </a:r>
                      <a:r>
                        <a:rPr lang="de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system</a:t>
                      </a:r>
                      <a:endParaRPr lang="de-DE" sz="9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bis 90er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6616014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84846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8FADBF7-226F-634C-874B-39F16B9FC6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dirty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 </a:t>
            </a:r>
            <a:r>
              <a:rPr lang="en-US" dirty="0" err="1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Seite</a:t>
            </a:r>
            <a:r>
              <a:rPr lang="en-US" dirty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 </a:t>
            </a:r>
            <a:fld id="{1009E830-1A31-2046-A084-D1E9F200294C}" type="slidenum">
              <a:rPr lang="en-US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pPr defTabSz="914400">
                <a:spcAft>
                  <a:spcPts val="600"/>
                </a:spcAft>
              </a:pPr>
              <a:t>12</a:t>
            </a:fld>
            <a:endParaRPr lang="en-US" dirty="0">
              <a:solidFill>
                <a:schemeClr val="tx1">
                  <a:tint val="75000"/>
                </a:schemeClr>
              </a:solidFill>
              <a:latin typeface="+mn-lt"/>
              <a:cs typeface="+mn-cs"/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7A86BFA-978A-764C-B5AF-9DED2F346CA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2BF76E1-0A38-5547-A653-80A3AFB3E41D}" type="datetime1">
              <a:rPr lang="en-US"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pPr defTabSz="914400">
                <a:spcAft>
                  <a:spcPts val="600"/>
                </a:spcAft>
              </a:pPr>
              <a:t>6/24/2024</a:t>
            </a:fld>
            <a:endParaRPr lang="en-US" sz="1200" dirty="0">
              <a:solidFill>
                <a:schemeClr val="tx1">
                  <a:tint val="75000"/>
                </a:schemeClr>
              </a:solidFill>
              <a:latin typeface="+mn-lt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799BD55-BA5B-3706-D2B9-825A941991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sz="2800" dirty="0">
                <a:solidFill>
                  <a:schemeClr val="accent2">
                    <a:lumMod val="75000"/>
                  </a:schemeClr>
                </a:solidFill>
              </a:rPr>
              <a:t>5. Hot water storage: </a:t>
            </a:r>
            <a:r>
              <a:rPr lang="en-GB" sz="2800" dirty="0" err="1">
                <a:solidFill>
                  <a:schemeClr val="accent2">
                    <a:lumMod val="75000"/>
                  </a:schemeClr>
                </a:solidFill>
              </a:rPr>
              <a:t>Ws</a:t>
            </a:r>
            <a:br>
              <a:rPr lang="en-GB" sz="2800" dirty="0"/>
            </a:br>
            <a:br>
              <a:rPr lang="en-GB" sz="2800" dirty="0"/>
            </a:br>
            <a:br>
              <a:rPr lang="en-GB" sz="2800" dirty="0"/>
            </a:br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0061F6A-9A60-0497-1189-5139544C31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0399" y="1060778"/>
            <a:ext cx="8854613" cy="360363"/>
          </a:xfrm>
        </p:spPr>
        <p:txBody>
          <a:bodyPr/>
          <a:lstStyle/>
          <a:p>
            <a:endParaRPr lang="en-GB" sz="2000" dirty="0"/>
          </a:p>
        </p:txBody>
      </p:sp>
      <p:graphicFrame>
        <p:nvGraphicFramePr>
          <p:cNvPr id="8" name="Tabelle 8">
            <a:extLst>
              <a:ext uri="{FF2B5EF4-FFF2-40B4-BE49-F238E27FC236}">
                <a16:creationId xmlns:a16="http://schemas.microsoft.com/office/drawing/2014/main" id="{DA37EA19-35B0-9DB8-5BAB-DAF7AC5CDBE7}"/>
              </a:ext>
            </a:extLst>
          </p:cNvPr>
          <p:cNvGraphicFramePr>
            <a:graphicFrameLocks noGrp="1"/>
          </p:cNvGraphicFramePr>
          <p:nvPr>
            <p:ph sz="quarter" idx="19"/>
            <p:extLst>
              <p:ext uri="{D42A27DB-BD31-4B8C-83A1-F6EECF244321}">
                <p14:modId xmlns:p14="http://schemas.microsoft.com/office/powerpoint/2010/main" val="2879056734"/>
              </p:ext>
            </p:extLst>
          </p:nvPr>
        </p:nvGraphicFramePr>
        <p:xfrm>
          <a:off x="123825" y="1421140"/>
          <a:ext cx="11972926" cy="34335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7834">
                  <a:extLst>
                    <a:ext uri="{9D8B030D-6E8A-4147-A177-3AD203B41FA5}">
                      <a16:colId xmlns:a16="http://schemas.microsoft.com/office/drawing/2014/main" val="235626534"/>
                    </a:ext>
                  </a:extLst>
                </a:gridCol>
                <a:gridCol w="1403064">
                  <a:extLst>
                    <a:ext uri="{9D8B030D-6E8A-4147-A177-3AD203B41FA5}">
                      <a16:colId xmlns:a16="http://schemas.microsoft.com/office/drawing/2014/main" val="376180611"/>
                    </a:ext>
                  </a:extLst>
                </a:gridCol>
                <a:gridCol w="1180449">
                  <a:extLst>
                    <a:ext uri="{9D8B030D-6E8A-4147-A177-3AD203B41FA5}">
                      <a16:colId xmlns:a16="http://schemas.microsoft.com/office/drawing/2014/main" val="156220636"/>
                    </a:ext>
                  </a:extLst>
                </a:gridCol>
                <a:gridCol w="968609">
                  <a:extLst>
                    <a:ext uri="{9D8B030D-6E8A-4147-A177-3AD203B41FA5}">
                      <a16:colId xmlns:a16="http://schemas.microsoft.com/office/drawing/2014/main" val="1088176135"/>
                    </a:ext>
                  </a:extLst>
                </a:gridCol>
                <a:gridCol w="892650">
                  <a:extLst>
                    <a:ext uri="{9D8B030D-6E8A-4147-A177-3AD203B41FA5}">
                      <a16:colId xmlns:a16="http://schemas.microsoft.com/office/drawing/2014/main" val="2579463522"/>
                    </a:ext>
                  </a:extLst>
                </a:gridCol>
                <a:gridCol w="1017206">
                  <a:extLst>
                    <a:ext uri="{9D8B030D-6E8A-4147-A177-3AD203B41FA5}">
                      <a16:colId xmlns:a16="http://schemas.microsoft.com/office/drawing/2014/main" val="2184618054"/>
                    </a:ext>
                  </a:extLst>
                </a:gridCol>
                <a:gridCol w="869306">
                  <a:extLst>
                    <a:ext uri="{9D8B030D-6E8A-4147-A177-3AD203B41FA5}">
                      <a16:colId xmlns:a16="http://schemas.microsoft.com/office/drawing/2014/main" val="3506114761"/>
                    </a:ext>
                  </a:extLst>
                </a:gridCol>
                <a:gridCol w="814159">
                  <a:extLst>
                    <a:ext uri="{9D8B030D-6E8A-4147-A177-3AD203B41FA5}">
                      <a16:colId xmlns:a16="http://schemas.microsoft.com/office/drawing/2014/main" val="3338152578"/>
                    </a:ext>
                  </a:extLst>
                </a:gridCol>
                <a:gridCol w="1197293">
                  <a:extLst>
                    <a:ext uri="{9D8B030D-6E8A-4147-A177-3AD203B41FA5}">
                      <a16:colId xmlns:a16="http://schemas.microsoft.com/office/drawing/2014/main" val="565343739"/>
                    </a:ext>
                  </a:extLst>
                </a:gridCol>
                <a:gridCol w="1291862">
                  <a:extLst>
                    <a:ext uri="{9D8B030D-6E8A-4147-A177-3AD203B41FA5}">
                      <a16:colId xmlns:a16="http://schemas.microsoft.com/office/drawing/2014/main" val="802665303"/>
                    </a:ext>
                  </a:extLst>
                </a:gridCol>
                <a:gridCol w="1380494">
                  <a:extLst>
                    <a:ext uri="{9D8B030D-6E8A-4147-A177-3AD203B41FA5}">
                      <a16:colId xmlns:a16="http://schemas.microsoft.com/office/drawing/2014/main" val="2751887755"/>
                    </a:ext>
                  </a:extLst>
                </a:gridCol>
              </a:tblGrid>
              <a:tr h="417485"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Ws</a:t>
                      </a:r>
                      <a:endParaRPr lang="de-DE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de-D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Hot </a:t>
                      </a:r>
                      <a:r>
                        <a:rPr lang="de-DE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water</a:t>
                      </a:r>
                      <a:r>
                        <a:rPr lang="de-D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storage</a:t>
                      </a:r>
                      <a:endParaRPr lang="de-DE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Heat </a:t>
                      </a:r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loss</a:t>
                      </a:r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</a:t>
                      </a:r>
                      <a:r>
                        <a:rPr lang="de-DE" sz="1200" b="1" i="0" u="none" strike="noStrike" baseline="-250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W,s</a:t>
                      </a:r>
                      <a:r>
                        <a:rPr lang="de-DE" sz="1200" b="1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, </a:t>
                      </a:r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[kWh/(m²a)]</a:t>
                      </a: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Heating</a:t>
                      </a:r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credit</a:t>
                      </a:r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</a:t>
                      </a:r>
                      <a:r>
                        <a:rPr lang="de-DE" sz="1200" b="1" i="0" u="none" strike="noStrike" baseline="-250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h,W,s</a:t>
                      </a:r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[kWh/(m²a)]</a:t>
                      </a: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Auxiliary</a:t>
                      </a:r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energy</a:t>
                      </a:r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requirement</a:t>
                      </a:r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</a:t>
                      </a:r>
                      <a:r>
                        <a:rPr lang="de-DE" sz="1200" b="1" i="0" u="none" strike="noStrike" baseline="-250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W,s,HE</a:t>
                      </a:r>
                      <a:r>
                        <a:rPr lang="de-DE" sz="1200" b="1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, </a:t>
                      </a:r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[kWh/(m²a)] </a:t>
                      </a: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608255098"/>
                  </a:ext>
                </a:extLst>
              </a:tr>
              <a:tr h="415680"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>
                          <a:solidFill>
                            <a:srgbClr val="BFBFB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>
                          <a:solidFill>
                            <a:srgbClr val="BFBFB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 </a:t>
                      </a:r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</a:t>
                      </a:r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apartments</a:t>
                      </a:r>
                      <a:endParaRPr lang="de-DE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 </a:t>
                      </a:r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</a:t>
                      </a:r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apartments</a:t>
                      </a:r>
                      <a:endParaRPr lang="de-DE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 </a:t>
                      </a:r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</a:t>
                      </a:r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apartments</a:t>
                      </a:r>
                      <a:endParaRPr lang="de-DE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3313063"/>
                  </a:ext>
                </a:extLst>
              </a:tr>
              <a:tr h="308139"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Code</a:t>
                      </a: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Name</a:t>
                      </a: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Construction </a:t>
                      </a:r>
                      <a:r>
                        <a:rPr lang="de-DE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year</a:t>
                      </a:r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class</a:t>
                      </a:r>
                      <a:endParaRPr lang="de-DE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 bis 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 bis 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 und mehr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 bis 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 bis 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 und mehr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 bis 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 und mehr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956761310"/>
                  </a:ext>
                </a:extLst>
              </a:tr>
              <a:tr h="448613"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ZS94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Central WW storage tank outside </a:t>
                      </a:r>
                      <a:r>
                        <a:rPr lang="en-US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th.</a:t>
                      </a:r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H.</a:t>
                      </a:r>
                      <a:endParaRPr lang="de-DE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bis 1994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9,2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578961305"/>
                  </a:ext>
                </a:extLst>
              </a:tr>
              <a:tr h="314895"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ZS95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Central WW storage tank outside </a:t>
                      </a:r>
                      <a:r>
                        <a:rPr lang="en-US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th.</a:t>
                      </a:r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H.</a:t>
                      </a:r>
                      <a:endParaRPr lang="de-DE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ab 1995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135591247"/>
                  </a:ext>
                </a:extLst>
              </a:tr>
              <a:tr h="314895"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GS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Gas-</a:t>
                      </a:r>
                      <a:r>
                        <a:rPr lang="de-DE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heated</a:t>
                      </a:r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drinking</a:t>
                      </a:r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water</a:t>
                      </a:r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tank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19,7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0" i="0" u="none" strike="noStrike">
                          <a:solidFill>
                            <a:srgbClr val="FF00FF"/>
                          </a:solidFill>
                          <a:effectLst/>
                          <a:latin typeface="Calibri" panose="020F0502020204030204" pitchFamily="34" charset="0"/>
                        </a:rPr>
                        <a:t>19,7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0" i="0" u="none" strike="noStrike">
                          <a:solidFill>
                            <a:srgbClr val="FF00FF"/>
                          </a:solidFill>
                          <a:effectLst/>
                          <a:latin typeface="Calibri" panose="020F0502020204030204" pitchFamily="34" charset="0"/>
                        </a:rPr>
                        <a:t>19,7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0" i="0" u="none" strike="noStrike">
                          <a:solidFill>
                            <a:srgbClr val="FF00FF"/>
                          </a:solidFill>
                          <a:effectLst/>
                          <a:latin typeface="Calibri" panose="020F0502020204030204" pitchFamily="34" charset="0"/>
                        </a:rPr>
                        <a:t>0,0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0" i="0" u="none" strike="noStrike" dirty="0">
                          <a:solidFill>
                            <a:srgbClr val="FF00FF"/>
                          </a:solidFill>
                          <a:effectLst/>
                          <a:latin typeface="Calibri" panose="020F0502020204030204" pitchFamily="34" charset="0"/>
                        </a:rPr>
                        <a:t>0,0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0" i="0" u="none" strike="noStrike">
                          <a:solidFill>
                            <a:srgbClr val="FF00FF"/>
                          </a:solidFill>
                          <a:effectLst/>
                          <a:latin typeface="Calibri" panose="020F0502020204030204" pitchFamily="34" charset="0"/>
                        </a:rPr>
                        <a:t>0,0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633256210"/>
                  </a:ext>
                </a:extLst>
              </a:tr>
              <a:tr h="504895"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EKS94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Small </a:t>
                      </a:r>
                      <a:r>
                        <a:rPr lang="de-DE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electrical</a:t>
                      </a:r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storage</a:t>
                      </a:r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unit</a:t>
                      </a:r>
                      <a:endParaRPr lang="de-DE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bis 1994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2268998"/>
                  </a:ext>
                </a:extLst>
              </a:tr>
              <a:tr h="530550"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EKS95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Small </a:t>
                      </a:r>
                      <a:r>
                        <a:rPr lang="de-DE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electrical</a:t>
                      </a:r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storage</a:t>
                      </a:r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unit</a:t>
                      </a:r>
                      <a:endParaRPr lang="de-DE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ab 1995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596954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29521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8FADBF7-226F-634C-874B-39F16B9FC6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dirty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 </a:t>
            </a:r>
            <a:r>
              <a:rPr lang="en-US" dirty="0" err="1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Seite</a:t>
            </a:r>
            <a:r>
              <a:rPr lang="en-US" dirty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 </a:t>
            </a:r>
            <a:fld id="{1009E830-1A31-2046-A084-D1E9F200294C}" type="slidenum">
              <a:rPr lang="en-US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pPr defTabSz="914400">
                <a:spcAft>
                  <a:spcPts val="600"/>
                </a:spcAft>
              </a:pPr>
              <a:t>13</a:t>
            </a:fld>
            <a:endParaRPr lang="en-US" dirty="0">
              <a:solidFill>
                <a:schemeClr val="tx1">
                  <a:tint val="75000"/>
                </a:schemeClr>
              </a:solidFill>
              <a:latin typeface="+mn-lt"/>
              <a:cs typeface="+mn-cs"/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7A86BFA-978A-764C-B5AF-9DED2F346CA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2BF76E1-0A38-5547-A653-80A3AFB3E41D}" type="datetime1">
              <a:rPr lang="en-US"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pPr defTabSz="914400">
                <a:spcAft>
                  <a:spcPts val="600"/>
                </a:spcAft>
              </a:pPr>
              <a:t>6/24/2024</a:t>
            </a:fld>
            <a:endParaRPr lang="en-US" sz="1200" dirty="0">
              <a:solidFill>
                <a:schemeClr val="tx1">
                  <a:tint val="75000"/>
                </a:schemeClr>
              </a:solidFill>
              <a:latin typeface="+mn-lt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799BD55-BA5B-3706-D2B9-825A941991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sz="2800" dirty="0">
                <a:solidFill>
                  <a:schemeClr val="accent2">
                    <a:lumMod val="75000"/>
                  </a:schemeClr>
                </a:solidFill>
              </a:rPr>
              <a:t>6. Hot water generation: </a:t>
            </a:r>
            <a:r>
              <a:rPr lang="en-GB" sz="2800" dirty="0" err="1">
                <a:solidFill>
                  <a:schemeClr val="accent2">
                    <a:lumMod val="75000"/>
                  </a:schemeClr>
                </a:solidFill>
              </a:rPr>
              <a:t>Wg</a:t>
            </a:r>
            <a:br>
              <a:rPr lang="en-GB" sz="2800" dirty="0"/>
            </a:br>
            <a:br>
              <a:rPr lang="en-GB" sz="2800" dirty="0"/>
            </a:br>
            <a:br>
              <a:rPr lang="en-GB" sz="2800" dirty="0"/>
            </a:br>
            <a:br>
              <a:rPr lang="en-GB" sz="2800" dirty="0"/>
            </a:br>
            <a:endParaRPr lang="en-GB" dirty="0"/>
          </a:p>
        </p:txBody>
      </p:sp>
      <p:graphicFrame>
        <p:nvGraphicFramePr>
          <p:cNvPr id="7" name="Tabelle 8">
            <a:extLst>
              <a:ext uri="{FF2B5EF4-FFF2-40B4-BE49-F238E27FC236}">
                <a16:creationId xmlns:a16="http://schemas.microsoft.com/office/drawing/2014/main" id="{B8A746D4-0551-ECC2-159A-2B660CE0EA11}"/>
              </a:ext>
            </a:extLst>
          </p:cNvPr>
          <p:cNvGraphicFramePr>
            <a:graphicFrameLocks noGrp="1"/>
          </p:cNvGraphicFramePr>
          <p:nvPr>
            <p:ph sz="quarter" idx="19"/>
            <p:extLst>
              <p:ext uri="{D42A27DB-BD31-4B8C-83A1-F6EECF244321}">
                <p14:modId xmlns:p14="http://schemas.microsoft.com/office/powerpoint/2010/main" val="376941515"/>
              </p:ext>
            </p:extLst>
          </p:nvPr>
        </p:nvGraphicFramePr>
        <p:xfrm>
          <a:off x="238126" y="1107678"/>
          <a:ext cx="11620500" cy="472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530">
                  <a:extLst>
                    <a:ext uri="{9D8B030D-6E8A-4147-A177-3AD203B41FA5}">
                      <a16:colId xmlns:a16="http://schemas.microsoft.com/office/drawing/2014/main" val="804165069"/>
                    </a:ext>
                  </a:extLst>
                </a:gridCol>
                <a:gridCol w="3887819">
                  <a:extLst>
                    <a:ext uri="{9D8B030D-6E8A-4147-A177-3AD203B41FA5}">
                      <a16:colId xmlns:a16="http://schemas.microsoft.com/office/drawing/2014/main" val="742015735"/>
                    </a:ext>
                  </a:extLst>
                </a:gridCol>
                <a:gridCol w="1438275">
                  <a:extLst>
                    <a:ext uri="{9D8B030D-6E8A-4147-A177-3AD203B41FA5}">
                      <a16:colId xmlns:a16="http://schemas.microsoft.com/office/drawing/2014/main" val="2050836805"/>
                    </a:ext>
                  </a:extLst>
                </a:gridCol>
                <a:gridCol w="1057275">
                  <a:extLst>
                    <a:ext uri="{9D8B030D-6E8A-4147-A177-3AD203B41FA5}">
                      <a16:colId xmlns:a16="http://schemas.microsoft.com/office/drawing/2014/main" val="3820411444"/>
                    </a:ext>
                  </a:extLst>
                </a:gridCol>
                <a:gridCol w="1191117">
                  <a:extLst>
                    <a:ext uri="{9D8B030D-6E8A-4147-A177-3AD203B41FA5}">
                      <a16:colId xmlns:a16="http://schemas.microsoft.com/office/drawing/2014/main" val="4220868739"/>
                    </a:ext>
                  </a:extLst>
                </a:gridCol>
                <a:gridCol w="1152827">
                  <a:extLst>
                    <a:ext uri="{9D8B030D-6E8A-4147-A177-3AD203B41FA5}">
                      <a16:colId xmlns:a16="http://schemas.microsoft.com/office/drawing/2014/main" val="1134719686"/>
                    </a:ext>
                  </a:extLst>
                </a:gridCol>
                <a:gridCol w="1694657">
                  <a:extLst>
                    <a:ext uri="{9D8B030D-6E8A-4147-A177-3AD203B41FA5}">
                      <a16:colId xmlns:a16="http://schemas.microsoft.com/office/drawing/2014/main" val="3755244563"/>
                    </a:ext>
                  </a:extLst>
                </a:gridCol>
              </a:tblGrid>
              <a:tr h="36000"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WG</a:t>
                      </a:r>
                    </a:p>
                  </a:txBody>
                  <a:tcPr marL="6350" marR="6350" marT="6350" marB="0" anchor="ctr"/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de-D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Hot </a:t>
                      </a:r>
                      <a:r>
                        <a:rPr lang="de-DE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water</a:t>
                      </a:r>
                      <a:r>
                        <a:rPr lang="de-D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generation</a:t>
                      </a:r>
                      <a:endParaRPr lang="de-DE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Producer </a:t>
                      </a:r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effort</a:t>
                      </a:r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figure</a:t>
                      </a:r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</a:t>
                      </a:r>
                      <a:r>
                        <a:rPr lang="de-DE" sz="1200" b="1" i="0" u="none" strike="noStrike" baseline="-250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W,g</a:t>
                      </a:r>
                      <a:r>
                        <a:rPr lang="de-DE" sz="1200" b="1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 - ]</a:t>
                      </a: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Auxiliary</a:t>
                      </a:r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energy</a:t>
                      </a:r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requirement</a:t>
                      </a:r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</a:t>
                      </a:r>
                      <a:r>
                        <a:rPr lang="de-DE" sz="1200" b="1" i="0" u="none" strike="noStrike" baseline="-250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W,g,HE</a:t>
                      </a:r>
                      <a:r>
                        <a:rPr lang="de-DE" sz="1200" b="1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</a:t>
                      </a:r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[kWh/(m²a)]</a:t>
                      </a: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633218785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 dirty="0">
                          <a:solidFill>
                            <a:srgbClr val="BFBFB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 dirty="0">
                          <a:solidFill>
                            <a:srgbClr val="BFBFB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 </a:t>
                      </a:r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</a:t>
                      </a:r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apartments</a:t>
                      </a:r>
                      <a:endParaRPr lang="de-DE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 </a:t>
                      </a:r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</a:t>
                      </a:r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apartments</a:t>
                      </a:r>
                      <a:endParaRPr lang="de-DE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1183721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t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Code</a:t>
                      </a: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Name</a:t>
                      </a: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Construction </a:t>
                      </a:r>
                      <a:r>
                        <a:rPr lang="de-DE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year</a:t>
                      </a:r>
                      <a:endParaRPr lang="de-DE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 bis 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 und mehr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 bis 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 und mehr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60685749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KTK86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Constant </a:t>
                      </a:r>
                      <a:r>
                        <a:rPr lang="de-DE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temperature</a:t>
                      </a:r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boiler</a:t>
                      </a:r>
                      <a:endParaRPr lang="de-DE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bis 1986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1,61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1,31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87101235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KTK94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Constant </a:t>
                      </a:r>
                      <a:r>
                        <a:rPr lang="de-DE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temperature</a:t>
                      </a:r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boiler</a:t>
                      </a:r>
                      <a:endParaRPr lang="de-DE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1987 bis 1994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1,57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428158205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KTK95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Constant </a:t>
                      </a:r>
                      <a:r>
                        <a:rPr lang="de-DE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temperature</a:t>
                      </a:r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boiler</a:t>
                      </a:r>
                      <a:endParaRPr lang="de-DE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ab 1995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1,49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495302576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NTK86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Low-</a:t>
                      </a:r>
                      <a:r>
                        <a:rPr lang="de-DE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temperature</a:t>
                      </a:r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boiler</a:t>
                      </a:r>
                      <a:endParaRPr lang="de-DE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bis 1986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1,26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49741509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NTK94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Low-</a:t>
                      </a:r>
                      <a:r>
                        <a:rPr lang="de-DE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temperature</a:t>
                      </a:r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boiler</a:t>
                      </a:r>
                      <a:endParaRPr lang="de-DE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1987 bis 1994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68533228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NTK95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Low-</a:t>
                      </a:r>
                      <a:r>
                        <a:rPr lang="de-DE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temperature</a:t>
                      </a:r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boiler</a:t>
                      </a:r>
                      <a:endParaRPr lang="de-DE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ab 1995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1,16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0089480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BWK86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Condensing</a:t>
                      </a:r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boiler</a:t>
                      </a:r>
                      <a:endParaRPr lang="de-DE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bis 1986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881391648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BWK94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Condensing</a:t>
                      </a:r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boiler</a:t>
                      </a:r>
                      <a:endParaRPr lang="de-DE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1987 bis 1994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1,17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001466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BWK95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Condensing</a:t>
                      </a:r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boiler</a:t>
                      </a:r>
                      <a:endParaRPr lang="de-DE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ab 1995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649067889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GT94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Gas boiler (circulating water heater)</a:t>
                      </a:r>
                      <a:endParaRPr lang="de-DE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bis 1994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859400559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GT95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Gas boiler (circulating water heater</a:t>
                      </a:r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ab 1995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024507487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BT94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Gas </a:t>
                      </a:r>
                      <a:r>
                        <a:rPr lang="de-DE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condensing</a:t>
                      </a:r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boiler</a:t>
                      </a:r>
                      <a:endParaRPr lang="de-DE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bis 1994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60840826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BT95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Gas </a:t>
                      </a:r>
                      <a:r>
                        <a:rPr lang="de-DE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condensing</a:t>
                      </a:r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boiler</a:t>
                      </a:r>
                      <a:endParaRPr lang="de-DE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ab 1995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1,16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56584415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WPE94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Ground-source or ground-water electric heat pump.</a:t>
                      </a:r>
                      <a:endParaRPr lang="de-DE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bis 1994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0,32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0,32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0,2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66270262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WPE94mHS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Electric ground source HP or ground source with heating rod</a:t>
                      </a:r>
                      <a:endParaRPr lang="de-DE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bis 1994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0,36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0,36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0,2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4893457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WPE95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Ground-source or ground-water electric heat pump.</a:t>
                      </a:r>
                      <a:endParaRPr lang="de-DE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ab 1995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0,29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0,29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0,2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471114125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WPE95mHS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Electric ground source HP or ground source with heating rod</a:t>
                      </a:r>
                      <a:endParaRPr lang="de-DE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ab 1995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0,32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0,32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0,2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986946543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WPL94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Electric heat pump outdoor air</a:t>
                      </a:r>
                      <a:endParaRPr lang="de-DE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bis 1994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0,42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0,42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0,2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2715780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WPL94mHS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Electric heat pump outdoor air with heating element</a:t>
                      </a:r>
                      <a:endParaRPr lang="de-DE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bis 1994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0,45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0,45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0,2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406279806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WPL95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Electric heat pump outdoor air</a:t>
                      </a:r>
                      <a:endParaRPr lang="de-DE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ab 1995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0,35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0,35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0,2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744745728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WPL95mHS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Electric heat pump outdoor air with heating element</a:t>
                      </a:r>
                      <a:endParaRPr lang="de-DE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ab 1995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0,38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0,38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0,2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1920449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86513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8FADBF7-226F-634C-874B-39F16B9FC6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dirty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 </a:t>
            </a:r>
            <a:r>
              <a:rPr lang="en-US" dirty="0" err="1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Seite</a:t>
            </a:r>
            <a:r>
              <a:rPr lang="en-US" dirty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 </a:t>
            </a:r>
            <a:fld id="{1009E830-1A31-2046-A084-D1E9F200294C}" type="slidenum">
              <a:rPr lang="en-US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pPr defTabSz="914400">
                <a:spcAft>
                  <a:spcPts val="600"/>
                </a:spcAft>
              </a:pPr>
              <a:t>14</a:t>
            </a:fld>
            <a:endParaRPr lang="en-US" dirty="0">
              <a:solidFill>
                <a:schemeClr val="tx1">
                  <a:tint val="75000"/>
                </a:schemeClr>
              </a:solidFill>
              <a:latin typeface="+mn-lt"/>
              <a:cs typeface="+mn-cs"/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7A86BFA-978A-764C-B5AF-9DED2F346CA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2BF76E1-0A38-5547-A653-80A3AFB3E41D}" type="datetime1">
              <a:rPr lang="en-US"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pPr defTabSz="914400">
                <a:spcAft>
                  <a:spcPts val="600"/>
                </a:spcAft>
              </a:pPr>
              <a:t>6/24/2024</a:t>
            </a:fld>
            <a:endParaRPr lang="en-US" sz="1200" dirty="0">
              <a:solidFill>
                <a:schemeClr val="tx1">
                  <a:tint val="75000"/>
                </a:schemeClr>
              </a:solidFill>
              <a:latin typeface="+mn-lt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799BD55-BA5B-3706-D2B9-825A941991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sz="2800" dirty="0">
                <a:solidFill>
                  <a:srgbClr val="C00000"/>
                </a:solidFill>
              </a:rPr>
              <a:t>7. Heating transfer: </a:t>
            </a:r>
            <a:r>
              <a:rPr lang="en-GB" sz="2800" dirty="0" err="1">
                <a:solidFill>
                  <a:srgbClr val="C00000"/>
                </a:solidFill>
              </a:rPr>
              <a:t>Hce</a:t>
            </a:r>
            <a:br>
              <a:rPr lang="en-GB" sz="2800" dirty="0"/>
            </a:br>
            <a:br>
              <a:rPr lang="en-GB" sz="2800" dirty="0"/>
            </a:br>
            <a:br>
              <a:rPr lang="en-GB" sz="2800" dirty="0"/>
            </a:br>
            <a:br>
              <a:rPr lang="en-GB" sz="2800" dirty="0"/>
            </a:br>
            <a:br>
              <a:rPr lang="en-GB" sz="2800" dirty="0"/>
            </a:br>
            <a:endParaRPr lang="en-GB" dirty="0"/>
          </a:p>
        </p:txBody>
      </p:sp>
      <p:graphicFrame>
        <p:nvGraphicFramePr>
          <p:cNvPr id="9" name="Tabelle 9">
            <a:extLst>
              <a:ext uri="{FF2B5EF4-FFF2-40B4-BE49-F238E27FC236}">
                <a16:creationId xmlns:a16="http://schemas.microsoft.com/office/drawing/2014/main" id="{3CB2FE07-3A41-6D6B-9122-99D345343995}"/>
              </a:ext>
            </a:extLst>
          </p:cNvPr>
          <p:cNvGraphicFramePr>
            <a:graphicFrameLocks noGrp="1"/>
          </p:cNvGraphicFramePr>
          <p:nvPr>
            <p:ph sz="quarter" idx="19"/>
            <p:extLst>
              <p:ext uri="{D42A27DB-BD31-4B8C-83A1-F6EECF244321}">
                <p14:modId xmlns:p14="http://schemas.microsoft.com/office/powerpoint/2010/main" val="2900423997"/>
              </p:ext>
            </p:extLst>
          </p:nvPr>
        </p:nvGraphicFramePr>
        <p:xfrm>
          <a:off x="766762" y="1989138"/>
          <a:ext cx="10425113" cy="267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1038">
                  <a:extLst>
                    <a:ext uri="{9D8B030D-6E8A-4147-A177-3AD203B41FA5}">
                      <a16:colId xmlns:a16="http://schemas.microsoft.com/office/drawing/2014/main" val="4087837884"/>
                    </a:ext>
                  </a:extLst>
                </a:gridCol>
                <a:gridCol w="4156495">
                  <a:extLst>
                    <a:ext uri="{9D8B030D-6E8A-4147-A177-3AD203B41FA5}">
                      <a16:colId xmlns:a16="http://schemas.microsoft.com/office/drawing/2014/main" val="3877520329"/>
                    </a:ext>
                  </a:extLst>
                </a:gridCol>
                <a:gridCol w="2566807">
                  <a:extLst>
                    <a:ext uri="{9D8B030D-6E8A-4147-A177-3AD203B41FA5}">
                      <a16:colId xmlns:a16="http://schemas.microsoft.com/office/drawing/2014/main" val="1307448839"/>
                    </a:ext>
                  </a:extLst>
                </a:gridCol>
                <a:gridCol w="3020773">
                  <a:extLst>
                    <a:ext uri="{9D8B030D-6E8A-4147-A177-3AD203B41FA5}">
                      <a16:colId xmlns:a16="http://schemas.microsoft.com/office/drawing/2014/main" val="2014653725"/>
                    </a:ext>
                  </a:extLst>
                </a:gridCol>
              </a:tblGrid>
              <a:tr h="703883">
                <a:tc>
                  <a:txBody>
                    <a:bodyPr/>
                    <a:lstStyle/>
                    <a:p>
                      <a:pPr algn="l" fontAlgn="ctr"/>
                      <a:r>
                        <a:rPr lang="de-DE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Hce</a:t>
                      </a:r>
                      <a:endParaRPr lang="de-DE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Heat </a:t>
                      </a:r>
                      <a:r>
                        <a:rPr lang="de-DE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transfer</a:t>
                      </a:r>
                      <a:endParaRPr lang="de-DE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Heat </a:t>
                      </a:r>
                      <a:r>
                        <a:rPr lang="de-DE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loss</a:t>
                      </a:r>
                      <a:r>
                        <a:rPr lang="de-DE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lang="de-DE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</a:t>
                      </a:r>
                      <a:r>
                        <a:rPr lang="de-DE" sz="1600" b="1" i="0" u="none" strike="noStrike" baseline="-250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H,ce</a:t>
                      </a:r>
                      <a:r>
                        <a:rPr lang="de-DE" sz="1600" b="1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br>
                        <a:rPr lang="de-DE" sz="1600" b="1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de-DE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[kWh/(m²a)]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Auxiliary</a:t>
                      </a:r>
                      <a:r>
                        <a:rPr lang="de-DE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energy</a:t>
                      </a:r>
                      <a:r>
                        <a:rPr lang="de-DE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requirement</a:t>
                      </a:r>
                      <a:r>
                        <a:rPr lang="de-DE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lang="de-DE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</a:t>
                      </a:r>
                      <a:r>
                        <a:rPr lang="de-DE" sz="1600" b="1" i="0" u="none" strike="noStrike" baseline="-250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H,ce,HE</a:t>
                      </a:r>
                      <a:r>
                        <a:rPr lang="de-DE" sz="1600" b="1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br>
                        <a:rPr lang="de-DE" sz="1600" b="1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de-DE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[kWh/(m²a)]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972147209"/>
                  </a:ext>
                </a:extLst>
              </a:tr>
              <a:tr h="528364">
                <a:tc>
                  <a:txBody>
                    <a:bodyPr/>
                    <a:lstStyle/>
                    <a:p>
                      <a:pPr algn="l" fontAlgn="t"/>
                      <a:r>
                        <a:rPr lang="de-DE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Code</a:t>
                      </a: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Name</a:t>
                      </a: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122657623"/>
                  </a:ext>
                </a:extLst>
              </a:tr>
              <a:tr h="703883">
                <a:tc>
                  <a:txBody>
                    <a:bodyPr/>
                    <a:lstStyle/>
                    <a:p>
                      <a:pPr algn="l" fontAlgn="ctr"/>
                      <a:r>
                        <a:rPr lang="de-DE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Central </a:t>
                      </a:r>
                      <a:r>
                        <a:rPr lang="de-DE" sz="16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heating</a:t>
                      </a:r>
                      <a:r>
                        <a:rPr lang="de-DE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lang="de-DE" sz="16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thermostatically</a:t>
                      </a:r>
                      <a:r>
                        <a:rPr lang="de-DE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6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controlled</a:t>
                      </a:r>
                      <a:endParaRPr lang="de-DE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93209803"/>
                  </a:ext>
                </a:extLst>
              </a:tr>
              <a:tr h="703883">
                <a:tc>
                  <a:txBody>
                    <a:bodyPr/>
                    <a:lstStyle/>
                    <a:p>
                      <a:pPr algn="l" fontAlgn="ctr"/>
                      <a:r>
                        <a:rPr lang="de-DE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dMan</a:t>
                      </a:r>
                      <a:endParaRPr lang="de-DE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Room-</a:t>
                      </a:r>
                      <a:r>
                        <a:rPr lang="de-DE" sz="16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by</a:t>
                      </a:r>
                      <a:r>
                        <a:rPr lang="de-DE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r>
                        <a:rPr lang="de-DE" sz="16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room</a:t>
                      </a:r>
                      <a:r>
                        <a:rPr lang="de-DE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6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heating</a:t>
                      </a:r>
                      <a:r>
                        <a:rPr lang="de-DE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lang="de-DE" sz="16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manually</a:t>
                      </a:r>
                      <a:r>
                        <a:rPr lang="de-DE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6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controlled</a:t>
                      </a:r>
                      <a:endParaRPr lang="de-DE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7812410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99850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8FADBF7-226F-634C-874B-39F16B9FC6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dirty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 </a:t>
            </a:r>
            <a:r>
              <a:rPr lang="en-US" dirty="0" err="1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Seite</a:t>
            </a:r>
            <a:r>
              <a:rPr lang="en-US" dirty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 </a:t>
            </a:r>
            <a:fld id="{1009E830-1A31-2046-A084-D1E9F200294C}" type="slidenum">
              <a:rPr lang="en-US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pPr defTabSz="914400">
                <a:spcAft>
                  <a:spcPts val="600"/>
                </a:spcAft>
              </a:pPr>
              <a:t>15</a:t>
            </a:fld>
            <a:endParaRPr lang="en-US" dirty="0">
              <a:solidFill>
                <a:schemeClr val="tx1">
                  <a:tint val="75000"/>
                </a:schemeClr>
              </a:solidFill>
              <a:latin typeface="+mn-lt"/>
              <a:cs typeface="+mn-cs"/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7A86BFA-978A-764C-B5AF-9DED2F346CA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2BF76E1-0A38-5547-A653-80A3AFB3E41D}" type="datetime1">
              <a:rPr lang="en-US"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pPr defTabSz="914400">
                <a:spcAft>
                  <a:spcPts val="600"/>
                </a:spcAft>
              </a:pPr>
              <a:t>6/24/2024</a:t>
            </a:fld>
            <a:endParaRPr lang="en-US" sz="1200" dirty="0">
              <a:solidFill>
                <a:schemeClr val="tx1">
                  <a:tint val="75000"/>
                </a:schemeClr>
              </a:solidFill>
              <a:latin typeface="+mn-lt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799BD55-BA5B-3706-D2B9-825A941991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sz="2800" dirty="0">
                <a:solidFill>
                  <a:srgbClr val="C00000"/>
                </a:solidFill>
              </a:rPr>
              <a:t>8. Heat distribution: </a:t>
            </a:r>
            <a:r>
              <a:rPr lang="en-GB" sz="2800" dirty="0" err="1">
                <a:solidFill>
                  <a:srgbClr val="C00000"/>
                </a:solidFill>
              </a:rPr>
              <a:t>Hd</a:t>
            </a:r>
            <a:br>
              <a:rPr lang="en-GB" sz="2800" dirty="0"/>
            </a:br>
            <a:br>
              <a:rPr lang="en-GB" sz="2800" dirty="0"/>
            </a:br>
            <a:br>
              <a:rPr lang="en-GB" sz="2800" dirty="0"/>
            </a:br>
            <a:br>
              <a:rPr lang="en-GB" sz="2800" dirty="0"/>
            </a:br>
            <a:br>
              <a:rPr lang="en-GB" sz="2800" dirty="0"/>
            </a:br>
            <a:br>
              <a:rPr lang="en-GB" sz="2800" dirty="0"/>
            </a:br>
            <a:endParaRPr lang="en-GB" dirty="0"/>
          </a:p>
        </p:txBody>
      </p:sp>
      <p:graphicFrame>
        <p:nvGraphicFramePr>
          <p:cNvPr id="7" name="Tabelle 7">
            <a:extLst>
              <a:ext uri="{FF2B5EF4-FFF2-40B4-BE49-F238E27FC236}">
                <a16:creationId xmlns:a16="http://schemas.microsoft.com/office/drawing/2014/main" id="{A2D8E6FB-2DF6-B7BA-2AE8-E27F1650A335}"/>
              </a:ext>
            </a:extLst>
          </p:cNvPr>
          <p:cNvGraphicFramePr>
            <a:graphicFrameLocks noGrp="1"/>
          </p:cNvGraphicFramePr>
          <p:nvPr>
            <p:ph sz="quarter" idx="19"/>
            <p:extLst>
              <p:ext uri="{D42A27DB-BD31-4B8C-83A1-F6EECF244321}">
                <p14:modId xmlns:p14="http://schemas.microsoft.com/office/powerpoint/2010/main" val="3297433249"/>
              </p:ext>
            </p:extLst>
          </p:nvPr>
        </p:nvGraphicFramePr>
        <p:xfrm>
          <a:off x="766762" y="1142999"/>
          <a:ext cx="10720392" cy="41283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0049">
                  <a:extLst>
                    <a:ext uri="{9D8B030D-6E8A-4147-A177-3AD203B41FA5}">
                      <a16:colId xmlns:a16="http://schemas.microsoft.com/office/drawing/2014/main" val="2499146269"/>
                    </a:ext>
                  </a:extLst>
                </a:gridCol>
                <a:gridCol w="1340049">
                  <a:extLst>
                    <a:ext uri="{9D8B030D-6E8A-4147-A177-3AD203B41FA5}">
                      <a16:colId xmlns:a16="http://schemas.microsoft.com/office/drawing/2014/main" val="3285431710"/>
                    </a:ext>
                  </a:extLst>
                </a:gridCol>
                <a:gridCol w="1340049">
                  <a:extLst>
                    <a:ext uri="{9D8B030D-6E8A-4147-A177-3AD203B41FA5}">
                      <a16:colId xmlns:a16="http://schemas.microsoft.com/office/drawing/2014/main" val="3959243107"/>
                    </a:ext>
                  </a:extLst>
                </a:gridCol>
                <a:gridCol w="1340049">
                  <a:extLst>
                    <a:ext uri="{9D8B030D-6E8A-4147-A177-3AD203B41FA5}">
                      <a16:colId xmlns:a16="http://schemas.microsoft.com/office/drawing/2014/main" val="1754141033"/>
                    </a:ext>
                  </a:extLst>
                </a:gridCol>
                <a:gridCol w="1340049">
                  <a:extLst>
                    <a:ext uri="{9D8B030D-6E8A-4147-A177-3AD203B41FA5}">
                      <a16:colId xmlns:a16="http://schemas.microsoft.com/office/drawing/2014/main" val="463749036"/>
                    </a:ext>
                  </a:extLst>
                </a:gridCol>
                <a:gridCol w="1340049">
                  <a:extLst>
                    <a:ext uri="{9D8B030D-6E8A-4147-A177-3AD203B41FA5}">
                      <a16:colId xmlns:a16="http://schemas.microsoft.com/office/drawing/2014/main" val="3921182124"/>
                    </a:ext>
                  </a:extLst>
                </a:gridCol>
                <a:gridCol w="1340049">
                  <a:extLst>
                    <a:ext uri="{9D8B030D-6E8A-4147-A177-3AD203B41FA5}">
                      <a16:colId xmlns:a16="http://schemas.microsoft.com/office/drawing/2014/main" val="436170131"/>
                    </a:ext>
                  </a:extLst>
                </a:gridCol>
                <a:gridCol w="1340049">
                  <a:extLst>
                    <a:ext uri="{9D8B030D-6E8A-4147-A177-3AD203B41FA5}">
                      <a16:colId xmlns:a16="http://schemas.microsoft.com/office/drawing/2014/main" val="3740381391"/>
                    </a:ext>
                  </a:extLst>
                </a:gridCol>
              </a:tblGrid>
              <a:tr h="748170">
                <a:tc>
                  <a:txBody>
                    <a:bodyPr/>
                    <a:lstStyle/>
                    <a:p>
                      <a:pPr algn="l" fontAlgn="ctr"/>
                      <a:r>
                        <a:rPr lang="de-DE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Hd</a:t>
                      </a:r>
                      <a:endParaRPr lang="de-DE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de-D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Heat </a:t>
                      </a:r>
                      <a:r>
                        <a:rPr lang="de-DE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distribution</a:t>
                      </a:r>
                      <a:endParaRPr lang="de-DE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Heat </a:t>
                      </a:r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loss</a:t>
                      </a:r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</a:t>
                      </a:r>
                      <a:r>
                        <a:rPr lang="de-DE" sz="1200" b="1" i="0" u="none" strike="noStrike" baseline="-250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H,d</a:t>
                      </a:r>
                      <a:r>
                        <a:rPr lang="de-DE" sz="1200" b="1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, </a:t>
                      </a:r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[kWh/(m²a)] </a:t>
                      </a: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Auxiliary</a:t>
                      </a:r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energy</a:t>
                      </a:r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requirement</a:t>
                      </a:r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</a:t>
                      </a:r>
                      <a:r>
                        <a:rPr lang="de-DE" sz="1200" b="1" i="0" u="none" strike="noStrike" baseline="-250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H,d,HE</a:t>
                      </a:r>
                      <a:r>
                        <a:rPr lang="de-DE" sz="1200" b="1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, </a:t>
                      </a:r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[kWh/(m²a)]</a:t>
                      </a: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67205127"/>
                  </a:ext>
                </a:extLst>
              </a:tr>
              <a:tr h="255097">
                <a:tc>
                  <a:txBody>
                    <a:bodyPr/>
                    <a:lstStyle/>
                    <a:p>
                      <a:pPr algn="l" fontAlgn="ctr"/>
                      <a:r>
                        <a:rPr lang="de-D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>
                          <a:solidFill>
                            <a:srgbClr val="BFBFB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>
                          <a:solidFill>
                            <a:srgbClr val="BFBFB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Number</a:t>
                      </a:r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</a:t>
                      </a:r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floors</a:t>
                      </a:r>
                      <a:endParaRPr lang="de-DE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 </a:t>
                      </a:r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</a:t>
                      </a:r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apartments</a:t>
                      </a:r>
                      <a:endParaRPr lang="de-DE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7687583"/>
                  </a:ext>
                </a:extLst>
              </a:tr>
              <a:tr h="255097">
                <a:tc>
                  <a:txBody>
                    <a:bodyPr/>
                    <a:lstStyle/>
                    <a:p>
                      <a:pPr algn="l" fontAlgn="t"/>
                      <a:r>
                        <a:rPr lang="de-DE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Code</a:t>
                      </a: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Name</a:t>
                      </a: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Construction </a:t>
                      </a:r>
                      <a:r>
                        <a:rPr lang="de-DE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year</a:t>
                      </a:r>
                      <a:endParaRPr lang="de-DE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 bis 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 bis 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 und mehr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 bis 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 und mehr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14100355"/>
                  </a:ext>
                </a:extLst>
              </a:tr>
              <a:tr h="255097">
                <a:tc>
                  <a:txBody>
                    <a:bodyPr/>
                    <a:lstStyle/>
                    <a:p>
                      <a:pPr algn="l" fontAlgn="ctr"/>
                      <a:r>
                        <a:rPr lang="de-DE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z70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Central </a:t>
                      </a:r>
                      <a:r>
                        <a:rPr lang="de-DE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distribution</a:t>
                      </a:r>
                      <a:endParaRPr lang="de-DE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50er bis 70er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27,9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23,9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19,3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38830751"/>
                  </a:ext>
                </a:extLst>
              </a:tr>
              <a:tr h="501633">
                <a:tc>
                  <a:txBody>
                    <a:bodyPr/>
                    <a:lstStyle/>
                    <a:p>
                      <a:pPr algn="l" fontAlgn="ctr"/>
                      <a:r>
                        <a:rPr lang="de-DE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z70Mod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Central </a:t>
                      </a:r>
                      <a:r>
                        <a:rPr lang="de-DE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distribution</a:t>
                      </a:r>
                      <a:endParaRPr lang="de-DE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50er bis 70er, </a:t>
                      </a:r>
                      <a:r>
                        <a:rPr lang="de-DE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insulated</a:t>
                      </a:r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after </a:t>
                      </a:r>
                      <a:r>
                        <a:rPr lang="de-DE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installation</a:t>
                      </a:r>
                      <a:endParaRPr lang="de-DE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21,5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19,5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17,2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200298669"/>
                  </a:ext>
                </a:extLst>
              </a:tr>
              <a:tr h="255097">
                <a:tc>
                  <a:txBody>
                    <a:bodyPr/>
                    <a:lstStyle/>
                    <a:p>
                      <a:pPr algn="l" fontAlgn="ctr"/>
                      <a:r>
                        <a:rPr lang="de-DE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z90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Central </a:t>
                      </a:r>
                      <a:r>
                        <a:rPr lang="de-DE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distribution</a:t>
                      </a:r>
                      <a:endParaRPr lang="de-DE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80er und 90er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17,5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15,5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13,3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97919328"/>
                  </a:ext>
                </a:extLst>
              </a:tr>
              <a:tr h="748170">
                <a:tc>
                  <a:txBody>
                    <a:bodyPr/>
                    <a:lstStyle/>
                    <a:p>
                      <a:pPr algn="l" fontAlgn="ctr"/>
                      <a:r>
                        <a:rPr lang="de-DE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zEnEV</a:t>
                      </a:r>
                      <a:endParaRPr lang="de-DE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Central </a:t>
                      </a:r>
                      <a:r>
                        <a:rPr lang="de-DE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distribution</a:t>
                      </a:r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incl. </a:t>
                      </a:r>
                      <a:r>
                        <a:rPr lang="de-DE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quality</a:t>
                      </a:r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assurance</a:t>
                      </a:r>
                      <a:endParaRPr lang="de-DE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EnEV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9,4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24617912"/>
                  </a:ext>
                </a:extLst>
              </a:tr>
              <a:tr h="501633">
                <a:tc>
                  <a:txBody>
                    <a:bodyPr/>
                    <a:lstStyle/>
                    <a:p>
                      <a:pPr algn="l" fontAlgn="ctr"/>
                      <a:r>
                        <a:rPr lang="de-DE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Residential </a:t>
                      </a:r>
                      <a:r>
                        <a:rPr lang="de-DE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distribution</a:t>
                      </a:r>
                      <a:endParaRPr lang="de-DE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3,4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749847253"/>
                  </a:ext>
                </a:extLst>
              </a:tr>
              <a:tr h="501633">
                <a:tc>
                  <a:txBody>
                    <a:bodyPr/>
                    <a:lstStyle/>
                    <a:p>
                      <a:pPr algn="l" fontAlgn="ctr"/>
                      <a:r>
                        <a:rPr lang="de-DE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dez</a:t>
                      </a:r>
                      <a:endParaRPr lang="de-DE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Decentralized</a:t>
                      </a:r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system</a:t>
                      </a:r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(</a:t>
                      </a:r>
                      <a:r>
                        <a:rPr lang="de-DE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without</a:t>
                      </a:r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distribution</a:t>
                      </a:r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5075037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20614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8FADBF7-226F-634C-874B-39F16B9FC6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dirty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 </a:t>
            </a:r>
            <a:r>
              <a:rPr lang="en-US" dirty="0" err="1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Seite</a:t>
            </a:r>
            <a:r>
              <a:rPr lang="en-US" dirty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 </a:t>
            </a:r>
            <a:fld id="{1009E830-1A31-2046-A084-D1E9F200294C}" type="slidenum">
              <a:rPr lang="en-US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pPr defTabSz="914400">
                <a:spcAft>
                  <a:spcPts val="600"/>
                </a:spcAft>
              </a:pPr>
              <a:t>16</a:t>
            </a:fld>
            <a:endParaRPr lang="en-US" dirty="0">
              <a:solidFill>
                <a:schemeClr val="tx1">
                  <a:tint val="75000"/>
                </a:schemeClr>
              </a:solidFill>
              <a:latin typeface="+mn-lt"/>
              <a:cs typeface="+mn-cs"/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7A86BFA-978A-764C-B5AF-9DED2F346CA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2BF76E1-0A38-5547-A653-80A3AFB3E41D}" type="datetime1">
              <a:rPr lang="en-US"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pPr defTabSz="914400">
                <a:spcAft>
                  <a:spcPts val="600"/>
                </a:spcAft>
              </a:pPr>
              <a:t>6/24/2024</a:t>
            </a:fld>
            <a:endParaRPr lang="en-US" sz="1200" dirty="0">
              <a:solidFill>
                <a:schemeClr val="tx1">
                  <a:tint val="75000"/>
                </a:schemeClr>
              </a:solidFill>
              <a:latin typeface="+mn-lt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799BD55-BA5B-3706-D2B9-825A941991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sz="2800" dirty="0">
                <a:solidFill>
                  <a:srgbClr val="C00000"/>
                </a:solidFill>
              </a:rPr>
              <a:t>9. Heat storage: Hs</a:t>
            </a:r>
            <a:br>
              <a:rPr lang="en-GB" sz="2800" dirty="0"/>
            </a:br>
            <a:br>
              <a:rPr lang="en-GB" sz="2800" dirty="0"/>
            </a:br>
            <a:br>
              <a:rPr lang="en-GB" sz="2800" dirty="0"/>
            </a:br>
            <a:br>
              <a:rPr lang="en-GB" sz="2800" dirty="0"/>
            </a:br>
            <a:br>
              <a:rPr lang="en-GB" sz="2800" dirty="0"/>
            </a:br>
            <a:br>
              <a:rPr lang="en-GB" sz="2800" dirty="0"/>
            </a:br>
            <a:br>
              <a:rPr lang="en-GB" sz="2800" dirty="0"/>
            </a:br>
            <a:endParaRPr lang="en-GB" dirty="0"/>
          </a:p>
        </p:txBody>
      </p:sp>
      <p:graphicFrame>
        <p:nvGraphicFramePr>
          <p:cNvPr id="8" name="Tabelle 8">
            <a:extLst>
              <a:ext uri="{FF2B5EF4-FFF2-40B4-BE49-F238E27FC236}">
                <a16:creationId xmlns:a16="http://schemas.microsoft.com/office/drawing/2014/main" id="{38088ED7-4622-1B9F-A4D8-F9FBAEF6FC30}"/>
              </a:ext>
            </a:extLst>
          </p:cNvPr>
          <p:cNvGraphicFramePr>
            <a:graphicFrameLocks noGrp="1"/>
          </p:cNvGraphicFramePr>
          <p:nvPr>
            <p:ph sz="quarter" idx="19"/>
            <p:extLst>
              <p:ext uri="{D42A27DB-BD31-4B8C-83A1-F6EECF244321}">
                <p14:modId xmlns:p14="http://schemas.microsoft.com/office/powerpoint/2010/main" val="2171848278"/>
              </p:ext>
            </p:extLst>
          </p:nvPr>
        </p:nvGraphicFramePr>
        <p:xfrm>
          <a:off x="774447" y="1489075"/>
          <a:ext cx="10011904" cy="3619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478">
                  <a:extLst>
                    <a:ext uri="{9D8B030D-6E8A-4147-A177-3AD203B41FA5}">
                      <a16:colId xmlns:a16="http://schemas.microsoft.com/office/drawing/2014/main" val="1857922257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77397436"/>
                    </a:ext>
                  </a:extLst>
                </a:gridCol>
                <a:gridCol w="1343025">
                  <a:extLst>
                    <a:ext uri="{9D8B030D-6E8A-4147-A177-3AD203B41FA5}">
                      <a16:colId xmlns:a16="http://schemas.microsoft.com/office/drawing/2014/main" val="4130106006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878596101"/>
                    </a:ext>
                  </a:extLst>
                </a:gridCol>
                <a:gridCol w="1010657">
                  <a:extLst>
                    <a:ext uri="{9D8B030D-6E8A-4147-A177-3AD203B41FA5}">
                      <a16:colId xmlns:a16="http://schemas.microsoft.com/office/drawing/2014/main" val="2515957071"/>
                    </a:ext>
                  </a:extLst>
                </a:gridCol>
                <a:gridCol w="1430272">
                  <a:extLst>
                    <a:ext uri="{9D8B030D-6E8A-4147-A177-3AD203B41FA5}">
                      <a16:colId xmlns:a16="http://schemas.microsoft.com/office/drawing/2014/main" val="2148524186"/>
                    </a:ext>
                  </a:extLst>
                </a:gridCol>
                <a:gridCol w="1430272">
                  <a:extLst>
                    <a:ext uri="{9D8B030D-6E8A-4147-A177-3AD203B41FA5}">
                      <a16:colId xmlns:a16="http://schemas.microsoft.com/office/drawing/2014/main" val="277173217"/>
                    </a:ext>
                  </a:extLst>
                </a:gridCol>
              </a:tblGrid>
              <a:tr h="1173703"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Hs</a:t>
                      </a:r>
                      <a:endParaRPr lang="de-DE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de-D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Heat </a:t>
                      </a:r>
                      <a:r>
                        <a:rPr lang="de-DE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storage</a:t>
                      </a:r>
                      <a:endParaRPr lang="de-DE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de-D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Heat </a:t>
                      </a:r>
                      <a:r>
                        <a:rPr lang="de-DE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loss</a:t>
                      </a:r>
                      <a:r>
                        <a:rPr lang="de-D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lang="de-DE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</a:t>
                      </a:r>
                      <a:r>
                        <a:rPr lang="de-DE" sz="1400" b="1" i="0" u="none" strike="noStrike" baseline="-250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H,s</a:t>
                      </a:r>
                      <a:r>
                        <a:rPr lang="de-D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br>
                        <a:rPr lang="de-D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de-D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[kWh/(m²a)]</a:t>
                      </a: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de-DE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Auxiliary</a:t>
                      </a:r>
                      <a:r>
                        <a:rPr lang="de-D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energy</a:t>
                      </a:r>
                      <a:r>
                        <a:rPr lang="de-D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requirement</a:t>
                      </a:r>
                      <a:r>
                        <a:rPr lang="de-D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lang="de-DE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</a:t>
                      </a:r>
                      <a:r>
                        <a:rPr lang="de-DE" sz="1400" b="1" i="0" u="none" strike="noStrike" baseline="-250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H,s,HE</a:t>
                      </a:r>
                      <a:r>
                        <a:rPr lang="de-DE" sz="1400" b="1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br>
                        <a:rPr lang="de-DE" sz="1400" b="1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de-D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[kWh/(m²a)]</a:t>
                      </a: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774850122"/>
                  </a:ext>
                </a:extLst>
              </a:tr>
              <a:tr h="438169">
                <a:tc>
                  <a:txBody>
                    <a:bodyPr/>
                    <a:lstStyle/>
                    <a:p>
                      <a:pPr algn="l" fontAlgn="ctr"/>
                      <a:r>
                        <a:rPr lang="de-D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 dirty="0">
                          <a:solidFill>
                            <a:srgbClr val="BFBFB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 dirty="0">
                          <a:solidFill>
                            <a:srgbClr val="BFBFB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 </a:t>
                      </a:r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</a:t>
                      </a:r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apartments</a:t>
                      </a:r>
                      <a:endParaRPr lang="de-DE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 </a:t>
                      </a:r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</a:t>
                      </a:r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apartments</a:t>
                      </a:r>
                      <a:endParaRPr lang="de-DE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8268439"/>
                  </a:ext>
                </a:extLst>
              </a:tr>
              <a:tr h="438169">
                <a:tc>
                  <a:txBody>
                    <a:bodyPr/>
                    <a:lstStyle/>
                    <a:p>
                      <a:pPr algn="l" fontAlgn="t"/>
                      <a:r>
                        <a:rPr lang="de-DE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Code</a:t>
                      </a: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Name</a:t>
                      </a: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Construction </a:t>
                      </a:r>
                      <a:r>
                        <a:rPr lang="de-DE" sz="14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year</a:t>
                      </a:r>
                      <a:endParaRPr lang="de-DE" sz="14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 bis 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 und mehr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 bis 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 und mehr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399858942"/>
                  </a:ext>
                </a:extLst>
              </a:tr>
              <a:tr h="784719">
                <a:tc>
                  <a:txBody>
                    <a:bodyPr/>
                    <a:lstStyle/>
                    <a:p>
                      <a:pPr algn="l" fontAlgn="ctr"/>
                      <a:r>
                        <a:rPr lang="de-DE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PSWP94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Buffer storage tank El. heat p / night p</a:t>
                      </a:r>
                      <a:r>
                        <a:rPr lang="de-DE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bis 1994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276212637"/>
                  </a:ext>
                </a:extLst>
              </a:tr>
              <a:tr h="784719">
                <a:tc>
                  <a:txBody>
                    <a:bodyPr/>
                    <a:lstStyle/>
                    <a:p>
                      <a:pPr algn="l" fontAlgn="ctr"/>
                      <a:r>
                        <a:rPr lang="de-DE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PSWP95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Buffer storage tank El. heat p / night p</a:t>
                      </a:r>
                      <a:r>
                        <a:rPr lang="de-DE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ab 1995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3108706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57801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8FADBF7-226F-634C-874B-39F16B9FC6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dirty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 </a:t>
            </a:r>
            <a:r>
              <a:rPr lang="en-US" dirty="0" err="1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Seite</a:t>
            </a:r>
            <a:r>
              <a:rPr lang="en-US" dirty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 </a:t>
            </a:r>
            <a:fld id="{1009E830-1A31-2046-A084-D1E9F200294C}" type="slidenum">
              <a:rPr lang="en-US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pPr defTabSz="914400">
                <a:spcAft>
                  <a:spcPts val="600"/>
                </a:spcAft>
              </a:pPr>
              <a:t>17</a:t>
            </a:fld>
            <a:endParaRPr lang="en-US" dirty="0">
              <a:solidFill>
                <a:schemeClr val="tx1">
                  <a:tint val="75000"/>
                </a:schemeClr>
              </a:solidFill>
              <a:latin typeface="+mn-lt"/>
              <a:cs typeface="+mn-cs"/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7A86BFA-978A-764C-B5AF-9DED2F346CA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2BF76E1-0A38-5547-A653-80A3AFB3E41D}" type="datetime1">
              <a:rPr lang="en-US"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pPr defTabSz="914400">
                <a:spcAft>
                  <a:spcPts val="600"/>
                </a:spcAft>
              </a:pPr>
              <a:t>6/24/2024</a:t>
            </a:fld>
            <a:endParaRPr lang="en-US" sz="1200" dirty="0">
              <a:solidFill>
                <a:schemeClr val="tx1">
                  <a:tint val="75000"/>
                </a:schemeClr>
              </a:solidFill>
              <a:latin typeface="+mn-lt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799BD55-BA5B-3706-D2B9-825A941991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0400" y="369887"/>
            <a:ext cx="8854614" cy="358775"/>
          </a:xfrm>
        </p:spPr>
        <p:txBody>
          <a:bodyPr/>
          <a:lstStyle/>
          <a:p>
            <a:r>
              <a:rPr lang="en-GB" sz="2800" dirty="0">
                <a:solidFill>
                  <a:srgbClr val="C00000"/>
                </a:solidFill>
              </a:rPr>
              <a:t>10. Heat generation: Hg</a:t>
            </a:r>
            <a:br>
              <a:rPr lang="en-GB" sz="2800" dirty="0"/>
            </a:br>
            <a:br>
              <a:rPr lang="en-GB" sz="2800" dirty="0"/>
            </a:br>
            <a:br>
              <a:rPr lang="en-GB" sz="2800" dirty="0"/>
            </a:br>
            <a:br>
              <a:rPr lang="en-GB" sz="2800" dirty="0"/>
            </a:br>
            <a:br>
              <a:rPr lang="en-GB" sz="2800" dirty="0"/>
            </a:br>
            <a:br>
              <a:rPr lang="en-GB" sz="2800" dirty="0"/>
            </a:br>
            <a:br>
              <a:rPr lang="en-GB" sz="2800" dirty="0"/>
            </a:br>
            <a:br>
              <a:rPr lang="en-GB" sz="2800" dirty="0"/>
            </a:br>
            <a:endParaRPr lang="en-GB" dirty="0"/>
          </a:p>
        </p:txBody>
      </p:sp>
      <p:graphicFrame>
        <p:nvGraphicFramePr>
          <p:cNvPr id="7" name="Tabelle 8">
            <a:extLst>
              <a:ext uri="{FF2B5EF4-FFF2-40B4-BE49-F238E27FC236}">
                <a16:creationId xmlns:a16="http://schemas.microsoft.com/office/drawing/2014/main" id="{580DD855-8974-A00F-ABAC-90F3B58A5FF2}"/>
              </a:ext>
            </a:extLst>
          </p:cNvPr>
          <p:cNvGraphicFramePr>
            <a:graphicFrameLocks noGrp="1"/>
          </p:cNvGraphicFramePr>
          <p:nvPr>
            <p:ph sz="quarter" idx="19"/>
            <p:extLst>
              <p:ext uri="{D42A27DB-BD31-4B8C-83A1-F6EECF244321}">
                <p14:modId xmlns:p14="http://schemas.microsoft.com/office/powerpoint/2010/main" val="2166922005"/>
              </p:ext>
            </p:extLst>
          </p:nvPr>
        </p:nvGraphicFramePr>
        <p:xfrm>
          <a:off x="161922" y="831252"/>
          <a:ext cx="11839576" cy="5896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353">
                  <a:extLst>
                    <a:ext uri="{9D8B030D-6E8A-4147-A177-3AD203B41FA5}">
                      <a16:colId xmlns:a16="http://schemas.microsoft.com/office/drawing/2014/main" val="2739588267"/>
                    </a:ext>
                  </a:extLst>
                </a:gridCol>
                <a:gridCol w="4076700">
                  <a:extLst>
                    <a:ext uri="{9D8B030D-6E8A-4147-A177-3AD203B41FA5}">
                      <a16:colId xmlns:a16="http://schemas.microsoft.com/office/drawing/2014/main" val="1441025395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1598294873"/>
                    </a:ext>
                  </a:extLst>
                </a:gridCol>
                <a:gridCol w="1247775">
                  <a:extLst>
                    <a:ext uri="{9D8B030D-6E8A-4147-A177-3AD203B41FA5}">
                      <a16:colId xmlns:a16="http://schemas.microsoft.com/office/drawing/2014/main" val="3431001175"/>
                    </a:ext>
                  </a:extLst>
                </a:gridCol>
                <a:gridCol w="1171575">
                  <a:extLst>
                    <a:ext uri="{9D8B030D-6E8A-4147-A177-3AD203B41FA5}">
                      <a16:colId xmlns:a16="http://schemas.microsoft.com/office/drawing/2014/main" val="1615134118"/>
                    </a:ext>
                  </a:extLst>
                </a:gridCol>
                <a:gridCol w="1499505">
                  <a:extLst>
                    <a:ext uri="{9D8B030D-6E8A-4147-A177-3AD203B41FA5}">
                      <a16:colId xmlns:a16="http://schemas.microsoft.com/office/drawing/2014/main" val="422494459"/>
                    </a:ext>
                  </a:extLst>
                </a:gridCol>
                <a:gridCol w="1691368">
                  <a:extLst>
                    <a:ext uri="{9D8B030D-6E8A-4147-A177-3AD203B41FA5}">
                      <a16:colId xmlns:a16="http://schemas.microsoft.com/office/drawing/2014/main" val="2904414959"/>
                    </a:ext>
                  </a:extLst>
                </a:gridCol>
              </a:tblGrid>
              <a:tr h="36000">
                <a:tc>
                  <a:txBody>
                    <a:bodyPr/>
                    <a:lstStyle/>
                    <a:p>
                      <a:pPr algn="l" fontAlgn="ctr"/>
                      <a:r>
                        <a:rPr lang="de-DE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Hg</a:t>
                      </a:r>
                    </a:p>
                  </a:txBody>
                  <a:tcPr marL="6350" marR="6350" marT="6350" marB="0" anchor="ctr"/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de-D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Heat </a:t>
                      </a:r>
                      <a:r>
                        <a:rPr lang="de-DE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generation</a:t>
                      </a:r>
                      <a:endParaRPr lang="de-DE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Producer </a:t>
                      </a:r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effort</a:t>
                      </a:r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figure</a:t>
                      </a:r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</a:t>
                      </a:r>
                      <a:r>
                        <a:rPr lang="de-DE" sz="1200" b="1" i="0" u="none" strike="noStrike" baseline="-250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H,g</a:t>
                      </a:r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Auxiliary</a:t>
                      </a:r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energy</a:t>
                      </a:r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demand,q</a:t>
                      </a:r>
                      <a:r>
                        <a:rPr lang="de-DE" sz="1200" b="1" i="0" u="none" strike="noStrike" baseline="-250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H,g,HE</a:t>
                      </a:r>
                      <a:r>
                        <a:rPr lang="de-DE" sz="1200" b="1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[kWh/(m²a)]</a:t>
                      </a: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3676656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>
                          <a:solidFill>
                            <a:srgbClr val="BFBFB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>
                          <a:solidFill>
                            <a:srgbClr val="BFBFB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 </a:t>
                      </a:r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</a:t>
                      </a:r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apartments</a:t>
                      </a:r>
                      <a:endParaRPr lang="de-DE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 </a:t>
                      </a:r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</a:t>
                      </a:r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apartments</a:t>
                      </a:r>
                      <a:endParaRPr lang="de-DE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1268841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Code</a:t>
                      </a:r>
                      <a:endParaRPr lang="de-DE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Name</a:t>
                      </a: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  <a:r>
                        <a:rPr lang="de-DE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onstruction</a:t>
                      </a:r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year</a:t>
                      </a:r>
                      <a:endParaRPr lang="de-DE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 bis 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 und mehr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 bis 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 und mehr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085584337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KTK86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Constant temperature boiler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bis 1986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1,33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1,9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166078824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KTK94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Constant temperature boiler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1987 bis 1994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1,29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1,9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74206292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KTK95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Constant temperature boilers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ab 1995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1,26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1,9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85840234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NTK86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Low-temperature boilers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bis 1986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1,9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959528098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NTK94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Low-temperature boilers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1987 bis 1994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1,9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40842450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NTK95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Low-temperature boilers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ab 1995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1,9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23025592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BWK86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Condensing boilers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bis 1986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1,9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034781252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BWK94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Condensing boilers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1987 bis 1994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1,9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68145798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BWK95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Condensing boiler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ab 1995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1,06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1,9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543919469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GT94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Gas boiler (circulating water heater)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bis 1994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1,16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1,9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543783602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GT95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Gas boiler (circulating water heater)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ab 1995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1,9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668477722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GBT94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Gas condensing boiler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bis 1994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1,07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1,9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131316446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GBT95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Gas condensing boiler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ab 1995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0,99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1,9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29784215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WPE94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Electric heat pump, ground or underground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bis 1994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0,32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0,32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8111896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WPE94mHS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Electric heat pump ground source or ground source with heating rod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bis 1994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0,36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0,36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410969705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WPE95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Electric heat pump, ground source or underground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ab 1995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0,29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0,29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66497395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WPE95mHS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Electric heat pump ground source or ground source with heating rod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ab 1995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0,32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0,32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73759139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WPL94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Electric heat pump outside air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bis 1994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0,42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0,42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99861165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WPL94mHS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Electric heat pump outside air with heating element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bis 1994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0,45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0,45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35225019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WPL95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Electric heat pump outside air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ab 1995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0,35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0,35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75367669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WPL95mHS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Electric heat pump outside air with heating element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ab 1995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0,38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0,38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19940257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FWU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District heating transfer station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183885093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Oelofen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Oil-fired individual stoves with evaporation burner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1,40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1,40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e-DE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99856279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Ofen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Coal or wood stoves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1,60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1,60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e-DE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268420118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Gas room heater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1,40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1,40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e-DE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58895714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ESz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Central electric storage tank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de-DE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831240550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EDHG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Direct electric heaters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42535493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TSA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Solar thermal </a:t>
                      </a:r>
                      <a:r>
                        <a:rPr lang="de-DE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system</a:t>
                      </a:r>
                      <a:endParaRPr lang="de-DE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4862625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57102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A72EB7-AA5B-1429-00BA-48ED7FB202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0399" y="549275"/>
            <a:ext cx="9530371" cy="662580"/>
          </a:xfrm>
        </p:spPr>
        <p:txBody>
          <a:bodyPr/>
          <a:lstStyle/>
          <a:p>
            <a:r>
              <a:rPr lang="en-US" dirty="0"/>
              <a:t>3. </a:t>
            </a:r>
            <a:r>
              <a:rPr lang="en-GB" dirty="0"/>
              <a:t>Defining technology USED BY HH in the dataset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3BC43C2-A869-CE2C-9106-C4E6F49D75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Defining technology for heating and hot water production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7188BE9-386B-F9E0-6F1D-D1BE29066199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78628" y="2005460"/>
            <a:ext cx="4962009" cy="3808079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1. Heating</a:t>
            </a:r>
          </a:p>
          <a:p>
            <a:pPr lvl="1"/>
            <a:r>
              <a:rPr lang="en-US" dirty="0"/>
              <a:t>1.1. Heat transfer (</a:t>
            </a:r>
            <a:r>
              <a:rPr lang="en-US" dirty="0" err="1"/>
              <a:t>Hce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1.2. Heat distribution (</a:t>
            </a:r>
            <a:r>
              <a:rPr lang="en-US" dirty="0" err="1"/>
              <a:t>Hd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1.3. Heat storage (Hs)</a:t>
            </a:r>
          </a:p>
          <a:p>
            <a:pPr lvl="1"/>
            <a:r>
              <a:rPr lang="en-US" dirty="0"/>
              <a:t>1.4. Heat generation 1 (Hg1)</a:t>
            </a:r>
          </a:p>
          <a:p>
            <a:pPr lvl="1"/>
            <a:r>
              <a:rPr lang="en-US" dirty="0"/>
              <a:t>1.5. Heat generation 2 (Hg2)</a:t>
            </a:r>
          </a:p>
          <a:p>
            <a:pPr lvl="1"/>
            <a:r>
              <a:rPr lang="en-US" dirty="0"/>
              <a:t>1.6. Heat energy carrier (</a:t>
            </a:r>
            <a:r>
              <a:rPr lang="en-US" dirty="0" err="1"/>
              <a:t>Rhet</a:t>
            </a:r>
            <a:r>
              <a:rPr lang="en-US" dirty="0"/>
              <a:t>)-&gt;Cost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55BB8CA-641A-0B44-F073-2B5426D2D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> </a:t>
            </a:r>
            <a:r>
              <a:rPr lang="de-DE" sz="1400"/>
              <a:t>Seite </a:t>
            </a:r>
            <a:fld id="{1009E830-1A31-2046-A084-D1E9F200294C}" type="slidenum">
              <a:rPr lang="de-DE" sz="1400" smtClean="0"/>
              <a:pPr/>
              <a:t>18</a:t>
            </a:fld>
            <a:endParaRPr lang="de-DE" sz="1400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EFED6B2-634C-7217-4059-22297E5F476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AF834C9-8FDB-D443-8511-FA2B85B454AC}" type="datetime1">
              <a:rPr lang="de-DE" sz="1400" smtClean="0"/>
              <a:t>24.06.2024</a:t>
            </a:fld>
            <a:endParaRPr lang="de-DE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8FFFFE7-117A-4160-812E-E6D8B5BC69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>
                <a:latin typeface="Calibri" panose="020F0502020204030204" pitchFamily="34" charset="0"/>
                <a:cs typeface="Calibri" panose="020F0502020204030204" pitchFamily="34" charset="0"/>
              </a:rPr>
              <a:t>Bitte Fußzeile definieren</a:t>
            </a:r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Inhaltsplatzhalter 3">
            <a:extLst>
              <a:ext uri="{FF2B5EF4-FFF2-40B4-BE49-F238E27FC236}">
                <a16:creationId xmlns:a16="http://schemas.microsoft.com/office/drawing/2014/main" id="{EC017B77-1D08-E35D-E02F-C148B85783F6}"/>
              </a:ext>
            </a:extLst>
          </p:cNvPr>
          <p:cNvSpPr txBox="1">
            <a:spLocks/>
          </p:cNvSpPr>
          <p:nvPr/>
        </p:nvSpPr>
        <p:spPr>
          <a:xfrm>
            <a:off x="5640637" y="1989136"/>
            <a:ext cx="6147411" cy="3808079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Lucida Grande" panose="020B0600040502020204" pitchFamily="34" charset="0"/>
              <a:buChar char="▸"/>
              <a:defRPr sz="2400" b="1" i="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Lucida Grande" panose="020B0600040502020204" pitchFamily="34" charset="0"/>
              <a:buChar char="▸"/>
              <a:defRPr sz="2000" b="0" i="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Lucida Grande" panose="020B0600040502020204" pitchFamily="34" charset="0"/>
              <a:buChar char="▸"/>
              <a:defRPr sz="1600" b="0" i="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Lucida Grande" panose="020B0600040502020204" pitchFamily="34" charset="0"/>
              <a:buChar char="▸"/>
              <a:defRPr sz="1600" b="0" i="0" kern="120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Lucida Grande" panose="020B0600040502020204" pitchFamily="34" charset="0"/>
              <a:buChar char="▸"/>
              <a:defRPr sz="1600" b="0" i="0" kern="120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2. Hot water</a:t>
            </a:r>
          </a:p>
          <a:p>
            <a:pPr lvl="1"/>
            <a:r>
              <a:rPr lang="en-US" dirty="0"/>
              <a:t>2.1. Hot water distribution (Wd)</a:t>
            </a:r>
          </a:p>
          <a:p>
            <a:pPr lvl="1"/>
            <a:r>
              <a:rPr lang="en-US" dirty="0"/>
              <a:t>2.2. Hot water storage (</a:t>
            </a:r>
            <a:r>
              <a:rPr lang="en-US" dirty="0" err="1"/>
              <a:t>Ws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2.3. Hot water generator 1 (Wg1)</a:t>
            </a:r>
          </a:p>
          <a:p>
            <a:pPr lvl="1"/>
            <a:r>
              <a:rPr lang="en-US" dirty="0"/>
              <a:t>2.4. Hot water generator 2 (Wg2)</a:t>
            </a:r>
          </a:p>
          <a:p>
            <a:pPr lvl="1"/>
            <a:r>
              <a:rPr lang="en-US" dirty="0"/>
              <a:t>2.5. Hot water energy generator (</a:t>
            </a:r>
            <a:r>
              <a:rPr lang="en-US" dirty="0" err="1"/>
              <a:t>Wwet</a:t>
            </a:r>
            <a:r>
              <a:rPr lang="en-US" dirty="0"/>
              <a:t>)-&gt; Cost</a:t>
            </a:r>
          </a:p>
        </p:txBody>
      </p:sp>
    </p:spTree>
    <p:extLst>
      <p:ext uri="{BB962C8B-B14F-4D97-AF65-F5344CB8AC3E}">
        <p14:creationId xmlns:p14="http://schemas.microsoft.com/office/powerpoint/2010/main" val="20084665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A72EB7-AA5B-1429-00BA-48ED7FB202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4. energy balance of a building</a:t>
            </a:r>
            <a:br>
              <a:rPr lang="en-GB" dirty="0"/>
            </a:br>
            <a:br>
              <a:rPr lang="en-GB" dirty="0"/>
            </a:br>
            <a:r>
              <a:rPr lang="en-US" dirty="0"/>
              <a:t> 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3BC43C2-A869-CE2C-9106-C4E6F49D75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0399" y="1060778"/>
            <a:ext cx="11226970" cy="431200"/>
          </a:xfrm>
        </p:spPr>
        <p:txBody>
          <a:bodyPr/>
          <a:lstStyle/>
          <a:p>
            <a:r>
              <a:rPr lang="en-US" dirty="0"/>
              <a:t>Determine the building's heating requirements by calculating the transmission and ventilation heat loss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7188BE9-386B-F9E0-6F1D-D1BE29066199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78628" y="2005460"/>
            <a:ext cx="10579922" cy="3808079"/>
          </a:xfrm>
        </p:spPr>
        <p:txBody>
          <a:bodyPr/>
          <a:lstStyle/>
          <a:p>
            <a:r>
              <a:rPr lang="en-US" dirty="0"/>
              <a:t>1. Setting the Parameters</a:t>
            </a:r>
          </a:p>
          <a:p>
            <a:r>
              <a:rPr lang="en-US" dirty="0"/>
              <a:t>2. Selection of U values</a:t>
            </a:r>
          </a:p>
          <a:p>
            <a:r>
              <a:rPr lang="en-US" dirty="0"/>
              <a:t>3. Pre - calculations of the building</a:t>
            </a:r>
          </a:p>
          <a:p>
            <a:r>
              <a:rPr lang="en-US" dirty="0"/>
              <a:t>4. Calculation: Transmission heat loss</a:t>
            </a:r>
          </a:p>
          <a:p>
            <a:r>
              <a:rPr lang="en-US" dirty="0"/>
              <a:t>5. Calculation: Heating demand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55BB8CA-641A-0B44-F073-2B5426D2D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> </a:t>
            </a:r>
            <a:r>
              <a:rPr lang="de-DE" sz="1400"/>
              <a:t>Seite </a:t>
            </a:r>
            <a:fld id="{1009E830-1A31-2046-A084-D1E9F200294C}" type="slidenum">
              <a:rPr lang="de-DE" sz="1400" smtClean="0"/>
              <a:pPr/>
              <a:t>19</a:t>
            </a:fld>
            <a:endParaRPr lang="de-DE" sz="1400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EFED6B2-634C-7217-4059-22297E5F476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AF834C9-8FDB-D443-8511-FA2B85B454AC}" type="datetime1">
              <a:rPr lang="de-DE" sz="1400" smtClean="0"/>
              <a:t>24.06.2024</a:t>
            </a:fld>
            <a:endParaRPr lang="de-DE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8FFFFE7-117A-4160-812E-E6D8B5BC69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>
                <a:latin typeface="Calibri" panose="020F0502020204030204" pitchFamily="34" charset="0"/>
                <a:cs typeface="Calibri" panose="020F0502020204030204" pitchFamily="34" charset="0"/>
              </a:rPr>
              <a:t>Bitte Fußzeile definieren</a:t>
            </a:r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Inhaltsplatzhalter 3">
            <a:extLst>
              <a:ext uri="{FF2B5EF4-FFF2-40B4-BE49-F238E27FC236}">
                <a16:creationId xmlns:a16="http://schemas.microsoft.com/office/drawing/2014/main" id="{EC017B77-1D08-E35D-E02F-C148B85783F6}"/>
              </a:ext>
            </a:extLst>
          </p:cNvPr>
          <p:cNvSpPr txBox="1">
            <a:spLocks/>
          </p:cNvSpPr>
          <p:nvPr/>
        </p:nvSpPr>
        <p:spPr>
          <a:xfrm>
            <a:off x="5640637" y="1989136"/>
            <a:ext cx="6147411" cy="3808079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Lucida Grande" panose="020B0600040502020204" pitchFamily="34" charset="0"/>
              <a:buChar char="▸"/>
              <a:defRPr sz="2400" b="1" i="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Lucida Grande" panose="020B0600040502020204" pitchFamily="34" charset="0"/>
              <a:buChar char="▸"/>
              <a:defRPr sz="2000" b="0" i="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Lucida Grande" panose="020B0600040502020204" pitchFamily="34" charset="0"/>
              <a:buChar char="▸"/>
              <a:defRPr sz="1600" b="0" i="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Lucida Grande" panose="020B0600040502020204" pitchFamily="34" charset="0"/>
              <a:buChar char="▸"/>
              <a:defRPr sz="1600" b="0" i="0" kern="120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Lucida Grande" panose="020B0600040502020204" pitchFamily="34" charset="0"/>
              <a:buChar char="▸"/>
              <a:defRPr sz="1600" b="0" i="0" kern="120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4188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7A86BFA-978A-764C-B5AF-9DED2F346C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3467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2BF76E1-0A38-5547-A653-80A3AFB3E41D}" type="datetime1">
              <a:rPr lang="en-US"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pPr defTabSz="914400">
                <a:spcAft>
                  <a:spcPts val="600"/>
                </a:spcAft>
              </a:pPr>
              <a:t>6/24/2024</a:t>
            </a:fld>
            <a:endParaRPr lang="en-US" sz="1200" dirty="0">
              <a:solidFill>
                <a:schemeClr val="tx1">
                  <a:tint val="75000"/>
                </a:schemeClr>
              </a:solidFill>
              <a:latin typeface="+mn-lt"/>
              <a:cs typeface="+mn-cs"/>
            </a:endParaRP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8FADBF7-226F-634C-874B-39F16B9FC6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05333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dirty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 </a:t>
            </a:r>
            <a:r>
              <a:rPr lang="en-US" dirty="0" err="1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Seite</a:t>
            </a:r>
            <a:r>
              <a:rPr lang="en-US" dirty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 </a:t>
            </a:r>
            <a:fld id="{1009E830-1A31-2046-A084-D1E9F200294C}" type="slidenum">
              <a:rPr lang="en-US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pPr defTabSz="914400">
                <a:spcAft>
                  <a:spcPts val="600"/>
                </a:spcAft>
              </a:pPr>
              <a:t>20</a:t>
            </a:fld>
            <a:endParaRPr lang="en-US" dirty="0">
              <a:solidFill>
                <a:schemeClr val="tx1">
                  <a:tint val="75000"/>
                </a:schemeClr>
              </a:solidFill>
              <a:latin typeface="+mn-lt"/>
              <a:cs typeface="+mn-cs"/>
            </a:endParaRPr>
          </a:p>
        </p:txBody>
      </p:sp>
      <p:sp>
        <p:nvSpPr>
          <p:cNvPr id="70" name="Isosceles Triangle 6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Isosceles Triangle 7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92D1D43-6C38-541A-45AF-9A25577F7DB3}"/>
                  </a:ext>
                </a:extLst>
              </p:cNvPr>
              <p:cNvSpPr>
                <a:spLocks noGrp="1"/>
              </p:cNvSpPr>
              <p:nvPr>
                <p:ph sz="quarter" idx="19"/>
              </p:nvPr>
            </p:nvSpPr>
            <p:spPr>
              <a:xfrm>
                <a:off x="984532" y="1769323"/>
                <a:ext cx="8854612" cy="4558574"/>
              </a:xfrm>
            </p:spPr>
            <p:txBody>
              <a:bodyPr/>
              <a:lstStyle/>
              <a:p>
                <a:r>
                  <a:rPr lang="en-GB" dirty="0"/>
                  <a:t>Facade surface coefficients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𝐹𝑎</m:t>
                        </m:r>
                      </m:sub>
                    </m:sSub>
                  </m:oMath>
                </a14:m>
                <a:r>
                  <a:rPr lang="en-GB" dirty="0"/>
                  <a:t>)</a:t>
                </a:r>
              </a:p>
              <a:p>
                <a:r>
                  <a:rPr lang="en-US" dirty="0"/>
                  <a:t>Facade area coefficients according to floor plan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𝐹𝑎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  <a:p>
                <a:r>
                  <a:rPr lang="en-US" dirty="0"/>
                  <a:t>Heating level of roof coefficient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𝑇𝐵𝐷𝐺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  <a:p>
                <a:r>
                  <a:rPr lang="en-GB" dirty="0"/>
                  <a:t>Roof area coefficient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𝐷𝑎</m:t>
                        </m:r>
                      </m:sub>
                    </m:sSub>
                  </m:oMath>
                </a14:m>
                <a:r>
                  <a:rPr lang="en-GB" dirty="0"/>
                  <a:t>)</a:t>
                </a:r>
                <a:endParaRPr lang="en-US" dirty="0"/>
              </a:p>
              <a:p>
                <a:r>
                  <a:rPr lang="en-GB" dirty="0"/>
                  <a:t>Top floor area coefficients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𝑂𝑔</m:t>
                        </m:r>
                      </m:sub>
                    </m:sSub>
                  </m:oMath>
                </a14:m>
                <a:r>
                  <a:rPr lang="en-GB" dirty="0"/>
                  <a:t>)</a:t>
                </a:r>
              </a:p>
              <a:p>
                <a:r>
                  <a:rPr lang="de-DE" dirty="0" err="1"/>
                  <a:t>Correction</a:t>
                </a:r>
                <a:r>
                  <a:rPr lang="de-DE" dirty="0"/>
                  <a:t> </a:t>
                </a:r>
                <a:r>
                  <a:rPr lang="de-DE" dirty="0" err="1"/>
                  <a:t>factor</a:t>
                </a:r>
                <a:r>
                  <a:rPr lang="de-DE" dirty="0"/>
                  <a:t> </a:t>
                </a:r>
                <a:r>
                  <a:rPr lang="de-DE" dirty="0" err="1"/>
                  <a:t>for</a:t>
                </a:r>
                <a:r>
                  <a:rPr lang="de-DE" dirty="0"/>
                  <a:t> </a:t>
                </a:r>
                <a:r>
                  <a:rPr lang="de-DE" dirty="0" err="1"/>
                  <a:t>dormers</a:t>
                </a:r>
                <a:r>
                  <a:rPr lang="de-DE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𝐺𝑎</m:t>
                        </m:r>
                      </m:sub>
                    </m:sSub>
                  </m:oMath>
                </a14:m>
                <a:r>
                  <a:rPr lang="de-DE" dirty="0"/>
                  <a:t>)</a:t>
                </a:r>
                <a:endParaRPr lang="en-GB" dirty="0"/>
              </a:p>
              <a:p>
                <a:r>
                  <a:rPr lang="en-GB" dirty="0"/>
                  <a:t>Heating level of basement </a:t>
                </a:r>
                <a:r>
                  <a:rPr lang="en-US" dirty="0"/>
                  <a:t>coefficient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𝑇𝐵𝐾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  <a:p>
                <a:r>
                  <a:rPr lang="en-US" dirty="0"/>
                  <a:t>Heights of the rooms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  <a:p>
                <a:r>
                  <a:rPr lang="en-GB" dirty="0"/>
                  <a:t>Floor surface parameter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𝑓𝑏</m:t>
                        </m:r>
                      </m:sub>
                    </m:sSub>
                    <m:r>
                      <a:rPr lang="en-GB" b="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1.33</m:t>
                    </m:r>
                  </m:oMath>
                </a14:m>
                <a:r>
                  <a:rPr lang="en-GB" dirty="0"/>
                  <a:t>)</a:t>
                </a:r>
              </a:p>
              <a:p>
                <a:r>
                  <a:rPr lang="de-DE" dirty="0" err="1"/>
                  <a:t>Window</a:t>
                </a:r>
                <a:r>
                  <a:rPr lang="de-DE" dirty="0"/>
                  <a:t> </a:t>
                </a:r>
                <a:r>
                  <a:rPr lang="de-DE" dirty="0" err="1"/>
                  <a:t>surface</a:t>
                </a:r>
                <a:r>
                  <a:rPr lang="de-DE" dirty="0"/>
                  <a:t> </a:t>
                </a:r>
                <a:r>
                  <a:rPr lang="de-DE" dirty="0" err="1"/>
                  <a:t>parameter</a:t>
                </a:r>
                <a:r>
                  <a:rPr lang="en-GB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𝑓𝑒</m:t>
                        </m:r>
                      </m:sub>
                    </m:sSub>
                    <m:r>
                      <a:rPr lang="en-GB" b="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=0.2</m:t>
                    </m:r>
                  </m:oMath>
                </a14:m>
                <a:r>
                  <a:rPr lang="en-GB" dirty="0"/>
                  <a:t>)</a:t>
                </a:r>
                <a:endParaRPr lang="de-DE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92D1D43-6C38-541A-45AF-9A25577F7D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9"/>
              </p:nvPr>
            </p:nvSpPr>
            <p:spPr>
              <a:xfrm>
                <a:off x="984532" y="1769323"/>
                <a:ext cx="8854612" cy="4558574"/>
              </a:xfrm>
              <a:blipFill>
                <a:blip r:embed="rId2"/>
                <a:stretch>
                  <a:fillRect l="-1033" t="-2005" b="-37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itel 5">
            <a:extLst>
              <a:ext uri="{FF2B5EF4-FFF2-40B4-BE49-F238E27FC236}">
                <a16:creationId xmlns:a16="http://schemas.microsoft.com/office/drawing/2014/main" id="{8BB6E443-9E24-8D52-F681-233B8CC0DB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0400" y="549275"/>
            <a:ext cx="8854614" cy="358775"/>
          </a:xfrm>
        </p:spPr>
        <p:txBody>
          <a:bodyPr/>
          <a:lstStyle/>
          <a:p>
            <a:r>
              <a:rPr lang="en-US" dirty="0"/>
              <a:t>4. 1. </a:t>
            </a:r>
            <a:r>
              <a:rPr lang="en-US" cap="none" dirty="0"/>
              <a:t>Setting the parameters</a:t>
            </a:r>
            <a:br>
              <a:rPr lang="en-US" dirty="0"/>
            </a:br>
            <a:endParaRPr lang="de-DE" dirty="0"/>
          </a:p>
        </p:txBody>
      </p:sp>
      <p:pic>
        <p:nvPicPr>
          <p:cNvPr id="6" name="Grafik 5" descr="Ein Bild, das rot, Design enthält.&#10;&#10;Automatisch generierte Beschreibung">
            <a:extLst>
              <a:ext uri="{FF2B5EF4-FFF2-40B4-BE49-F238E27FC236}">
                <a16:creationId xmlns:a16="http://schemas.microsoft.com/office/drawing/2014/main" id="{D1F0ABA7-5F40-4207-61C2-6094ABDC93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8976" y="1168840"/>
            <a:ext cx="554047" cy="1114181"/>
          </a:xfrm>
          <a:prstGeom prst="rect">
            <a:avLst/>
          </a:prstGeom>
        </p:spPr>
      </p:pic>
      <p:pic>
        <p:nvPicPr>
          <p:cNvPr id="8" name="Grafik 7" descr="Ein Bild, das Rechteck, Design, rot, Reihe enthält.&#10;&#10;Automatisch generierte Beschreibung">
            <a:extLst>
              <a:ext uri="{FF2B5EF4-FFF2-40B4-BE49-F238E27FC236}">
                <a16:creationId xmlns:a16="http://schemas.microsoft.com/office/drawing/2014/main" id="{4D04736A-F8F4-C79D-F84C-F24722E883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0628" y="1989137"/>
            <a:ext cx="1028753" cy="1193861"/>
          </a:xfrm>
          <a:prstGeom prst="rect">
            <a:avLst/>
          </a:prstGeom>
        </p:spPr>
      </p:pic>
      <p:pic>
        <p:nvPicPr>
          <p:cNvPr id="10" name="Grafik 9" descr="Ein Bild, das Reihe, Dreieck, Symbol, Design enthält.&#10;&#10;Automatisch generierte Beschreibung">
            <a:extLst>
              <a:ext uri="{FF2B5EF4-FFF2-40B4-BE49-F238E27FC236}">
                <a16:creationId xmlns:a16="http://schemas.microsoft.com/office/drawing/2014/main" id="{959EEF53-F037-B82A-9989-B12A0D364B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8878" y="2787922"/>
            <a:ext cx="874663" cy="1299500"/>
          </a:xfrm>
          <a:prstGeom prst="rect">
            <a:avLst/>
          </a:prstGeom>
        </p:spPr>
      </p:pic>
      <p:pic>
        <p:nvPicPr>
          <p:cNvPr id="13" name="Grafik 12" descr="Ein Bild, das Rechteck, rot, Farbigkeit, Design enthält.&#10;&#10;Automatisch generierte Beschreibung">
            <a:extLst>
              <a:ext uri="{FF2B5EF4-FFF2-40B4-BE49-F238E27FC236}">
                <a16:creationId xmlns:a16="http://schemas.microsoft.com/office/drawing/2014/main" id="{849F92D0-9A26-B1C7-A5DC-3B39437DD7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2273" y="4435844"/>
            <a:ext cx="577880" cy="997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0249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521D7174-E31D-80FE-D85C-84DE67B9A426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161925" y="1989137"/>
            <a:ext cx="12220575" cy="4318061"/>
          </a:xfrm>
        </p:spPr>
        <p:txBody>
          <a:bodyPr/>
          <a:lstStyle/>
          <a:p>
            <a:r>
              <a:rPr lang="en-US" dirty="0"/>
              <a:t>A) Set Insulation levels for Roof, External walls, Top floor, and Basement</a:t>
            </a:r>
          </a:p>
          <a:p>
            <a:r>
              <a:rPr lang="en-GB" dirty="0"/>
              <a:t>B) Import ORIGINAL U-VALUES  from Parameters (based on year of construction)</a:t>
            </a:r>
            <a:endParaRPr lang="en-US" dirty="0"/>
          </a:p>
          <a:p>
            <a:r>
              <a:rPr lang="en-US" dirty="0"/>
              <a:t>C) Assumption on subsequent insulation</a:t>
            </a:r>
          </a:p>
          <a:p>
            <a:r>
              <a:rPr lang="en-US" dirty="0"/>
              <a:t>D) Guidelines for federal funding for efficient buildings set min technical requirement</a:t>
            </a:r>
          </a:p>
          <a:p>
            <a:r>
              <a:rPr lang="en-US" dirty="0"/>
              <a:t>E) Reference building (residential building) in GEG law</a:t>
            </a:r>
          </a:p>
          <a:p>
            <a:r>
              <a:rPr lang="en-US" dirty="0"/>
              <a:t>F) </a:t>
            </a:r>
            <a:r>
              <a:rPr lang="en-GB" dirty="0"/>
              <a:t>Credit Institute for Reconstruction (</a:t>
            </a:r>
            <a:r>
              <a:rPr lang="en-GB" dirty="0" err="1"/>
              <a:t>KfW</a:t>
            </a:r>
            <a:r>
              <a:rPr lang="en-GB" dirty="0"/>
              <a:t>) funding</a:t>
            </a:r>
          </a:p>
          <a:p>
            <a:r>
              <a:rPr lang="en-US" dirty="0"/>
              <a:t>G) Calculation of Roof/Exterior Wall/Top Floor/Basement U-values</a:t>
            </a:r>
            <a:endParaRPr lang="de-DE" dirty="0"/>
          </a:p>
          <a:p>
            <a:r>
              <a:rPr lang="en-US" dirty="0"/>
              <a:t>H) Import U-values and G-values for windows</a:t>
            </a:r>
            <a:endParaRPr lang="de-DE" dirty="0"/>
          </a:p>
          <a:p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5C7391D-51B8-A017-78F9-81651152CF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> </a:t>
            </a:r>
            <a:r>
              <a:rPr lang="de-DE" sz="1400"/>
              <a:t>Seite </a:t>
            </a:r>
            <a:fld id="{1009E830-1A31-2046-A084-D1E9F200294C}" type="slidenum">
              <a:rPr lang="de-DE" sz="1400" smtClean="0"/>
              <a:pPr/>
              <a:t>21</a:t>
            </a:fld>
            <a:endParaRPr lang="de-DE" sz="140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AE47B88-0D03-DA75-D5F0-3983FA63C30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EE3BB37-241D-F742-AF57-57B0232CDDCA}" type="datetime1">
              <a:rPr lang="de-DE" sz="1400" smtClean="0"/>
              <a:t>24.06.2024</a:t>
            </a:fld>
            <a:endParaRPr lang="de-DE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F60A87F-7339-4C5B-3B13-30402DE308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>
                <a:latin typeface="Calibri" panose="020F0502020204030204" pitchFamily="34" charset="0"/>
                <a:cs typeface="Calibri" panose="020F0502020204030204" pitchFamily="34" charset="0"/>
              </a:rPr>
              <a:t>Bitte Fußzeile definieren</a:t>
            </a:r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8BABCAB-584D-BF2D-6CD9-08FAB6AE32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Updated U-value in case of </a:t>
            </a:r>
            <a:r>
              <a:rPr lang="en-US" dirty="0" err="1"/>
              <a:t>KfW</a:t>
            </a:r>
            <a:r>
              <a:rPr lang="en-US" dirty="0"/>
              <a:t> Funding </a:t>
            </a:r>
            <a:endParaRPr lang="de-DE" dirty="0"/>
          </a:p>
        </p:txBody>
      </p:sp>
      <p:sp>
        <p:nvSpPr>
          <p:cNvPr id="8" name="Titel 5">
            <a:extLst>
              <a:ext uri="{FF2B5EF4-FFF2-40B4-BE49-F238E27FC236}">
                <a16:creationId xmlns:a16="http://schemas.microsoft.com/office/drawing/2014/main" id="{F4C5501A-A242-921A-2DF4-30C603F9E7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0400" y="549275"/>
            <a:ext cx="8854614" cy="358775"/>
          </a:xfrm>
        </p:spPr>
        <p:txBody>
          <a:bodyPr/>
          <a:lstStyle/>
          <a:p>
            <a:r>
              <a:rPr lang="en-US" dirty="0"/>
              <a:t>4. 2. </a:t>
            </a:r>
            <a:r>
              <a:rPr lang="en-US" cap="none" dirty="0"/>
              <a:t>Selection of U values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761526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521D7174-E31D-80FE-D85C-84DE67B9A426}"/>
                  </a:ext>
                </a:extLst>
              </p:cNvPr>
              <p:cNvSpPr>
                <a:spLocks noGrp="1"/>
              </p:cNvSpPr>
              <p:nvPr>
                <p:ph sz="quarter" idx="19"/>
              </p:nvPr>
            </p:nvSpPr>
            <p:spPr>
              <a:xfrm>
                <a:off x="161925" y="1989137"/>
                <a:ext cx="12220575" cy="4318061"/>
              </a:xfrm>
            </p:spPr>
            <p:txBody>
              <a:bodyPr/>
              <a:lstStyle/>
              <a:p>
                <a:r>
                  <a:rPr lang="en-US" dirty="0"/>
                  <a:t>Set from dataset- Panel 1</a:t>
                </a:r>
              </a:p>
              <a:p>
                <a:r>
                  <a:rPr lang="en-US" dirty="0"/>
                  <a:t>Questions: </a:t>
                </a:r>
                <a:r>
                  <a:rPr lang="de-DE" dirty="0" err="1"/>
                  <a:t>Insulation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en-US" dirty="0"/>
                  <a:t>Roof, External walls, Top floor, and Basement</a:t>
                </a:r>
                <a:endParaRPr lang="de-DE" dirty="0"/>
              </a:p>
              <a:p>
                <a:pPr lvl="1"/>
                <a:r>
                  <a:rPr lang="en-US" dirty="0"/>
                  <a:t>Not at all 					- &gt; SET TO </a:t>
                </a:r>
                <a:r>
                  <a:rPr lang="en-US" b="1" dirty="0"/>
                  <a:t>0%</a:t>
                </a:r>
              </a:p>
              <a:p>
                <a:pPr lvl="1"/>
                <a:r>
                  <a:rPr lang="en-US" dirty="0"/>
                  <a:t>Somewhat (about 1/4 of the area)		- &gt; SET TO </a:t>
                </a:r>
                <a:r>
                  <a:rPr lang="en-US" b="1" dirty="0"/>
                  <a:t>25%</a:t>
                </a:r>
              </a:p>
              <a:p>
                <a:pPr lvl="1"/>
                <a:r>
                  <a:rPr lang="en-US" dirty="0"/>
                  <a:t>About half 					- &gt; SET TO </a:t>
                </a:r>
                <a:r>
                  <a:rPr lang="en-US" b="1" dirty="0"/>
                  <a:t>50%</a:t>
                </a:r>
              </a:p>
              <a:p>
                <a:pPr lvl="1"/>
                <a:r>
                  <a:rPr lang="en-US" dirty="0"/>
                  <a:t>Mostly (about 3/4 of the area)		- &gt; SET TO </a:t>
                </a:r>
                <a:r>
                  <a:rPr lang="en-US" b="1" dirty="0"/>
                  <a:t>75%</a:t>
                </a:r>
              </a:p>
              <a:p>
                <a:pPr lvl="1"/>
                <a:r>
                  <a:rPr lang="en-US" dirty="0"/>
                  <a:t>Completely </a:t>
                </a:r>
                <a:r>
                  <a:rPr lang="en-US" b="1" dirty="0"/>
                  <a:t>	</a:t>
                </a:r>
                <a:r>
                  <a:rPr lang="en-US" dirty="0"/>
                  <a:t>			- &gt; SET TO </a:t>
                </a:r>
                <a:r>
                  <a:rPr lang="en-US" b="1" dirty="0"/>
                  <a:t>100%</a:t>
                </a:r>
              </a:p>
              <a:p>
                <a:pPr marL="457200" lvl="1" indent="0">
                  <a:buNone/>
                </a:pPr>
                <a:endParaRPr lang="en-US" b="1" dirty="0"/>
              </a:p>
              <a:p>
                <a:pPr marL="457200" lvl="1" indent="0">
                  <a:buNone/>
                </a:pPr>
                <a:endParaRPr lang="en-US" b="1" dirty="0"/>
              </a:p>
              <a:p>
                <a:pPr marL="457200" lvl="1" indent="0">
                  <a:buNone/>
                </a:pPr>
                <a:r>
                  <a:rPr lang="en-US" b="1" dirty="0"/>
                  <a:t>				</a:t>
                </a:r>
                <a14:m>
                  <m:oMath xmlns:m="http://schemas.openxmlformats.org/officeDocument/2006/math">
                    <m:r>
                      <a:rPr lang="en-GB" sz="2400" b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  <m:r>
                      <a:rPr lang="en-GB" sz="2400" b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+mn-cs"/>
                      </a:rPr>
                      <m:t>𝐒𝐞𝐭</m:t>
                    </m:r>
                    <m:r>
                      <a:rPr lang="en-GB" sz="2400" b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+mn-cs"/>
                      </a:rPr>
                      <m:t>: % </m:t>
                    </m:r>
                    <m:r>
                      <a:rPr lang="en-GB" sz="2400" b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+mn-cs"/>
                      </a:rPr>
                      <m:t>𝒐𝒇</m:t>
                    </m:r>
                    <m:r>
                      <a:rPr lang="en-GB" sz="2400" b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  <m:r>
                      <a:rPr lang="en-GB" sz="2400" b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+mn-cs"/>
                      </a:rPr>
                      <m:t>𝒊𝒏𝒔𝒖𝒍𝒂𝒕𝒊𝒐𝒏</m:t>
                    </m:r>
                  </m:oMath>
                </a14:m>
                <a:endParaRPr lang="en-US" sz="2400" b="1" dirty="0">
                  <a:solidFill>
                    <a:schemeClr val="tx2"/>
                  </a:solidFill>
                  <a:latin typeface="InfoOTDisp Semibold" panose="02000506040000020004" pitchFamily="2" charset="77"/>
                  <a:cs typeface="+mn-cs"/>
                </a:endParaRPr>
              </a:p>
            </p:txBody>
          </p:sp>
        </mc:Choice>
        <mc:Fallback xmlns="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521D7174-E31D-80FE-D85C-84DE67B9A4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9"/>
              </p:nvPr>
            </p:nvSpPr>
            <p:spPr>
              <a:xfrm>
                <a:off x="161925" y="1989137"/>
                <a:ext cx="12220575" cy="4318061"/>
              </a:xfrm>
              <a:blipFill>
                <a:blip r:embed="rId2"/>
                <a:stretch>
                  <a:fillRect l="-749" t="-19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5C7391D-51B8-A017-78F9-81651152CF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> </a:t>
            </a:r>
            <a:r>
              <a:rPr lang="de-DE" sz="1400"/>
              <a:t>Seite </a:t>
            </a:r>
            <a:fld id="{1009E830-1A31-2046-A084-D1E9F200294C}" type="slidenum">
              <a:rPr lang="de-DE" sz="1400" smtClean="0"/>
              <a:pPr/>
              <a:t>22</a:t>
            </a:fld>
            <a:endParaRPr lang="de-DE" sz="140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AE47B88-0D03-DA75-D5F0-3983FA63C30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EE3BB37-241D-F742-AF57-57B0232CDDCA}" type="datetime1">
              <a:rPr lang="de-DE" sz="1400" smtClean="0"/>
              <a:t>24.06.2024</a:t>
            </a:fld>
            <a:endParaRPr lang="de-DE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F60A87F-7339-4C5B-3B13-30402DE308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>
                <a:latin typeface="Calibri" panose="020F0502020204030204" pitchFamily="34" charset="0"/>
                <a:cs typeface="Calibri" panose="020F0502020204030204" pitchFamily="34" charset="0"/>
              </a:rPr>
              <a:t>Bitte Fußzeile definieren</a:t>
            </a:r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8BABCAB-584D-BF2D-6CD9-08FAB6AE32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A) Set Insulation levels for Roof, External walls, Top floor, and Basement</a:t>
            </a:r>
          </a:p>
          <a:p>
            <a:endParaRPr lang="de-DE" dirty="0"/>
          </a:p>
        </p:txBody>
      </p:sp>
      <p:sp>
        <p:nvSpPr>
          <p:cNvPr id="8" name="Titel 5">
            <a:extLst>
              <a:ext uri="{FF2B5EF4-FFF2-40B4-BE49-F238E27FC236}">
                <a16:creationId xmlns:a16="http://schemas.microsoft.com/office/drawing/2014/main" id="{F4C5501A-A242-921A-2DF4-30C603F9E7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0400" y="549275"/>
            <a:ext cx="8854614" cy="358775"/>
          </a:xfrm>
        </p:spPr>
        <p:txBody>
          <a:bodyPr/>
          <a:lstStyle/>
          <a:p>
            <a:r>
              <a:rPr lang="en-US" dirty="0"/>
              <a:t>4. 2. </a:t>
            </a:r>
            <a:r>
              <a:rPr lang="en-US" cap="none" dirty="0"/>
              <a:t>Selection of U values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055986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521D7174-E31D-80FE-D85C-84DE67B9A426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774446" y="1907857"/>
            <a:ext cx="10208513" cy="4318061"/>
          </a:xfrm>
        </p:spPr>
        <p:txBody>
          <a:bodyPr/>
          <a:lstStyle/>
          <a:p>
            <a:r>
              <a:rPr lang="en-GB" dirty="0" err="1">
                <a:solidFill>
                  <a:schemeClr val="tx2"/>
                </a:solidFill>
                <a:latin typeface="InfoOTDisp Semibold" panose="02000506040000020004" pitchFamily="2" charset="77"/>
                <a:cs typeface="+mn-cs"/>
              </a:rPr>
              <a:t>U_o</a:t>
            </a:r>
            <a:r>
              <a:rPr lang="en-GB" dirty="0">
                <a:solidFill>
                  <a:schemeClr val="tx2"/>
                </a:solidFill>
                <a:latin typeface="InfoOTDisp Semibold" panose="02000506040000020004" pitchFamily="2" charset="77"/>
                <a:cs typeface="+mn-cs"/>
              </a:rPr>
              <a:t> </a:t>
            </a:r>
            <a:r>
              <a:rPr lang="en-GB" b="0" dirty="0"/>
              <a:t>– Original U values from IWU folder based on year of construction for:</a:t>
            </a:r>
          </a:p>
          <a:p>
            <a:pPr lvl="1"/>
            <a:r>
              <a:rPr lang="en-GB" dirty="0"/>
              <a:t>Roof</a:t>
            </a:r>
          </a:p>
          <a:p>
            <a:pPr lvl="1"/>
            <a:r>
              <a:rPr lang="en-GB" b="0" dirty="0"/>
              <a:t>External Walls</a:t>
            </a:r>
          </a:p>
          <a:p>
            <a:pPr lvl="1"/>
            <a:r>
              <a:rPr lang="en-GB" dirty="0"/>
              <a:t>Top floor</a:t>
            </a:r>
          </a:p>
          <a:p>
            <a:pPr lvl="1"/>
            <a:r>
              <a:rPr lang="en-GB" b="0" dirty="0"/>
              <a:t>Basement  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5C7391D-51B8-A017-78F9-81651152CF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81349" y="6397467"/>
            <a:ext cx="1649666" cy="828258"/>
          </a:xfrm>
        </p:spPr>
        <p:txBody>
          <a:bodyPr/>
          <a:lstStyle/>
          <a:p>
            <a:r>
              <a:rPr lang="de-DE"/>
              <a:t> </a:t>
            </a:r>
            <a:r>
              <a:rPr lang="de-DE" sz="1400"/>
              <a:t>Seite </a:t>
            </a:r>
            <a:fld id="{1009E830-1A31-2046-A084-D1E9F200294C}" type="slidenum">
              <a:rPr lang="de-DE" sz="1400" smtClean="0"/>
              <a:pPr/>
              <a:t>23</a:t>
            </a:fld>
            <a:endParaRPr lang="de-DE" sz="140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AE47B88-0D03-DA75-D5F0-3983FA63C30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EE3BB37-241D-F742-AF57-57B0232CDDCA}" type="datetime1">
              <a:rPr lang="de-DE" sz="1400" smtClean="0"/>
              <a:t>24.06.2024</a:t>
            </a:fld>
            <a:endParaRPr lang="de-DE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F60A87F-7339-4C5B-3B13-30402DE308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>
                <a:latin typeface="Calibri" panose="020F0502020204030204" pitchFamily="34" charset="0"/>
                <a:cs typeface="Calibri" panose="020F0502020204030204" pitchFamily="34" charset="0"/>
              </a:rPr>
              <a:t>Bitte Fußzeile definieren</a:t>
            </a:r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8BABCAB-584D-BF2D-6CD9-08FAB6AE32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B) </a:t>
            </a:r>
            <a:r>
              <a:rPr lang="en-GB" dirty="0"/>
              <a:t>Import ORIGINAL U-VALUES  from Parameters (based on year of construction)</a:t>
            </a:r>
          </a:p>
          <a:p>
            <a:endParaRPr lang="de-DE" dirty="0"/>
          </a:p>
        </p:txBody>
      </p:sp>
      <p:sp>
        <p:nvSpPr>
          <p:cNvPr id="8" name="Titel 5">
            <a:extLst>
              <a:ext uri="{FF2B5EF4-FFF2-40B4-BE49-F238E27FC236}">
                <a16:creationId xmlns:a16="http://schemas.microsoft.com/office/drawing/2014/main" id="{F4C5501A-A242-921A-2DF4-30C603F9E7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0400" y="549275"/>
            <a:ext cx="8854614" cy="358775"/>
          </a:xfrm>
        </p:spPr>
        <p:txBody>
          <a:bodyPr/>
          <a:lstStyle/>
          <a:p>
            <a:r>
              <a:rPr lang="en-US" dirty="0"/>
              <a:t>4. 2. </a:t>
            </a:r>
            <a:r>
              <a:rPr lang="en-US" cap="none" dirty="0"/>
              <a:t>Selection of U values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068842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521D7174-E31D-80FE-D85C-84DE67B9A426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238125" y="1920239"/>
            <a:ext cx="11953875" cy="4318061"/>
          </a:xfrm>
        </p:spPr>
        <p:txBody>
          <a:bodyPr/>
          <a:lstStyle/>
          <a:p>
            <a:pPr algn="ctr"/>
            <a:r>
              <a:rPr lang="en-US" b="0" dirty="0"/>
              <a:t>Fixed value is set for the insulation thickness of Roof, External walls, Top floor, and Basemen:          </a:t>
            </a:r>
          </a:p>
          <a:p>
            <a:pPr marL="0" indent="0" algn="ctr">
              <a:buNone/>
            </a:pPr>
            <a:r>
              <a:rPr lang="en-US" sz="3600" dirty="0">
                <a:solidFill>
                  <a:srgbClr val="FF0000"/>
                </a:solidFill>
              </a:rPr>
              <a:t>20cm</a:t>
            </a:r>
            <a:endParaRPr lang="en-US" sz="3600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5C7391D-51B8-A017-78F9-81651152CF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> </a:t>
            </a:r>
            <a:r>
              <a:rPr lang="de-DE" sz="1400"/>
              <a:t>Seite </a:t>
            </a:r>
            <a:fld id="{1009E830-1A31-2046-A084-D1E9F200294C}" type="slidenum">
              <a:rPr lang="de-DE" sz="1400" smtClean="0"/>
              <a:pPr/>
              <a:t>24</a:t>
            </a:fld>
            <a:endParaRPr lang="de-DE" sz="140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AE47B88-0D03-DA75-D5F0-3983FA63C30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EE3BB37-241D-F742-AF57-57B0232CDDCA}" type="datetime1">
              <a:rPr lang="de-DE" sz="1400" smtClean="0"/>
              <a:t>24.06.2024</a:t>
            </a:fld>
            <a:endParaRPr lang="de-DE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F60A87F-7339-4C5B-3B13-30402DE308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>
                <a:latin typeface="Calibri" panose="020F0502020204030204" pitchFamily="34" charset="0"/>
                <a:cs typeface="Calibri" panose="020F0502020204030204" pitchFamily="34" charset="0"/>
              </a:rPr>
              <a:t>Bitte Fußzeile definieren</a:t>
            </a:r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8BABCAB-584D-BF2D-6CD9-08FAB6AE32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C) Assumption on subsequent insulation</a:t>
            </a:r>
          </a:p>
          <a:p>
            <a:endParaRPr lang="de-DE" dirty="0"/>
          </a:p>
        </p:txBody>
      </p:sp>
      <p:sp>
        <p:nvSpPr>
          <p:cNvPr id="8" name="Titel 5">
            <a:extLst>
              <a:ext uri="{FF2B5EF4-FFF2-40B4-BE49-F238E27FC236}">
                <a16:creationId xmlns:a16="http://schemas.microsoft.com/office/drawing/2014/main" id="{F4C5501A-A242-921A-2DF4-30C603F9E7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0400" y="549275"/>
            <a:ext cx="8854614" cy="358775"/>
          </a:xfrm>
        </p:spPr>
        <p:txBody>
          <a:bodyPr/>
          <a:lstStyle/>
          <a:p>
            <a:r>
              <a:rPr lang="en-US" dirty="0"/>
              <a:t>4. 2. </a:t>
            </a:r>
            <a:r>
              <a:rPr lang="en-US" cap="none" dirty="0"/>
              <a:t>Selection of U values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ED58EC9-8E79-0577-E37A-44022B2330D0}"/>
                  </a:ext>
                </a:extLst>
              </p:cNvPr>
              <p:cNvSpPr txBox="1"/>
              <p:nvPr/>
            </p:nvSpPr>
            <p:spPr>
              <a:xfrm>
                <a:off x="3620751" y="3663316"/>
                <a:ext cx="4102020" cy="212545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 anchorCtr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  <m:sub>
                          <m:r>
                            <a:rPr lang="en-GB" sz="32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sub>
                      </m:sSub>
                      <m:r>
                        <a:rPr lang="en-GB" sz="32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f>
                            <m:fPr>
                              <m:ctrlPr>
                                <a:rPr lang="en-GB" sz="32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32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GB" sz="3200" b="1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b="1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𝑼</m:t>
                                  </m:r>
                                </m:e>
                                <m:sub>
                                  <m:r>
                                    <a:rPr lang="en-GB" sz="3200" b="1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𝑶</m:t>
                                  </m:r>
                                </m:sub>
                              </m:sSub>
                            </m:den>
                          </m:f>
                          <m:r>
                            <a:rPr lang="en-GB" sz="32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GB" sz="32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32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GB" sz="32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sz="32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32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num>
                            <m:den>
                              <m:r>
                                <a:rPr lang="en-GB" sz="32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GB" sz="32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sz="32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𝟎𝟒</m:t>
                              </m:r>
                              <m:r>
                                <a:rPr lang="en-GB" sz="32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f>
                                <m:fPr>
                                  <m:ctrlPr>
                                    <a:rPr lang="en-GB" sz="3200" b="1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3200" b="1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𝑾</m:t>
                                  </m:r>
                                </m:num>
                                <m:den>
                                  <m:r>
                                    <a:rPr lang="en-GB" sz="3200" b="1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  <m:r>
                                    <a:rPr lang="en-GB" sz="32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𝑲</m:t>
                                  </m:r>
                                </m:den>
                              </m:f>
                              <m:r>
                                <a:rPr lang="en-GB" sz="32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en-GB" sz="2400" b="1" i="0" dirty="0">
                  <a:solidFill>
                    <a:schemeClr val="tx2"/>
                  </a:solidFill>
                  <a:latin typeface="InfoOTDisp Semibold" panose="02000506040000020004" pitchFamily="2" charset="77"/>
                </a:endParaRPr>
              </a:p>
              <a:p>
                <a:pPr marL="0" marR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n-GB" sz="2400" b="1" i="0" dirty="0" err="1">
                  <a:solidFill>
                    <a:schemeClr val="tx2"/>
                  </a:solidFill>
                  <a:latin typeface="InfoOTDisp Semibold" panose="02000506040000020004" pitchFamily="2" charset="77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ED58EC9-8E79-0577-E37A-44022B2330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0751" y="3663316"/>
                <a:ext cx="4102020" cy="21254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37247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521D7174-E31D-80FE-D85C-84DE67B9A426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774446" y="1907857"/>
            <a:ext cx="10208513" cy="4318061"/>
          </a:xfrm>
        </p:spPr>
        <p:txBody>
          <a:bodyPr/>
          <a:lstStyle/>
          <a:p>
            <a:r>
              <a:rPr lang="en-US" dirty="0"/>
              <a:t>Source: </a:t>
            </a:r>
            <a:r>
              <a:rPr lang="en-US" b="0" dirty="0"/>
              <a:t>Guideline for federal funding for efficient buildings – individual measures (</a:t>
            </a:r>
            <a:r>
              <a:rPr lang="en-US" dirty="0"/>
              <a:t>BEG EM</a:t>
            </a:r>
            <a:r>
              <a:rPr lang="en-US" b="0" dirty="0"/>
              <a:t>), From 20 May 2021</a:t>
            </a:r>
          </a:p>
          <a:p>
            <a:r>
              <a:rPr lang="en-US" b="0" dirty="0"/>
              <a:t>The following requirements for the thermal transmittance coefficients (U-values) must be met for the respective component in order to receive </a:t>
            </a:r>
            <a:r>
              <a:rPr lang="en-US" dirty="0"/>
              <a:t>funding as an individual measure</a:t>
            </a:r>
            <a:r>
              <a:rPr lang="en-US" b="0" dirty="0"/>
              <a:t>.</a:t>
            </a:r>
          </a:p>
          <a:p>
            <a:r>
              <a:rPr lang="en-US" b="0" dirty="0"/>
              <a:t>Min. technical requirements:</a:t>
            </a:r>
          </a:p>
          <a:p>
            <a:endParaRPr lang="en-US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5C7391D-51B8-A017-78F9-81651152CF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81349" y="6397467"/>
            <a:ext cx="1649666" cy="828258"/>
          </a:xfrm>
        </p:spPr>
        <p:txBody>
          <a:bodyPr/>
          <a:lstStyle/>
          <a:p>
            <a:r>
              <a:rPr lang="de-DE"/>
              <a:t> </a:t>
            </a:r>
            <a:r>
              <a:rPr lang="de-DE" sz="1400"/>
              <a:t>Seite </a:t>
            </a:r>
            <a:fld id="{1009E830-1A31-2046-A084-D1E9F200294C}" type="slidenum">
              <a:rPr lang="de-DE" sz="1400" smtClean="0"/>
              <a:pPr/>
              <a:t>25</a:t>
            </a:fld>
            <a:endParaRPr lang="de-DE" sz="140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AE47B88-0D03-DA75-D5F0-3983FA63C30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EE3BB37-241D-F742-AF57-57B0232CDDCA}" type="datetime1">
              <a:rPr lang="de-DE" sz="1400" smtClean="0"/>
              <a:t>24.06.2024</a:t>
            </a:fld>
            <a:endParaRPr lang="de-DE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F60A87F-7339-4C5B-3B13-30402DE308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>
                <a:latin typeface="Calibri" panose="020F0502020204030204" pitchFamily="34" charset="0"/>
                <a:cs typeface="Calibri" panose="020F0502020204030204" pitchFamily="34" charset="0"/>
              </a:rPr>
              <a:t>Bitte Fußzeile definieren</a:t>
            </a:r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8BABCAB-584D-BF2D-6CD9-08FAB6AE32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D) Guidelines for federal funding for efficient buildings set min technical requirement</a:t>
            </a:r>
          </a:p>
          <a:p>
            <a:endParaRPr lang="de-DE" dirty="0"/>
          </a:p>
        </p:txBody>
      </p:sp>
      <p:sp>
        <p:nvSpPr>
          <p:cNvPr id="8" name="Titel 5">
            <a:extLst>
              <a:ext uri="{FF2B5EF4-FFF2-40B4-BE49-F238E27FC236}">
                <a16:creationId xmlns:a16="http://schemas.microsoft.com/office/drawing/2014/main" id="{F4C5501A-A242-921A-2DF4-30C603F9E7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0400" y="549275"/>
            <a:ext cx="8854614" cy="358775"/>
          </a:xfrm>
        </p:spPr>
        <p:txBody>
          <a:bodyPr/>
          <a:lstStyle/>
          <a:p>
            <a:r>
              <a:rPr lang="en-US" dirty="0"/>
              <a:t>4. 2. </a:t>
            </a:r>
            <a:r>
              <a:rPr lang="en-US" cap="none" dirty="0"/>
              <a:t>Selection of U values</a:t>
            </a:r>
            <a:endParaRPr lang="de-DE" dirty="0"/>
          </a:p>
        </p:txBody>
      </p:sp>
      <p:graphicFrame>
        <p:nvGraphicFramePr>
          <p:cNvPr id="6" name="Tabelle 8">
            <a:extLst>
              <a:ext uri="{FF2B5EF4-FFF2-40B4-BE49-F238E27FC236}">
                <a16:creationId xmlns:a16="http://schemas.microsoft.com/office/drawing/2014/main" id="{60D810E2-465B-6B86-BE12-285A44BAAC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248008"/>
              </p:ext>
            </p:extLst>
          </p:nvPr>
        </p:nvGraphicFramePr>
        <p:xfrm>
          <a:off x="5492750" y="3792461"/>
          <a:ext cx="3206750" cy="256815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03375">
                  <a:extLst>
                    <a:ext uri="{9D8B030D-6E8A-4147-A177-3AD203B41FA5}">
                      <a16:colId xmlns:a16="http://schemas.microsoft.com/office/drawing/2014/main" val="2349554894"/>
                    </a:ext>
                  </a:extLst>
                </a:gridCol>
                <a:gridCol w="1603375">
                  <a:extLst>
                    <a:ext uri="{9D8B030D-6E8A-4147-A177-3AD203B41FA5}">
                      <a16:colId xmlns:a16="http://schemas.microsoft.com/office/drawing/2014/main" val="4025690917"/>
                    </a:ext>
                  </a:extLst>
                </a:gridCol>
              </a:tblGrid>
              <a:tr h="413438">
                <a:tc>
                  <a:txBody>
                    <a:bodyPr/>
                    <a:lstStyle/>
                    <a:p>
                      <a:r>
                        <a:rPr lang="en-US" dirty="0"/>
                        <a:t>Components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Residential </a:t>
                      </a:r>
                      <a:r>
                        <a:rPr lang="de-DE" dirty="0" err="1"/>
                        <a:t>buildings</a:t>
                      </a:r>
                      <a:r>
                        <a:rPr lang="de-DE" dirty="0"/>
                        <a:t> [</a:t>
                      </a:r>
                      <a:r>
                        <a:rPr lang="en-US" dirty="0"/>
                        <a:t>W/(m²·K)</a:t>
                      </a:r>
                      <a:r>
                        <a:rPr lang="de-DE" dirty="0"/>
                        <a:t>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4812832"/>
                  </a:ext>
                </a:extLst>
              </a:tr>
              <a:tr h="413438">
                <a:tc>
                  <a:txBody>
                    <a:bodyPr/>
                    <a:lstStyle/>
                    <a:p>
                      <a:r>
                        <a:rPr lang="en-US" dirty="0"/>
                        <a:t>Exterior wall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0.20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4661275"/>
                  </a:ext>
                </a:extLst>
              </a:tr>
              <a:tr h="413438">
                <a:tc>
                  <a:txBody>
                    <a:bodyPr/>
                    <a:lstStyle/>
                    <a:p>
                      <a:r>
                        <a:rPr lang="en-US" dirty="0"/>
                        <a:t>Roof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8113535"/>
                  </a:ext>
                </a:extLst>
              </a:tr>
              <a:tr h="413438">
                <a:tc>
                  <a:txBody>
                    <a:bodyPr/>
                    <a:lstStyle/>
                    <a:p>
                      <a:r>
                        <a:rPr lang="en-US" dirty="0"/>
                        <a:t>Top floor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7889760"/>
                  </a:ext>
                </a:extLst>
              </a:tr>
              <a:tr h="413438">
                <a:tc>
                  <a:txBody>
                    <a:bodyPr/>
                    <a:lstStyle/>
                    <a:p>
                      <a:r>
                        <a:rPr lang="en-US" dirty="0"/>
                        <a:t>Basement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0.25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719936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352971F-CDB3-9153-7D99-EEDD413B5FFB}"/>
                  </a:ext>
                </a:extLst>
              </p:cNvPr>
              <p:cNvSpPr txBox="1"/>
              <p:nvPr/>
            </p:nvSpPr>
            <p:spPr>
              <a:xfrm>
                <a:off x="829773" y="4689315"/>
                <a:ext cx="3482454" cy="111472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 anchorCtr="0">
                <a:spAutoFit/>
              </a:bodyPr>
              <a:lstStyle/>
              <a:p>
                <a:pPr marL="0" marR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GB" sz="2400" b="1" dirty="0">
                    <a:solidFill>
                      <a:schemeClr val="tx2"/>
                    </a:solidFill>
                    <a:latin typeface="InfoOTDisp Semibold" panose="02000506040000020004" pitchFamily="2" charset="77"/>
                  </a:rPr>
                  <a:t>Set: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1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GB" sz="2400" b="1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1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𝑼</m:t>
                            </m:r>
                          </m:e>
                          <m:sub>
                            <m:r>
                              <a:rPr lang="en-GB" sz="2400" b="1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𝑩𝑬𝑮</m:t>
                            </m:r>
                          </m:sub>
                        </m:sSub>
                      </m:e>
                      <m:sub>
                        <m:r>
                          <a:rPr lang="en-GB" sz="2400" b="1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  <m:r>
                          <a:rPr lang="en-GB" sz="2400" b="1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sub>
                    </m:sSub>
                    <m:r>
                      <a:rPr lang="en-GB" sz="2400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400" b="1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400" b="1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GB" sz="2400" b="1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GB" sz="2400" b="1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400" b="1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GB" sz="2400" b="1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1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𝑼</m:t>
                                </m:r>
                              </m:e>
                              <m:sub>
                                <m:r>
                                  <a:rPr lang="en-GB" sz="2400" b="1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𝑶</m:t>
                                </m:r>
                              </m:sub>
                            </m:sSub>
                          </m:den>
                        </m:f>
                        <m:r>
                          <a:rPr lang="en-GB" sz="2400" b="1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GB" sz="2400" b="1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400" b="1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GB" sz="2400" b="1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1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𝑼</m:t>
                                </m:r>
                              </m:e>
                              <m:sub>
                                <m:r>
                                  <a:rPr lang="en-GB" sz="2400" b="1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𝑴𝑰𝑵</m:t>
                                </m:r>
                              </m:sub>
                            </m:sSub>
                          </m:den>
                        </m:f>
                        <m:r>
                          <a:rPr lang="en-GB" sz="2400" b="1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GB" sz="2400" b="1" dirty="0">
                  <a:solidFill>
                    <a:schemeClr val="tx2"/>
                  </a:solidFill>
                  <a:latin typeface="InfoOTDisp Semibold" panose="02000506040000020004" pitchFamily="2" charset="77"/>
                </a:endParaRPr>
              </a:p>
              <a:p>
                <a:pPr marL="0" marR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n-GB" sz="2400" b="1" i="0" dirty="0">
                  <a:solidFill>
                    <a:schemeClr val="tx2"/>
                  </a:solidFill>
                  <a:latin typeface="InfoOTDisp Semibold" panose="02000506040000020004" pitchFamily="2" charset="77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352971F-CDB3-9153-7D99-EEDD413B5F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773" y="4689315"/>
                <a:ext cx="3482454" cy="1114729"/>
              </a:xfrm>
              <a:prstGeom prst="rect">
                <a:avLst/>
              </a:prstGeom>
              <a:blipFill>
                <a:blip r:embed="rId3"/>
                <a:stretch>
                  <a:fillRect l="-5254" t="-54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39229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521D7174-E31D-80FE-D85C-84DE67B9A426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774446" y="1907857"/>
            <a:ext cx="10208513" cy="4318061"/>
          </a:xfrm>
        </p:spPr>
        <p:txBody>
          <a:bodyPr/>
          <a:lstStyle/>
          <a:p>
            <a:r>
              <a:rPr lang="en-US" dirty="0"/>
              <a:t>Source</a:t>
            </a:r>
            <a:r>
              <a:rPr lang="en-US" b="0" dirty="0"/>
              <a:t>: </a:t>
            </a:r>
            <a:r>
              <a:rPr lang="en-GB" b="0" dirty="0"/>
              <a:t>Building Energy Act </a:t>
            </a:r>
            <a:r>
              <a:rPr lang="en-GB" dirty="0"/>
              <a:t>(</a:t>
            </a:r>
            <a:r>
              <a:rPr lang="en-GB" b="1" dirty="0"/>
              <a:t>GEG), </a:t>
            </a:r>
            <a:r>
              <a:rPr lang="en-US" b="0" dirty="0"/>
              <a:t>From 8 August 2020</a:t>
            </a:r>
          </a:p>
          <a:p>
            <a:r>
              <a:rPr lang="en-GB" b="0" dirty="0"/>
              <a:t>Technical construction of the </a:t>
            </a:r>
            <a:r>
              <a:rPr lang="en-GB" dirty="0"/>
              <a:t>reference building </a:t>
            </a:r>
            <a:r>
              <a:rPr lang="en-GB" b="0" dirty="0"/>
              <a:t>(residential building):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5C7391D-51B8-A017-78F9-81651152CF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81349" y="6397467"/>
            <a:ext cx="1649666" cy="828258"/>
          </a:xfrm>
        </p:spPr>
        <p:txBody>
          <a:bodyPr/>
          <a:lstStyle/>
          <a:p>
            <a:r>
              <a:rPr lang="de-DE"/>
              <a:t> </a:t>
            </a:r>
            <a:r>
              <a:rPr lang="de-DE" sz="1400"/>
              <a:t>Seite </a:t>
            </a:r>
            <a:fld id="{1009E830-1A31-2046-A084-D1E9F200294C}" type="slidenum">
              <a:rPr lang="de-DE" sz="1400" smtClean="0"/>
              <a:pPr/>
              <a:t>26</a:t>
            </a:fld>
            <a:endParaRPr lang="de-DE" sz="140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AE47B88-0D03-DA75-D5F0-3983FA63C30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EE3BB37-241D-F742-AF57-57B0232CDDCA}" type="datetime1">
              <a:rPr lang="de-DE" sz="1400" smtClean="0"/>
              <a:t>24.06.2024</a:t>
            </a:fld>
            <a:endParaRPr lang="de-DE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F60A87F-7339-4C5B-3B13-30402DE308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>
                <a:latin typeface="Calibri" panose="020F0502020204030204" pitchFamily="34" charset="0"/>
                <a:cs typeface="Calibri" panose="020F0502020204030204" pitchFamily="34" charset="0"/>
              </a:rPr>
              <a:t>Bitte Fußzeile definieren</a:t>
            </a:r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8BABCAB-584D-BF2D-6CD9-08FAB6AE32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E) Reference building (residential building) in GEG law</a:t>
            </a:r>
          </a:p>
          <a:p>
            <a:endParaRPr lang="de-DE" dirty="0"/>
          </a:p>
        </p:txBody>
      </p:sp>
      <p:sp>
        <p:nvSpPr>
          <p:cNvPr id="8" name="Titel 5">
            <a:extLst>
              <a:ext uri="{FF2B5EF4-FFF2-40B4-BE49-F238E27FC236}">
                <a16:creationId xmlns:a16="http://schemas.microsoft.com/office/drawing/2014/main" id="{F4C5501A-A242-921A-2DF4-30C603F9E7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0400" y="549275"/>
            <a:ext cx="8854614" cy="358775"/>
          </a:xfrm>
        </p:spPr>
        <p:txBody>
          <a:bodyPr/>
          <a:lstStyle/>
          <a:p>
            <a:r>
              <a:rPr lang="en-US" dirty="0"/>
              <a:t>4. 2. </a:t>
            </a:r>
            <a:r>
              <a:rPr lang="en-US" cap="none" dirty="0"/>
              <a:t>Selection of U values</a:t>
            </a:r>
            <a:endParaRPr lang="de-DE" dirty="0"/>
          </a:p>
        </p:txBody>
      </p:sp>
      <p:graphicFrame>
        <p:nvGraphicFramePr>
          <p:cNvPr id="6" name="Tabelle 8">
            <a:extLst>
              <a:ext uri="{FF2B5EF4-FFF2-40B4-BE49-F238E27FC236}">
                <a16:creationId xmlns:a16="http://schemas.microsoft.com/office/drawing/2014/main" id="{60D810E2-465B-6B86-BE12-285A44BAAC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8953112"/>
              </p:ext>
            </p:extLst>
          </p:nvPr>
        </p:nvGraphicFramePr>
        <p:xfrm>
          <a:off x="3889375" y="3407997"/>
          <a:ext cx="3206750" cy="256815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03375">
                  <a:extLst>
                    <a:ext uri="{9D8B030D-6E8A-4147-A177-3AD203B41FA5}">
                      <a16:colId xmlns:a16="http://schemas.microsoft.com/office/drawing/2014/main" val="2349554894"/>
                    </a:ext>
                  </a:extLst>
                </a:gridCol>
                <a:gridCol w="1603375">
                  <a:extLst>
                    <a:ext uri="{9D8B030D-6E8A-4147-A177-3AD203B41FA5}">
                      <a16:colId xmlns:a16="http://schemas.microsoft.com/office/drawing/2014/main" val="4025690917"/>
                    </a:ext>
                  </a:extLst>
                </a:gridCol>
              </a:tblGrid>
              <a:tr h="413438">
                <a:tc>
                  <a:txBody>
                    <a:bodyPr/>
                    <a:lstStyle/>
                    <a:p>
                      <a:r>
                        <a:rPr lang="en-US" dirty="0"/>
                        <a:t>Components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Heat transfer coefficient</a:t>
                      </a:r>
                      <a:r>
                        <a:rPr lang="de-DE" dirty="0"/>
                        <a:t> [</a:t>
                      </a:r>
                      <a:r>
                        <a:rPr lang="en-US" dirty="0"/>
                        <a:t>W/(m²·K)</a:t>
                      </a:r>
                      <a:r>
                        <a:rPr lang="de-DE" dirty="0"/>
                        <a:t>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4812832"/>
                  </a:ext>
                </a:extLst>
              </a:tr>
              <a:tr h="413438">
                <a:tc>
                  <a:txBody>
                    <a:bodyPr/>
                    <a:lstStyle/>
                    <a:p>
                      <a:r>
                        <a:rPr lang="en-US" dirty="0"/>
                        <a:t>Exterior wall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0.28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4661275"/>
                  </a:ext>
                </a:extLst>
              </a:tr>
              <a:tr h="413438">
                <a:tc>
                  <a:txBody>
                    <a:bodyPr/>
                    <a:lstStyle/>
                    <a:p>
                      <a:r>
                        <a:rPr lang="en-US" dirty="0"/>
                        <a:t>Roof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8113535"/>
                  </a:ext>
                </a:extLst>
              </a:tr>
              <a:tr h="413438">
                <a:tc>
                  <a:txBody>
                    <a:bodyPr/>
                    <a:lstStyle/>
                    <a:p>
                      <a:r>
                        <a:rPr lang="en-US" dirty="0"/>
                        <a:t>Top floor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7889760"/>
                  </a:ext>
                </a:extLst>
              </a:tr>
              <a:tr h="413438">
                <a:tc>
                  <a:txBody>
                    <a:bodyPr/>
                    <a:lstStyle/>
                    <a:p>
                      <a:r>
                        <a:rPr lang="en-US" dirty="0"/>
                        <a:t>Basement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0.35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719936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A757B38-381C-AE02-BB22-601C718D75E1}"/>
                  </a:ext>
                </a:extLst>
              </p:cNvPr>
              <p:cNvSpPr txBox="1"/>
              <p:nvPr/>
            </p:nvSpPr>
            <p:spPr>
              <a:xfrm>
                <a:off x="1142152" y="4304851"/>
                <a:ext cx="2379518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 anchorCtr="0">
                <a:spAutoFit/>
              </a:bodyPr>
              <a:lstStyle/>
              <a:p>
                <a:pPr marL="0" marR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GB" sz="2400" b="1" dirty="0">
                    <a:solidFill>
                      <a:schemeClr val="tx2"/>
                    </a:solidFill>
                    <a:latin typeface="InfoOTDisp Semibold" panose="02000506040000020004" pitchFamily="2" charset="77"/>
                  </a:rPr>
                  <a:t>Set: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1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1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  <m:sub>
                        <m:r>
                          <a:rPr lang="en-GB" sz="2400" b="1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𝑮𝑬𝑮</m:t>
                        </m:r>
                      </m:sub>
                    </m:sSub>
                  </m:oMath>
                </a14:m>
                <a:endParaRPr lang="en-GB" sz="2400" b="1" dirty="0">
                  <a:solidFill>
                    <a:schemeClr val="tx2"/>
                  </a:solidFill>
                  <a:latin typeface="InfoOTDisp Semibold" panose="02000506040000020004" pitchFamily="2" charset="77"/>
                </a:endParaRPr>
              </a:p>
              <a:p>
                <a:pPr marL="0" marR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n-GB" sz="2400" b="1" i="0" dirty="0">
                  <a:solidFill>
                    <a:schemeClr val="tx2"/>
                  </a:solidFill>
                  <a:latin typeface="InfoOTDisp Semibold" panose="02000506040000020004" pitchFamily="2" charset="77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A757B38-381C-AE02-BB22-601C718D75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2152" y="4304851"/>
                <a:ext cx="2379518" cy="738664"/>
              </a:xfrm>
              <a:prstGeom prst="rect">
                <a:avLst/>
              </a:prstGeom>
              <a:blipFill>
                <a:blip r:embed="rId3"/>
                <a:stretch>
                  <a:fillRect l="-7673" t="-123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69517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521D7174-E31D-80FE-D85C-84DE67B9A426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4236" y="1573869"/>
            <a:ext cx="10713028" cy="5772504"/>
          </a:xfrm>
        </p:spPr>
        <p:txBody>
          <a:bodyPr/>
          <a:lstStyle/>
          <a:p>
            <a:r>
              <a:rPr lang="en-GB" dirty="0"/>
              <a:t>Question</a:t>
            </a:r>
            <a:r>
              <a:rPr lang="en-GB" b="0" dirty="0"/>
              <a:t>: Implementation of modernization measures carried out in the course of a Credit Institute for Reconstruction (</a:t>
            </a:r>
            <a:r>
              <a:rPr lang="en-GB" b="0" dirty="0" err="1"/>
              <a:t>KfW</a:t>
            </a:r>
            <a:r>
              <a:rPr lang="en-GB" b="0" dirty="0"/>
              <a:t>) efficiency house refurbishment: {</a:t>
            </a:r>
            <a:r>
              <a:rPr lang="en-GB" dirty="0" err="1"/>
              <a:t>KfW</a:t>
            </a:r>
            <a:r>
              <a:rPr lang="en-GB" dirty="0"/>
              <a:t>-Efficiency-house 55; 70; 85; 100; 115; single measure</a:t>
            </a:r>
            <a:r>
              <a:rPr lang="en-GB" b="0" dirty="0"/>
              <a:t>}</a:t>
            </a:r>
          </a:p>
          <a:p>
            <a:endParaRPr lang="en-GB" b="0" dirty="0"/>
          </a:p>
          <a:p>
            <a:r>
              <a:rPr lang="en-GB" dirty="0"/>
              <a:t>Single Measure Questions</a:t>
            </a:r>
            <a:r>
              <a:rPr lang="en-GB" b="0" dirty="0"/>
              <a:t>: Newly applied insulation of roof, top floor ceiling, exterior walls, basement with </a:t>
            </a:r>
            <a:r>
              <a:rPr lang="en-GB" dirty="0" err="1"/>
              <a:t>KfW</a:t>
            </a:r>
            <a:r>
              <a:rPr lang="en-GB" dirty="0"/>
              <a:t> funding</a:t>
            </a:r>
            <a:r>
              <a:rPr lang="en-GB" b="0" dirty="0"/>
              <a:t>: {Y,N}</a:t>
            </a:r>
          </a:p>
          <a:p>
            <a:endParaRPr lang="en-GB" b="0" dirty="0"/>
          </a:p>
          <a:p>
            <a:r>
              <a:rPr lang="en-GB" dirty="0" err="1"/>
              <a:t>KfW</a:t>
            </a:r>
            <a:r>
              <a:rPr lang="en-GB" dirty="0"/>
              <a:t> efficiency houses are commonly used and generally accepted standards for the energetic quality of a building</a:t>
            </a:r>
          </a:p>
          <a:p>
            <a:endParaRPr lang="en-GB" b="0" dirty="0"/>
          </a:p>
          <a:p>
            <a:r>
              <a:rPr lang="en-GB" b="0" dirty="0"/>
              <a:t>The specifications for the transmission heat loss in the efficiency house is defined as “x + 15”, where x stands for primary energy requirement of the reference house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5C7391D-51B8-A017-78F9-81651152CF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81349" y="6397467"/>
            <a:ext cx="1649666" cy="828258"/>
          </a:xfrm>
        </p:spPr>
        <p:txBody>
          <a:bodyPr/>
          <a:lstStyle/>
          <a:p>
            <a:r>
              <a:rPr lang="de-DE" dirty="0"/>
              <a:t> </a:t>
            </a:r>
            <a:r>
              <a:rPr lang="de-DE" sz="1400" dirty="0"/>
              <a:t>Seite </a:t>
            </a:r>
            <a:fld id="{1009E830-1A31-2046-A084-D1E9F200294C}" type="slidenum">
              <a:rPr lang="de-DE" sz="1400" smtClean="0"/>
              <a:pPr/>
              <a:t>27</a:t>
            </a:fld>
            <a:endParaRPr lang="de-DE" sz="140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AE47B88-0D03-DA75-D5F0-3983FA63C30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EE3BB37-241D-F742-AF57-57B0232CDDCA}" type="datetime1">
              <a:rPr lang="de-DE" sz="1400" smtClean="0"/>
              <a:t>24.06.2024</a:t>
            </a:fld>
            <a:endParaRPr lang="de-DE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F60A87F-7339-4C5B-3B13-30402DE308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>
                <a:latin typeface="Calibri" panose="020F0502020204030204" pitchFamily="34" charset="0"/>
                <a:cs typeface="Calibri" panose="020F0502020204030204" pitchFamily="34" charset="0"/>
              </a:rPr>
              <a:t>Bitte Fußzeile definieren</a:t>
            </a:r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8BABCAB-584D-BF2D-6CD9-08FAB6AE32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0399" y="1060778"/>
            <a:ext cx="9953019" cy="365125"/>
          </a:xfrm>
        </p:spPr>
        <p:txBody>
          <a:bodyPr/>
          <a:lstStyle/>
          <a:p>
            <a:r>
              <a:rPr lang="en-US" dirty="0"/>
              <a:t>F) </a:t>
            </a:r>
            <a:r>
              <a:rPr lang="en-US" dirty="0" err="1"/>
              <a:t>KfW</a:t>
            </a:r>
            <a:r>
              <a:rPr lang="en-US" dirty="0"/>
              <a:t> funding for insulating Roof, Exterior wall, Upper floor and Basement from dataset </a:t>
            </a:r>
          </a:p>
          <a:p>
            <a:endParaRPr lang="de-DE" dirty="0"/>
          </a:p>
        </p:txBody>
      </p:sp>
      <p:sp>
        <p:nvSpPr>
          <p:cNvPr id="8" name="Titel 5">
            <a:extLst>
              <a:ext uri="{FF2B5EF4-FFF2-40B4-BE49-F238E27FC236}">
                <a16:creationId xmlns:a16="http://schemas.microsoft.com/office/drawing/2014/main" id="{F4C5501A-A242-921A-2DF4-30C603F9E7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0400" y="549275"/>
            <a:ext cx="8854614" cy="358775"/>
          </a:xfrm>
        </p:spPr>
        <p:txBody>
          <a:bodyPr/>
          <a:lstStyle/>
          <a:p>
            <a:r>
              <a:rPr lang="en-US" dirty="0"/>
              <a:t>4. 2. </a:t>
            </a:r>
            <a:r>
              <a:rPr lang="en-US" cap="none" dirty="0"/>
              <a:t>Selection of U values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366053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4DE71A5-F4E0-B625-D0FE-4447A70F216B}"/>
              </a:ext>
            </a:extLst>
          </p:cNvPr>
          <p:cNvGraphicFramePr>
            <a:graphicFrameLocks noGrp="1"/>
          </p:cNvGraphicFramePr>
          <p:nvPr>
            <p:ph sz="quarter" idx="19"/>
            <p:extLst>
              <p:ext uri="{D42A27DB-BD31-4B8C-83A1-F6EECF244321}">
                <p14:modId xmlns:p14="http://schemas.microsoft.com/office/powerpoint/2010/main" val="2983960797"/>
              </p:ext>
            </p:extLst>
          </p:nvPr>
        </p:nvGraphicFramePr>
        <p:xfrm>
          <a:off x="774448" y="1772932"/>
          <a:ext cx="10052880" cy="36926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0960">
                  <a:extLst>
                    <a:ext uri="{9D8B030D-6E8A-4147-A177-3AD203B41FA5}">
                      <a16:colId xmlns:a16="http://schemas.microsoft.com/office/drawing/2014/main" val="2491316108"/>
                    </a:ext>
                  </a:extLst>
                </a:gridCol>
                <a:gridCol w="3350960">
                  <a:extLst>
                    <a:ext uri="{9D8B030D-6E8A-4147-A177-3AD203B41FA5}">
                      <a16:colId xmlns:a16="http://schemas.microsoft.com/office/drawing/2014/main" val="1111506685"/>
                    </a:ext>
                  </a:extLst>
                </a:gridCol>
                <a:gridCol w="3350960">
                  <a:extLst>
                    <a:ext uri="{9D8B030D-6E8A-4147-A177-3AD203B41FA5}">
                      <a16:colId xmlns:a16="http://schemas.microsoft.com/office/drawing/2014/main" val="3501896308"/>
                    </a:ext>
                  </a:extLst>
                </a:gridCol>
              </a:tblGrid>
              <a:tr h="660877">
                <a:tc>
                  <a:txBody>
                    <a:bodyPr/>
                    <a:lstStyle/>
                    <a:p>
                      <a:r>
                        <a:rPr lang="en-GB"/>
                        <a:t>KfW Efficiency House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Primary Energy Requirement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Transmission Heat Loss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0949640"/>
                  </a:ext>
                </a:extLst>
              </a:tr>
              <a:tr h="606362">
                <a:tc>
                  <a:txBody>
                    <a:bodyPr/>
                    <a:lstStyle/>
                    <a:p>
                      <a:r>
                        <a:rPr lang="en-GB"/>
                        <a:t>KfW-55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55%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70%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039029"/>
                  </a:ext>
                </a:extLst>
              </a:tr>
              <a:tr h="606362">
                <a:tc>
                  <a:txBody>
                    <a:bodyPr/>
                    <a:lstStyle/>
                    <a:p>
                      <a:r>
                        <a:rPr lang="en-GB" dirty="0"/>
                        <a:t>KfW-70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85%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6756374"/>
                  </a:ext>
                </a:extLst>
              </a:tr>
              <a:tr h="606362">
                <a:tc>
                  <a:txBody>
                    <a:bodyPr/>
                    <a:lstStyle/>
                    <a:p>
                      <a:r>
                        <a:rPr lang="en-GB" dirty="0"/>
                        <a:t>KfW-85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85%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1320394"/>
                  </a:ext>
                </a:extLst>
              </a:tr>
              <a:tr h="606362">
                <a:tc>
                  <a:txBody>
                    <a:bodyPr/>
                    <a:lstStyle/>
                    <a:p>
                      <a:r>
                        <a:rPr lang="en-GB" dirty="0"/>
                        <a:t>KfW-100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115%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7994261"/>
                  </a:ext>
                </a:extLst>
              </a:tr>
              <a:tr h="606362">
                <a:tc>
                  <a:txBody>
                    <a:bodyPr/>
                    <a:lstStyle/>
                    <a:p>
                      <a:r>
                        <a:rPr lang="en-GB" dirty="0"/>
                        <a:t>KfW-115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115%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6005111"/>
                  </a:ext>
                </a:extLst>
              </a:tr>
            </a:tbl>
          </a:graphicData>
        </a:graphic>
      </p:graphicFrame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5C7391D-51B8-A017-78F9-81651152CF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81349" y="6397467"/>
            <a:ext cx="1649666" cy="828258"/>
          </a:xfrm>
        </p:spPr>
        <p:txBody>
          <a:bodyPr/>
          <a:lstStyle/>
          <a:p>
            <a:r>
              <a:rPr lang="de-DE" dirty="0"/>
              <a:t> </a:t>
            </a:r>
            <a:r>
              <a:rPr lang="de-DE" sz="1400" dirty="0"/>
              <a:t>Seite </a:t>
            </a:r>
            <a:fld id="{1009E830-1A31-2046-A084-D1E9F200294C}" type="slidenum">
              <a:rPr lang="de-DE" sz="1400" smtClean="0"/>
              <a:pPr/>
              <a:t>28</a:t>
            </a:fld>
            <a:endParaRPr lang="de-DE" sz="140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AE47B88-0D03-DA75-D5F0-3983FA63C30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EE3BB37-241D-F742-AF57-57B0232CDDCA}" type="datetime1">
              <a:rPr lang="de-DE" sz="1400" smtClean="0"/>
              <a:t>24.06.2024</a:t>
            </a:fld>
            <a:endParaRPr lang="de-DE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F60A87F-7339-4C5B-3B13-30402DE308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>
                <a:latin typeface="Calibri" panose="020F0502020204030204" pitchFamily="34" charset="0"/>
                <a:cs typeface="Calibri" panose="020F0502020204030204" pitchFamily="34" charset="0"/>
              </a:rPr>
              <a:t>Bitte Fußzeile definieren</a:t>
            </a:r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8BABCAB-584D-BF2D-6CD9-08FAB6AE32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0399" y="1060778"/>
            <a:ext cx="9506210" cy="365125"/>
          </a:xfrm>
        </p:spPr>
        <p:txBody>
          <a:bodyPr/>
          <a:lstStyle/>
          <a:p>
            <a:r>
              <a:rPr lang="en-US" dirty="0"/>
              <a:t>F) </a:t>
            </a:r>
            <a:r>
              <a:rPr lang="en-US" dirty="0" err="1"/>
              <a:t>KfW</a:t>
            </a:r>
            <a:r>
              <a:rPr lang="en-US" dirty="0"/>
              <a:t> funding for insulating Roof, Exterior wall, Upper floor and Basement from dataset</a:t>
            </a:r>
          </a:p>
          <a:p>
            <a:endParaRPr lang="de-DE" dirty="0"/>
          </a:p>
        </p:txBody>
      </p:sp>
      <p:sp>
        <p:nvSpPr>
          <p:cNvPr id="8" name="Titel 5">
            <a:extLst>
              <a:ext uri="{FF2B5EF4-FFF2-40B4-BE49-F238E27FC236}">
                <a16:creationId xmlns:a16="http://schemas.microsoft.com/office/drawing/2014/main" id="{F4C5501A-A242-921A-2DF4-30C603F9E7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0400" y="549275"/>
            <a:ext cx="8854614" cy="358775"/>
          </a:xfrm>
        </p:spPr>
        <p:txBody>
          <a:bodyPr/>
          <a:lstStyle/>
          <a:p>
            <a:r>
              <a:rPr lang="en-US" dirty="0"/>
              <a:t>4. 2. </a:t>
            </a:r>
            <a:r>
              <a:rPr lang="en-US" cap="none" dirty="0"/>
              <a:t>Selection of U values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456168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5C7391D-51B8-A017-78F9-81651152CF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81349" y="6397467"/>
            <a:ext cx="1649666" cy="828258"/>
          </a:xfrm>
        </p:spPr>
        <p:txBody>
          <a:bodyPr/>
          <a:lstStyle/>
          <a:p>
            <a:r>
              <a:rPr lang="de-DE"/>
              <a:t> </a:t>
            </a:r>
            <a:r>
              <a:rPr lang="de-DE" sz="1400"/>
              <a:t>Seite </a:t>
            </a:r>
            <a:fld id="{1009E830-1A31-2046-A084-D1E9F200294C}" type="slidenum">
              <a:rPr lang="de-DE" sz="1400" smtClean="0"/>
              <a:pPr/>
              <a:t>29</a:t>
            </a:fld>
            <a:endParaRPr lang="de-DE" sz="140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AE47B88-0D03-DA75-D5F0-3983FA63C30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EE3BB37-241D-F742-AF57-57B0232CDDCA}" type="datetime1">
              <a:rPr lang="de-DE" sz="1400" smtClean="0"/>
              <a:t>24.06.2024</a:t>
            </a:fld>
            <a:endParaRPr lang="de-DE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F60A87F-7339-4C5B-3B13-30402DE308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>
                <a:latin typeface="Calibri" panose="020F0502020204030204" pitchFamily="34" charset="0"/>
                <a:cs typeface="Calibri" panose="020F0502020204030204" pitchFamily="34" charset="0"/>
              </a:rPr>
              <a:t>Bitte Fußzeile definieren</a:t>
            </a:r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8BABCAB-584D-BF2D-6CD9-08FAB6AE32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G) Calculation of Roof/Exterior Wall/Top Floor/Basement U-values</a:t>
            </a:r>
            <a:endParaRPr lang="de-DE" dirty="0"/>
          </a:p>
          <a:p>
            <a:endParaRPr lang="de-DE" dirty="0"/>
          </a:p>
        </p:txBody>
      </p:sp>
      <p:sp>
        <p:nvSpPr>
          <p:cNvPr id="8" name="Titel 5">
            <a:extLst>
              <a:ext uri="{FF2B5EF4-FFF2-40B4-BE49-F238E27FC236}">
                <a16:creationId xmlns:a16="http://schemas.microsoft.com/office/drawing/2014/main" id="{F4C5501A-A242-921A-2DF4-30C603F9E7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0400" y="549275"/>
            <a:ext cx="8854614" cy="358775"/>
          </a:xfrm>
        </p:spPr>
        <p:txBody>
          <a:bodyPr/>
          <a:lstStyle/>
          <a:p>
            <a:r>
              <a:rPr lang="en-US" dirty="0"/>
              <a:t>4. 2. </a:t>
            </a:r>
            <a:r>
              <a:rPr lang="en-US" cap="none" dirty="0"/>
              <a:t>Selection of U values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B09947-D82F-828C-B4B3-7855364C6554}"/>
                  </a:ext>
                </a:extLst>
              </p:cNvPr>
              <p:cNvSpPr txBox="1"/>
              <p:nvPr/>
            </p:nvSpPr>
            <p:spPr>
              <a:xfrm>
                <a:off x="329851" y="3080251"/>
                <a:ext cx="12205936" cy="167475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 anchorCtr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  <m:sub>
                          <m:r>
                            <a:rPr lang="en-GB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𝑲𝒇𝑾</m:t>
                          </m:r>
                        </m:sub>
                      </m:sSub>
                      <m:r>
                        <a:rPr lang="en-GB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d>
                        <m:dPr>
                          <m:begChr m:val="["/>
                          <m:endChr m:val="]"/>
                          <m:ctrlPr>
                            <a:rPr lang="en-GB" b="1" i="1" dirty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dirty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𝑰𝒇</m:t>
                          </m:r>
                          <m:r>
                            <a:rPr lang="en-GB" b="1" i="1" dirty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1" i="1" dirty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𝒏𝒐</m:t>
                          </m:r>
                          <m:r>
                            <a:rPr lang="en-GB" b="1" i="1" dirty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1" i="1" dirty="0" err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𝑲𝒇𝑾</m:t>
                          </m:r>
                          <m:r>
                            <a:rPr lang="en-GB" b="1" i="1" dirty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1" i="1" dirty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𝒇𝒐𝒓</m:t>
                          </m:r>
                          <m:r>
                            <a:rPr lang="en-GB" b="1" i="1" dirty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1" i="1" dirty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𝒄𝒐𝒎𝒑𝒍𝒆𝒕𝒆</m:t>
                          </m:r>
                          <m:r>
                            <a:rPr lang="en-GB" b="1" i="1" dirty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1" i="1" dirty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𝒓𝒆𝒇𝒖𝒓𝒃𝒊𝒔𝒉𝒎𝒆𝒏𝒕</m:t>
                          </m:r>
                        </m:e>
                      </m:d>
                      <m:r>
                        <a:rPr lang="en-GB" b="1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GB" b="1" i="1" dirty="0">
                  <a:solidFill>
                    <a:schemeClr val="tx2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1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GB" b="1" i="1" dirty="0" smtClean="0">
                          <a:solidFill>
                            <a:srgbClr val="C32B0D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b="1" i="1" dirty="0" smtClean="0">
                          <a:solidFill>
                            <a:srgbClr val="C32B0D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GB" b="1" i="1" dirty="0" smtClean="0">
                          <a:solidFill>
                            <a:srgbClr val="C32B0D"/>
                          </a:solidFill>
                          <a:latin typeface="Cambria Math" panose="02040503050406030204" pitchFamily="18" charset="0"/>
                        </a:rPr>
                        <m:t>𝑰𝒇</m:t>
                      </m:r>
                      <m:r>
                        <a:rPr lang="en-GB" b="1" i="1" dirty="0" smtClean="0">
                          <a:solidFill>
                            <a:srgbClr val="C32B0D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𝒏𝒐</m:t>
                      </m:r>
                      <m:r>
                        <a:rPr lang="en-GB" b="1" i="1" dirty="0" smtClean="0">
                          <a:solidFill>
                            <a:srgbClr val="C32B0D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1" i="1" dirty="0" smtClean="0">
                          <a:solidFill>
                            <a:srgbClr val="C32B0D"/>
                          </a:solidFill>
                          <a:latin typeface="Cambria Math" panose="02040503050406030204" pitchFamily="18" charset="0"/>
                        </a:rPr>
                        <m:t>𝑲𝒇𝑾</m:t>
                      </m:r>
                      <m:r>
                        <a:rPr lang="en-GB" b="1" i="1" dirty="0" smtClean="0">
                          <a:solidFill>
                            <a:srgbClr val="C32B0D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1" i="1" dirty="0" smtClean="0">
                          <a:solidFill>
                            <a:srgbClr val="C32B0D"/>
                          </a:solidFill>
                          <a:latin typeface="Cambria Math" panose="02040503050406030204" pitchFamily="18" charset="0"/>
                        </a:rPr>
                        <m:t>𝒇𝒖𝒏𝒅𝒊𝒏𝒈𝒔</m:t>
                      </m:r>
                      <m:r>
                        <a:rPr lang="en-GB" b="1" i="1" dirty="0" smtClean="0">
                          <a:solidFill>
                            <a:srgbClr val="C32B0D"/>
                          </a:solidFill>
                          <a:latin typeface="Cambria Math" panose="02040503050406030204" pitchFamily="18" charset="0"/>
                        </a:rPr>
                        <m:t>]∗(</m:t>
                      </m:r>
                      <m:d>
                        <m:dPr>
                          <m:ctrlPr>
                            <a:rPr lang="en-GB" b="1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b="1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−% </m:t>
                          </m:r>
                          <m:r>
                            <a:rPr lang="en-GB" b="1" i="1" dirty="0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𝒐𝒇</m:t>
                          </m:r>
                          <m:r>
                            <a:rPr lang="en-GB" b="1" i="1" dirty="0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1" i="1" dirty="0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𝒊𝒏𝒔𝒖𝒍𝒂𝒕𝒊𝒐𝒏</m:t>
                          </m:r>
                        </m:e>
                      </m:d>
                      <m:r>
                        <a:rPr lang="en-GB" b="1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GB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  <m:sub>
                          <m:r>
                            <a:rPr lang="en-GB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𝑶</m:t>
                          </m:r>
                        </m:sub>
                      </m:sSub>
                      <m:r>
                        <a:rPr lang="en-GB" b="1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+(</m:t>
                      </m:r>
                      <m:r>
                        <a:rPr lang="en-GB" b="1" i="1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  <m:r>
                        <a:rPr lang="en-GB" b="1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1" i="1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𝒐𝒇</m:t>
                      </m:r>
                      <m:r>
                        <a:rPr lang="en-GB" b="1" i="1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1" i="1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𝒊𝒏𝒔𝒖𝒍𝒂𝒕𝒊𝒐𝒏</m:t>
                      </m:r>
                      <m:r>
                        <a:rPr lang="en-GB" b="1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) ∗</m:t>
                      </m:r>
                      <m:sSub>
                        <m:sSubPr>
                          <m:ctrlPr>
                            <a:rPr lang="en-GB" b="1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  <m:sub>
                          <m:r>
                            <a:rPr lang="en-GB" b="1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sub>
                      </m:sSub>
                      <m:r>
                        <a:rPr lang="en-GB" b="1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GB" b="1" dirty="0">
                  <a:solidFill>
                    <a:schemeClr val="tx2"/>
                  </a:solidFill>
                  <a:latin typeface="InfoOTDisp Semibold" panose="02000506040000020004" pitchFamily="2" charset="77"/>
                </a:endParaRPr>
              </a:p>
              <a:p>
                <a:pPr marL="0" marR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1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			+ </m:t>
                      </m:r>
                      <m:r>
                        <a:rPr lang="en-GB" b="1" i="1" dirty="0" smtClean="0">
                          <a:solidFill>
                            <a:srgbClr val="C32B0D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d>
                        <m:dPr>
                          <m:begChr m:val="["/>
                          <m:endChr m:val="]"/>
                          <m:ctrlPr>
                            <a:rPr lang="en-GB" b="1" i="1" dirty="0" smtClean="0">
                              <a:solidFill>
                                <a:srgbClr val="C32B0D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dirty="0" smtClean="0">
                              <a:solidFill>
                                <a:srgbClr val="C32B0D"/>
                              </a:solidFill>
                              <a:latin typeface="Cambria Math" panose="02040503050406030204" pitchFamily="18" charset="0"/>
                            </a:rPr>
                            <m:t>𝑰𝒇</m:t>
                          </m:r>
                          <m:r>
                            <a:rPr lang="en-GB" b="1" i="1" dirty="0" smtClean="0">
                              <a:solidFill>
                                <a:srgbClr val="C32B0D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1" i="1" dirty="0" err="1" smtClean="0">
                              <a:solidFill>
                                <a:srgbClr val="C32B0D"/>
                              </a:solidFill>
                              <a:latin typeface="Cambria Math" panose="02040503050406030204" pitchFamily="18" charset="0"/>
                            </a:rPr>
                            <m:t>𝑲𝒇𝑾</m:t>
                          </m:r>
                          <m:r>
                            <a:rPr lang="en-GB" b="1" i="1" dirty="0" smtClean="0">
                              <a:solidFill>
                                <a:srgbClr val="C32B0D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1" i="1" dirty="0" smtClean="0">
                              <a:solidFill>
                                <a:srgbClr val="C32B0D"/>
                              </a:solidFill>
                              <a:latin typeface="Cambria Math" panose="02040503050406030204" pitchFamily="18" charset="0"/>
                            </a:rPr>
                            <m:t>𝒇𝒖𝒏𝒅𝒔</m:t>
                          </m:r>
                          <m:r>
                            <a:rPr lang="en-GB" b="1" i="1" dirty="0" smtClean="0">
                              <a:solidFill>
                                <a:srgbClr val="C32B0D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1" i="1" dirty="0" smtClean="0">
                              <a:solidFill>
                                <a:srgbClr val="C32B0D"/>
                              </a:solidFill>
                              <a:latin typeface="Cambria Math" panose="02040503050406030204" pitchFamily="18" charset="0"/>
                            </a:rPr>
                            <m:t>𝒇𝒐𝒓</m:t>
                          </m:r>
                          <m:r>
                            <a:rPr lang="en-GB" b="1" i="1" dirty="0" smtClean="0">
                              <a:solidFill>
                                <a:srgbClr val="C32B0D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1" i="1" dirty="0" smtClean="0">
                              <a:solidFill>
                                <a:srgbClr val="C32B0D"/>
                              </a:solidFill>
                              <a:latin typeface="Cambria Math" panose="02040503050406030204" pitchFamily="18" charset="0"/>
                            </a:rPr>
                            <m:t>𝒊𝒏𝒅𝒊𝒗𝒊𝒅𝒖𝒂𝒍</m:t>
                          </m:r>
                          <m:r>
                            <a:rPr lang="en-GB" b="1" i="1" dirty="0" smtClean="0">
                              <a:solidFill>
                                <a:srgbClr val="C32B0D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1" i="1" dirty="0" smtClean="0">
                              <a:solidFill>
                                <a:srgbClr val="C32B0D"/>
                              </a:solidFill>
                              <a:latin typeface="Cambria Math" panose="02040503050406030204" pitchFamily="18" charset="0"/>
                            </a:rPr>
                            <m:t>𝒎𝒆𝒂𝒔𝒖𝒓𝒆𝒔</m:t>
                          </m:r>
                        </m:e>
                      </m:d>
                      <m:r>
                        <a:rPr lang="en-GB" b="1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∗ </m:t>
                      </m:r>
                      <m:d>
                        <m:dPr>
                          <m:ctrlPr>
                            <a:rPr lang="en-GB" b="1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GB" b="1" i="1" dirty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dirty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b="1" i="1" dirty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−% </m:t>
                              </m:r>
                              <m:r>
                                <a:rPr lang="en-GB" b="1" i="1" dirty="0" smtClean="0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𝒐𝒇</m:t>
                              </m:r>
                              <m:r>
                                <a:rPr lang="en-GB" b="1" i="1" dirty="0" smtClean="0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b="1" i="1" dirty="0" smtClean="0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𝒊𝒏𝒔𝒖𝒍𝒂𝒕𝒊𝒐𝒏</m:t>
                              </m:r>
                            </m:e>
                          </m:d>
                          <m:r>
                            <a:rPr lang="en-GB" b="1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en-GB" b="1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1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𝑼</m:t>
                              </m:r>
                            </m:e>
                            <m:sub>
                              <m:r>
                                <a:rPr lang="en-GB" b="1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𝑶</m:t>
                              </m:r>
                            </m:sub>
                          </m:sSub>
                          <m:r>
                            <a:rPr lang="en-GB" b="1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GB" b="1" i="1" dirty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dirty="0" smtClean="0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% </m:t>
                              </m:r>
                              <m:r>
                                <a:rPr lang="en-GB" b="1" i="1" dirty="0" smtClean="0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𝒐𝒇</m:t>
                              </m:r>
                              <m:r>
                                <a:rPr lang="en-GB" b="1" i="1" dirty="0" smtClean="0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b="1" i="1" dirty="0" smtClean="0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𝒊𝒏𝒔𝒖𝒍𝒂𝒕𝒊𝒐𝒏</m:t>
                              </m:r>
                            </m:e>
                          </m:d>
                          <m:r>
                            <a:rPr lang="en-GB" b="1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en-GB" b="1" i="1" dirty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1" i="1" dirty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𝑼</m:t>
                              </m:r>
                            </m:e>
                            <m:sub>
                              <m:r>
                                <a:rPr lang="en-GB" b="1" i="1" dirty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𝑩𝑬</m:t>
                              </m:r>
                              <m:sSub>
                                <m:sSubPr>
                                  <m:ctrlPr>
                                    <a:rPr lang="en-GB" b="1" i="1" dirty="0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1" i="1" dirty="0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𝑮</m:t>
                                  </m:r>
                                </m:e>
                                <m:sub>
                                  <m:r>
                                    <a:rPr lang="en-GB" b="1" i="1" dirty="0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𝑬𝑴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  <m:r>
                        <a:rPr lang="en-GB" b="1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en-GB" b="1" i="1" dirty="0">
                  <a:solidFill>
                    <a:schemeClr val="tx2"/>
                  </a:solidFill>
                  <a:latin typeface="Cambria Math" panose="02040503050406030204" pitchFamily="18" charset="0"/>
                </a:endParaRPr>
              </a:p>
              <a:p>
                <a:pPr marL="0" marR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1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GB" b="1" i="1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b="1" i="1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GB" b="1" i="1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𝑰𝒇</m:t>
                      </m:r>
                      <m:r>
                        <a:rPr lang="en-GB" b="1" i="1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1" i="1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𝑲𝒇𝑾</m:t>
                      </m:r>
                      <m:r>
                        <a:rPr lang="en-GB" b="1" i="1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1" i="1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𝒇𝒐𝒓</m:t>
                      </m:r>
                      <m:r>
                        <a:rPr lang="en-GB" b="1" i="1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1" i="1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𝒄𝒐𝒎𝒑𝒍𝒆𝒕𝒆</m:t>
                      </m:r>
                      <m:r>
                        <a:rPr lang="en-GB" b="1" i="1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1" i="1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𝒓𝒆𝒇𝒖𝒓𝒃𝒊𝒔𝒉𝒎𝒆𝒏𝒕</m:t>
                      </m:r>
                      <m:r>
                        <a:rPr lang="en-GB" b="1" i="1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]∗ </m:t>
                      </m:r>
                      <m:r>
                        <a:rPr lang="en-GB" b="1" i="1" dirty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𝒕𝒓𝒂𝒏𝒔𝒎𝒊𝒕𝒊𝒐𝒏</m:t>
                      </m:r>
                      <m:r>
                        <a:rPr lang="en-GB" b="1" i="1" dirty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1" i="1" dirty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𝒉𝒆𝒂𝒕</m:t>
                      </m:r>
                      <m:r>
                        <a:rPr lang="en-GB" b="1" i="1" dirty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 ∗</m:t>
                      </m:r>
                      <m:sSub>
                        <m:sSubPr>
                          <m:ctrlPr>
                            <a:rPr lang="en-GB" b="1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  <m:sub>
                          <m:r>
                            <a:rPr lang="en-GB" b="1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𝑮𝑬𝑮</m:t>
                          </m:r>
                        </m:sub>
                      </m:sSub>
                    </m:oMath>
                  </m:oMathPara>
                </a14:m>
                <a:endParaRPr lang="en-GB" sz="2000" b="1" dirty="0">
                  <a:solidFill>
                    <a:schemeClr val="tx2"/>
                  </a:solidFill>
                  <a:latin typeface="InfoOTDisp Semibold" panose="02000506040000020004" pitchFamily="2" charset="77"/>
                </a:endParaRPr>
              </a:p>
              <a:p>
                <a:pPr marL="0" marR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n-GB" sz="2400" b="1" dirty="0">
                  <a:solidFill>
                    <a:schemeClr val="tx2"/>
                  </a:solidFill>
                  <a:latin typeface="InfoOTDisp Semibold" panose="02000506040000020004" pitchFamily="2" charset="77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B09947-D82F-828C-B4B3-7855364C65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851" y="3080251"/>
                <a:ext cx="12205936" cy="1674754"/>
              </a:xfrm>
              <a:prstGeom prst="rect">
                <a:avLst/>
              </a:prstGeom>
              <a:blipFill>
                <a:blip r:embed="rId3"/>
                <a:stretch>
                  <a:fillRect l="-899" t="-36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25910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521D7174-E31D-80FE-D85C-84DE67B9A426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774446" y="1907857"/>
            <a:ext cx="10208513" cy="4318061"/>
          </a:xfrm>
        </p:spPr>
        <p:txBody>
          <a:bodyPr/>
          <a:lstStyle/>
          <a:p>
            <a:r>
              <a:rPr lang="en-GB" b="0" dirty="0"/>
              <a:t>Based on (ist11) Predominant glazing of windows and (ist10) Year of installation of current windows we can import </a:t>
            </a:r>
            <a:r>
              <a:rPr lang="en-GB" dirty="0"/>
              <a:t>Parameter</a:t>
            </a:r>
            <a:r>
              <a:rPr lang="en-GB" b="0" dirty="0"/>
              <a:t> data from IWU on </a:t>
            </a:r>
            <a:r>
              <a:rPr lang="en-GB" dirty="0"/>
              <a:t>U-values</a:t>
            </a:r>
            <a:r>
              <a:rPr lang="en-GB" b="0" dirty="0"/>
              <a:t> and </a:t>
            </a:r>
            <a:r>
              <a:rPr lang="en-GB" dirty="0"/>
              <a:t>G-Values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5C7391D-51B8-A017-78F9-81651152CF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81349" y="6397467"/>
            <a:ext cx="1649666" cy="828258"/>
          </a:xfrm>
        </p:spPr>
        <p:txBody>
          <a:bodyPr/>
          <a:lstStyle/>
          <a:p>
            <a:r>
              <a:rPr lang="de-DE"/>
              <a:t> </a:t>
            </a:r>
            <a:r>
              <a:rPr lang="de-DE" sz="1400"/>
              <a:t>Seite </a:t>
            </a:r>
            <a:fld id="{1009E830-1A31-2046-A084-D1E9F200294C}" type="slidenum">
              <a:rPr lang="de-DE" sz="1400" smtClean="0"/>
              <a:pPr/>
              <a:t>30</a:t>
            </a:fld>
            <a:endParaRPr lang="de-DE" sz="140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AE47B88-0D03-DA75-D5F0-3983FA63C30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EE3BB37-241D-F742-AF57-57B0232CDDCA}" type="datetime1">
              <a:rPr lang="de-DE" sz="1400" smtClean="0"/>
              <a:t>24.06.2024</a:t>
            </a:fld>
            <a:endParaRPr lang="de-DE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F60A87F-7339-4C5B-3B13-30402DE308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>
                <a:latin typeface="Calibri" panose="020F0502020204030204" pitchFamily="34" charset="0"/>
                <a:cs typeface="Calibri" panose="020F0502020204030204" pitchFamily="34" charset="0"/>
              </a:rPr>
              <a:t>Bitte Fußzeile definieren</a:t>
            </a:r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8BABCAB-584D-BF2D-6CD9-08FAB6AE32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H) Import U-values and G-values for windows</a:t>
            </a:r>
            <a:endParaRPr lang="de-DE" dirty="0"/>
          </a:p>
          <a:p>
            <a:endParaRPr lang="de-DE" dirty="0"/>
          </a:p>
        </p:txBody>
      </p:sp>
      <p:sp>
        <p:nvSpPr>
          <p:cNvPr id="8" name="Titel 5">
            <a:extLst>
              <a:ext uri="{FF2B5EF4-FFF2-40B4-BE49-F238E27FC236}">
                <a16:creationId xmlns:a16="http://schemas.microsoft.com/office/drawing/2014/main" id="{F4C5501A-A242-921A-2DF4-30C603F9E7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0400" y="549275"/>
            <a:ext cx="8854614" cy="358775"/>
          </a:xfrm>
        </p:spPr>
        <p:txBody>
          <a:bodyPr/>
          <a:lstStyle/>
          <a:p>
            <a:r>
              <a:rPr lang="en-US" dirty="0"/>
              <a:t>4. 2. </a:t>
            </a:r>
            <a:r>
              <a:rPr lang="en-US" cap="none" dirty="0"/>
              <a:t>Selection of U values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642890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5C7391D-51B8-A017-78F9-81651152CF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81349" y="6397467"/>
            <a:ext cx="1649666" cy="828258"/>
          </a:xfrm>
        </p:spPr>
        <p:txBody>
          <a:bodyPr/>
          <a:lstStyle/>
          <a:p>
            <a:r>
              <a:rPr lang="de-DE"/>
              <a:t> </a:t>
            </a:r>
            <a:r>
              <a:rPr lang="de-DE" sz="1400"/>
              <a:t>Seite </a:t>
            </a:r>
            <a:fld id="{1009E830-1A31-2046-A084-D1E9F200294C}" type="slidenum">
              <a:rPr lang="de-DE" sz="1400" smtClean="0"/>
              <a:pPr/>
              <a:t>31</a:t>
            </a:fld>
            <a:endParaRPr lang="de-DE" sz="140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AE47B88-0D03-DA75-D5F0-3983FA63C30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EE3BB37-241D-F742-AF57-57B0232CDDCA}" type="datetime1">
              <a:rPr lang="de-DE" sz="1400" smtClean="0"/>
              <a:t>24.06.2024</a:t>
            </a:fld>
            <a:endParaRPr lang="de-DE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F60A87F-7339-4C5B-3B13-30402DE308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>
                <a:latin typeface="Calibri" panose="020F0502020204030204" pitchFamily="34" charset="0"/>
                <a:cs typeface="Calibri" panose="020F0502020204030204" pitchFamily="34" charset="0"/>
              </a:rPr>
              <a:t>Bitte Fußzeile definieren</a:t>
            </a:r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8BABCAB-584D-BF2D-6CD9-08FAB6AE32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/>
              <a:t>Set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area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building</a:t>
            </a:r>
            <a:r>
              <a:rPr lang="de-DE" dirty="0"/>
              <a:t> </a:t>
            </a:r>
            <a:r>
              <a:rPr lang="de-DE"/>
              <a:t>parts</a:t>
            </a:r>
            <a:endParaRPr lang="de-DE" dirty="0"/>
          </a:p>
        </p:txBody>
      </p:sp>
      <p:sp>
        <p:nvSpPr>
          <p:cNvPr id="8" name="Titel 5">
            <a:extLst>
              <a:ext uri="{FF2B5EF4-FFF2-40B4-BE49-F238E27FC236}">
                <a16:creationId xmlns:a16="http://schemas.microsoft.com/office/drawing/2014/main" id="{F4C5501A-A242-921A-2DF4-30C603F9E7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0400" y="549275"/>
            <a:ext cx="8854614" cy="358775"/>
          </a:xfrm>
        </p:spPr>
        <p:txBody>
          <a:bodyPr/>
          <a:lstStyle/>
          <a:p>
            <a:r>
              <a:rPr lang="en-US" dirty="0"/>
              <a:t>4. 3. Pre - calculations of the building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D20CDB7D-6707-DDFC-AD14-4EDCC5C7792A}"/>
                  </a:ext>
                </a:extLst>
              </p:cNvPr>
              <p:cNvSpPr>
                <a:spLocks noGrp="1"/>
              </p:cNvSpPr>
              <p:nvPr>
                <p:ph sz="quarter" idx="19"/>
              </p:nvPr>
            </p:nvSpPr>
            <p:spPr>
              <a:xfrm>
                <a:off x="644235" y="1573869"/>
                <a:ext cx="11211791" cy="4598331"/>
              </a:xfrm>
            </p:spPr>
            <p:txBody>
              <a:bodyPr/>
              <a:lstStyle/>
              <a:p>
                <a:r>
                  <a:rPr lang="en-GB" sz="2000" b="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Set the Number of heated floors: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dirty="0" smtClean="0"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sz="2000" b="0" i="1" dirty="0" smtClean="0">
                            <a:effectLst/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GB" sz="2000" b="0" i="1" dirty="0" smtClean="0"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b="0" i="1" dirty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GB" sz="2000" b="0" i="1" dirty="0"/>
                  <a:t>No. of floors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𝑇𝐵𝐾𝐺</m:t>
                        </m:r>
                      </m:sub>
                    </m:sSub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000" b="0" i="1" dirty="0"/>
                  <a:t>+ 0.75*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𝑇𝐵𝐷𝐺</m:t>
                        </m:r>
                      </m:sub>
                    </m:sSub>
                  </m:oMath>
                </a14:m>
                <a:r>
                  <a:rPr lang="en-GB" sz="2000" b="0" dirty="0"/>
                  <a:t> </a:t>
                </a:r>
              </a:p>
              <a:p>
                <a:r>
                  <a:rPr lang="en-GB" sz="2000" b="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Set Area of lowest heated floor</a:t>
                </a:r>
                <a:r>
                  <a:rPr lang="en-GB" sz="2000" b="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dirty="0" smtClean="0"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sz="2000" b="0" i="1" dirty="0" smtClean="0">
                            <a:effectLst/>
                            <a:latin typeface="Cambria Math" panose="02040503050406030204" pitchFamily="18" charset="0"/>
                          </a:rPr>
                          <m:t>𝐹𝐵</m:t>
                        </m:r>
                      </m:sub>
                    </m:sSub>
                    <m:r>
                      <a:rPr lang="en-GB" sz="2000" b="0" i="1" dirty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0" i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000" b="0" i="1" dirty="0"/>
                  <a:t>Total heated living space </a:t>
                </a:r>
                <a:r>
                  <a:rPr lang="en-GB" sz="2000" b="0" i="1" dirty="0">
                    <a:effectLst/>
                  </a:rPr>
                  <a:t>/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dirty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dirty="0"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sz="2000" b="0" i="1" dirty="0">
                            <a:effectLst/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GB" sz="2000" b="0" i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000" b="0" i="1" dirty="0"/>
                  <a:t>*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𝑓𝑏</m:t>
                        </m:r>
                      </m:sub>
                    </m:sSub>
                  </m:oMath>
                </a14:m>
                <a:endParaRPr lang="en-GB" sz="2000" b="0" i="1" dirty="0"/>
              </a:p>
              <a:p>
                <a:r>
                  <a:rPr lang="en-GB" sz="2000" b="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Set Roof area</a:t>
                </a:r>
                <a:r>
                  <a:rPr lang="en-GB" sz="2000" b="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GB" sz="2000" b="0" i="1" dirty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b="0" i="1" dirty="0">
                                <a:effectLst/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GB" sz="2000" b="0" i="1" dirty="0" smtClean="0">
                                <a:effectLst/>
                                <a:latin typeface="Cambria Math" panose="02040503050406030204" pitchFamily="18" charset="0"/>
                              </a:rPr>
                              <m:t>𝐷𝑎</m:t>
                            </m:r>
                          </m:sub>
                        </m:sSub>
                        <m:r>
                          <a:rPr lang="en-GB" sz="2000" b="0" i="1" dirty="0" smtClean="0">
                            <a:effectLst/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en-GB" sz="2000" b="0" i="1" dirty="0"/>
                          <m:t>Total</m:t>
                        </m:r>
                        <m:r>
                          <m:rPr>
                            <m:nor/>
                          </m:rPr>
                          <a:rPr lang="en-GB" sz="2000" b="0" i="1" dirty="0"/>
                          <m:t> </m:t>
                        </m:r>
                        <m:r>
                          <m:rPr>
                            <m:nor/>
                          </m:rPr>
                          <a:rPr lang="en-GB" sz="2000" b="0" i="1" dirty="0"/>
                          <m:t>heated</m:t>
                        </m:r>
                        <m:r>
                          <m:rPr>
                            <m:nor/>
                          </m:rPr>
                          <a:rPr lang="en-GB" sz="2000" b="0" i="1" dirty="0"/>
                          <m:t> </m:t>
                        </m:r>
                        <m:r>
                          <m:rPr>
                            <m:nor/>
                          </m:rPr>
                          <a:rPr lang="en-GB" sz="2000" b="0" i="1" dirty="0"/>
                          <m:t>living</m:t>
                        </m:r>
                        <m:r>
                          <m:rPr>
                            <m:nor/>
                          </m:rPr>
                          <a:rPr lang="en-GB" sz="2000" b="0" i="1" dirty="0"/>
                          <m:t> </m:t>
                        </m:r>
                        <m:r>
                          <m:rPr>
                            <m:nor/>
                          </m:rPr>
                          <a:rPr lang="en-GB" sz="2000" b="0" i="1" dirty="0"/>
                          <m:t>space</m:t>
                        </m:r>
                        <m:r>
                          <m:rPr>
                            <m:nor/>
                          </m:rPr>
                          <a:rPr lang="en-GB" sz="2000" b="0" i="1" dirty="0"/>
                          <m:t> / </m:t>
                        </m:r>
                        <m:sSub>
                          <m:sSubPr>
                            <m:ctrlPr>
                              <a:rPr lang="en-GB" sz="2000" b="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b="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GB" sz="2000" b="0" i="1" dirty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sub>
                        </m:sSub>
                      </m:e>
                      <m:sub>
                        <m:r>
                          <a:rPr lang="en-GB" sz="2000" b="0" i="1" dirty="0" smtClean="0">
                            <a:effectLst/>
                            <a:latin typeface="Cambria Math" panose="02040503050406030204" pitchFamily="18" charset="0"/>
                          </a:rPr>
                          <m:t>.</m:t>
                        </m:r>
                      </m:sub>
                    </m:sSub>
                    <m:r>
                      <a:rPr lang="en-GB" sz="2000" b="0" i="1" dirty="0"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000" b="0" i="1" dirty="0"/>
                  <a:t>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𝐷𝑎</m:t>
                        </m:r>
                      </m:sub>
                    </m:sSub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 ∗</m:t>
                    </m:r>
                    <m:sSub>
                      <m:sSubPr>
                        <m:ctrlPr>
                          <a:rPr lang="en-GB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𝐺𝑎</m:t>
                        </m:r>
                      </m:sub>
                    </m:sSub>
                  </m:oMath>
                </a14:m>
                <a:endParaRPr lang="en-GB" sz="2000" b="0" i="1" dirty="0"/>
              </a:p>
              <a:p>
                <a:r>
                  <a:rPr lang="en-GB" sz="2000" b="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Set Top floor area</a:t>
                </a:r>
                <a:r>
                  <a:rPr lang="en-GB" sz="2000" b="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GB" sz="2000" b="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b="0" i="1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GB" sz="2000" b="0" i="1" dirty="0" smtClean="0">
                                <a:latin typeface="Cambria Math" panose="02040503050406030204" pitchFamily="18" charset="0"/>
                              </a:rPr>
                              <m:t>𝑂𝐺</m:t>
                            </m:r>
                          </m:sub>
                        </m:sSub>
                        <m:r>
                          <a:rPr lang="en-GB" sz="2000" b="0" i="1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en-GB" sz="2000" b="0" i="1" dirty="0"/>
                          <m:t>Total</m:t>
                        </m:r>
                        <m:r>
                          <m:rPr>
                            <m:nor/>
                          </m:rPr>
                          <a:rPr lang="en-GB" sz="2000" b="0" i="1" dirty="0"/>
                          <m:t> </m:t>
                        </m:r>
                        <m:r>
                          <m:rPr>
                            <m:nor/>
                          </m:rPr>
                          <a:rPr lang="en-GB" sz="2000" b="0" i="1" dirty="0"/>
                          <m:t>heated</m:t>
                        </m:r>
                        <m:r>
                          <m:rPr>
                            <m:nor/>
                          </m:rPr>
                          <a:rPr lang="en-GB" sz="2000" b="0" i="1" dirty="0"/>
                          <m:t> </m:t>
                        </m:r>
                        <m:r>
                          <m:rPr>
                            <m:nor/>
                          </m:rPr>
                          <a:rPr lang="en-GB" sz="2000" b="0" i="1" dirty="0"/>
                          <m:t>living</m:t>
                        </m:r>
                        <m:r>
                          <m:rPr>
                            <m:nor/>
                          </m:rPr>
                          <a:rPr lang="en-GB" sz="2000" b="0" i="1" dirty="0"/>
                          <m:t> </m:t>
                        </m:r>
                        <m:r>
                          <m:rPr>
                            <m:nor/>
                          </m:rPr>
                          <a:rPr lang="en-GB" sz="2000" b="0" i="1" dirty="0"/>
                          <m:t>space</m:t>
                        </m:r>
                        <m:r>
                          <m:rPr>
                            <m:nor/>
                          </m:rPr>
                          <a:rPr lang="en-GB" sz="2000" b="0" i="1" dirty="0"/>
                          <m:t> / </m:t>
                        </m:r>
                        <m:sSub>
                          <m:sSubPr>
                            <m:ctrlPr>
                              <a:rPr lang="en-GB" sz="2000" b="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b="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GB" sz="2000" b="0" i="1" dirty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sub>
                        </m:sSub>
                      </m:e>
                      <m:sub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.</m:t>
                        </m:r>
                      </m:sub>
                    </m:sSub>
                    <m:r>
                      <a:rPr lang="en-GB" sz="2000" b="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000" b="0" i="1" dirty="0"/>
                  <a:t>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𝑂𝐺</m:t>
                        </m:r>
                      </m:sub>
                    </m:sSub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GB" sz="2000" b="0" dirty="0"/>
              </a:p>
              <a:p>
                <a:r>
                  <a:rPr lang="en-GB" sz="2000" b="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Set Window area</a:t>
                </a:r>
                <a:r>
                  <a:rPr lang="en-GB" sz="2000" b="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𝐹𝑒</m:t>
                        </m:r>
                      </m:sub>
                    </m:sSub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GB" sz="2000" b="0" i="1" dirty="0"/>
                  <a:t>Total heated living space 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𝑓𝑒</m:t>
                        </m:r>
                      </m:sub>
                    </m:sSub>
                  </m:oMath>
                </a14:m>
                <a:endParaRPr lang="en-GB" sz="2000" b="0" dirty="0"/>
              </a:p>
              <a:p>
                <a:r>
                  <a:rPr lang="en-GB" sz="2000" b="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Set Area of outer wall against ground</a:t>
                </a:r>
                <a:r>
                  <a:rPr lang="en-GB" sz="2000" b="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𝐴𝑊𝐾</m:t>
                        </m:r>
                      </m:sub>
                    </m:sSub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sz="2000" b="0" i="1" dirty="0"/>
                  <a:t>(Total heated living space /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sz="2000" b="0" i="1" dirty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GB" sz="2000" b="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000" b="0" i="1" dirty="0"/>
                  <a:t>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𝐹𝑎</m:t>
                        </m:r>
                      </m:sub>
                    </m:sSub>
                  </m:oMath>
                </a14:m>
                <a:r>
                  <a:rPr lang="en-GB" sz="2000" b="0" i="1" dirty="0"/>
                  <a:t>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𝐹𝑎</m:t>
                        </m:r>
                      </m:sub>
                    </m:sSub>
                  </m:oMath>
                </a14:m>
                <a:r>
                  <a:rPr lang="en-GB" sz="2000" b="0" i="1" dirty="0"/>
                  <a:t> ) * 0.5 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dirty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GB" sz="2000" b="0" i="1" dirty="0">
                            <a:latin typeface="Cambria Math" panose="02040503050406030204" pitchFamily="18" charset="0"/>
                          </a:rPr>
                          <m:t>𝑇𝐵𝐾𝐺</m:t>
                        </m:r>
                      </m:sub>
                    </m:sSub>
                  </m:oMath>
                </a14:m>
                <a:endParaRPr lang="en-GB" sz="2000" b="0" i="1" dirty="0"/>
              </a:p>
              <a:p>
                <a:r>
                  <a:rPr lang="en-GB" sz="2000" b="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Set Exterior wall area: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sz="2000" b="0" i="1" smtClean="0">
                            <a:effectLst/>
                            <a:latin typeface="Cambria Math" panose="02040503050406030204" pitchFamily="18" charset="0"/>
                          </a:rPr>
                          <m:t>𝐴𝑊</m:t>
                        </m:r>
                      </m:sub>
                    </m:sSub>
                    <m:r>
                      <a:rPr lang="en-GB" sz="2000" b="0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GB" sz="2000" b="0" i="1" dirty="0"/>
                  <a:t>(Total heated living space /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sz="2000" b="0" i="1" dirty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GB" sz="2000" b="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000" b="0" i="1" dirty="0"/>
                  <a:t>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𝐹𝑎</m:t>
                        </m:r>
                      </m:sub>
                    </m:sSub>
                  </m:oMath>
                </a14:m>
                <a:r>
                  <a:rPr lang="en-GB" sz="2000" b="0" i="1" dirty="0"/>
                  <a:t>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𝐹𝑎</m:t>
                        </m:r>
                      </m:sub>
                    </m:sSub>
                  </m:oMath>
                </a14:m>
                <a:r>
                  <a:rPr lang="en-GB" sz="2000" b="0" i="1" dirty="0"/>
                  <a:t> ) *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 − </m:t>
                    </m:r>
                    <m:sSub>
                      <m:sSubPr>
                        <m:ctrlPr>
                          <a:rPr lang="en-GB" sz="20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sz="2000" b="0" i="1">
                            <a:latin typeface="Cambria Math" panose="02040503050406030204" pitchFamily="18" charset="0"/>
                          </a:rPr>
                          <m:t>𝐴𝑊𝐾</m:t>
                        </m:r>
                      </m:sub>
                    </m:sSub>
                    <m:r>
                      <a:rPr lang="en-GB" sz="2000" b="0" i="0" smtClean="0">
                        <a:latin typeface="Cambria Math" panose="02040503050406030204" pitchFamily="18" charset="0"/>
                      </a:rPr>
                      <m:t> − </m:t>
                    </m:r>
                    <m:sSub>
                      <m:sSubPr>
                        <m:ctrlPr>
                          <a:rPr lang="en-GB" sz="2000" b="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sz="2000" b="0" i="1" dirty="0">
                            <a:latin typeface="Cambria Math" panose="02040503050406030204" pitchFamily="18" charset="0"/>
                          </a:rPr>
                          <m:t>𝐹𝑒</m:t>
                        </m:r>
                      </m:sub>
                    </m:sSub>
                  </m:oMath>
                </a14:m>
                <a:r>
                  <a:rPr lang="en-GB" sz="2000" b="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</a:p>
              <a:p>
                <a:r>
                  <a:rPr lang="en-GB" sz="2000" b="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Set Area of building envelope: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sz="2000" b="0" i="1" smtClean="0">
                            <a:effectLst/>
                            <a:latin typeface="Cambria Math" panose="02040503050406030204" pitchFamily="18" charset="0"/>
                          </a:rPr>
                          <m:t>𝑡𝐻</m:t>
                        </m:r>
                      </m:sub>
                    </m:sSub>
                    <m:r>
                      <a:rPr lang="en-GB" sz="2000" b="0" i="1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2000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sz="2000" b="0" i="1" smtClean="0">
                            <a:effectLst/>
                            <a:latin typeface="Cambria Math" panose="02040503050406030204" pitchFamily="18" charset="0"/>
                          </a:rPr>
                          <m:t>𝐹𝐵</m:t>
                        </m:r>
                      </m:sub>
                    </m:sSub>
                    <m:r>
                      <a:rPr lang="en-GB" sz="2000" b="0" i="1" smtClean="0">
                        <a:effectLst/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000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sz="2000" b="0" i="1" smtClean="0">
                            <a:effectLst/>
                            <a:latin typeface="Cambria Math" panose="02040503050406030204" pitchFamily="18" charset="0"/>
                          </a:rPr>
                          <m:t>𝐷𝑎</m:t>
                        </m:r>
                      </m:sub>
                    </m:sSub>
                    <m:r>
                      <a:rPr lang="en-GB" sz="2000" b="0" i="1" smtClean="0">
                        <a:effectLst/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000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sz="2000" b="0" i="1" smtClean="0">
                            <a:effectLst/>
                            <a:latin typeface="Cambria Math" panose="02040503050406030204" pitchFamily="18" charset="0"/>
                          </a:rPr>
                          <m:t>𝑂𝐺</m:t>
                        </m:r>
                      </m:sub>
                    </m:sSub>
                    <m:r>
                      <a:rPr lang="en-GB" sz="2000" b="0" i="1" smtClean="0">
                        <a:effectLst/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000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sz="2000" b="0" i="1" smtClean="0">
                            <a:effectLst/>
                            <a:latin typeface="Cambria Math" panose="02040503050406030204" pitchFamily="18" charset="0"/>
                          </a:rPr>
                          <m:t>𝐹𝑒</m:t>
                        </m:r>
                      </m:sub>
                    </m:sSub>
                    <m:r>
                      <a:rPr lang="en-GB" sz="2000" b="0" i="1" smtClean="0">
                        <a:effectLst/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000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sz="2000" b="0" i="1" smtClean="0">
                            <a:effectLst/>
                            <a:latin typeface="Cambria Math" panose="02040503050406030204" pitchFamily="18" charset="0"/>
                          </a:rPr>
                          <m:t>𝐴𝑊𝐾</m:t>
                        </m:r>
                      </m:sub>
                    </m:sSub>
                    <m:r>
                      <a:rPr lang="en-GB" sz="2000" b="0" i="1" smtClean="0">
                        <a:effectLst/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000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sz="2000" b="0" i="1" smtClean="0">
                            <a:effectLst/>
                            <a:latin typeface="Cambria Math" panose="02040503050406030204" pitchFamily="18" charset="0"/>
                          </a:rPr>
                          <m:t>𝐴𝑊</m:t>
                        </m:r>
                      </m:sub>
                    </m:sSub>
                  </m:oMath>
                </a14:m>
                <a:r>
                  <a:rPr lang="en-GB" sz="2000" b="0" dirty="0">
                    <a:effectLst/>
                  </a:rPr>
                  <a:t> </a:t>
                </a:r>
                <a:endParaRPr lang="en-GB" sz="2000" b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r>
                  <a:rPr lang="en-GB" sz="2000" b="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Set Energy reference area: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sz="2000" b="0" i="1" smtClean="0">
                            <a:effectLst/>
                            <a:latin typeface="Cambria Math" panose="02040503050406030204" pitchFamily="18" charset="0"/>
                          </a:rPr>
                          <m:t>𝐸𝐵</m:t>
                        </m:r>
                      </m:sub>
                    </m:sSub>
                    <m:r>
                      <a:rPr lang="en-GB" sz="2000" b="0" i="1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GB" sz="2000" b="0" i="1" dirty="0">
                        <a:effectLst/>
                      </a:rPr>
                      <m:t>Total</m:t>
                    </m:r>
                    <m:r>
                      <m:rPr>
                        <m:nor/>
                      </m:rPr>
                      <a:rPr lang="en-GB" sz="2000" b="0" i="1" dirty="0">
                        <a:effectLst/>
                      </a:rPr>
                      <m:t> </m:t>
                    </m:r>
                    <m:r>
                      <m:rPr>
                        <m:nor/>
                      </m:rPr>
                      <a:rPr lang="en-GB" sz="2000" b="0" i="1" dirty="0">
                        <a:effectLst/>
                      </a:rPr>
                      <m:t>heated</m:t>
                    </m:r>
                    <m:r>
                      <m:rPr>
                        <m:nor/>
                      </m:rPr>
                      <a:rPr lang="en-GB" sz="2000" b="0" i="1" dirty="0">
                        <a:effectLst/>
                      </a:rPr>
                      <m:t> </m:t>
                    </m:r>
                    <m:r>
                      <m:rPr>
                        <m:nor/>
                      </m:rPr>
                      <a:rPr lang="en-GB" sz="2000" b="0" i="1" dirty="0">
                        <a:effectLst/>
                      </a:rPr>
                      <m:t>living</m:t>
                    </m:r>
                    <m:r>
                      <m:rPr>
                        <m:nor/>
                      </m:rPr>
                      <a:rPr lang="en-GB" sz="2000" b="0" i="1" dirty="0">
                        <a:effectLst/>
                      </a:rPr>
                      <m:t> </m:t>
                    </m:r>
                    <m:r>
                      <m:rPr>
                        <m:nor/>
                      </m:rPr>
                      <a:rPr lang="en-GB" sz="2000" b="0" i="1" dirty="0">
                        <a:effectLst/>
                      </a:rPr>
                      <m:t>space</m:t>
                    </m:r>
                    <m:r>
                      <a:rPr lang="en-GB" sz="2000" b="0" i="1" smtClean="0">
                        <a:effectLst/>
                        <a:latin typeface="Cambria Math" panose="02040503050406030204" pitchFamily="18" charset="0"/>
                      </a:rPr>
                      <m:t>∗0.32∗4</m:t>
                    </m:r>
                  </m:oMath>
                </a14:m>
                <a:endParaRPr lang="en-GB" sz="2000" b="0" dirty="0">
                  <a:effectLst/>
                </a:endParaRPr>
              </a:p>
              <a:p>
                <a:r>
                  <a:rPr lang="en-GB" sz="2000" b="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Set Air Volume: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effectLst/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GB" sz="2000" b="0" i="1" smtClean="0">
                            <a:effectLst/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GB" sz="2000" b="0" i="1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2000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sz="2000" b="0" i="1" smtClean="0">
                            <a:effectLst/>
                            <a:latin typeface="Cambria Math" panose="02040503050406030204" pitchFamily="18" charset="0"/>
                          </a:rPr>
                          <m:t>𝐸𝐵</m:t>
                        </m:r>
                      </m:sub>
                    </m:sSub>
                    <m:r>
                      <a:rPr lang="en-GB" sz="2000" b="0" i="1" smtClean="0">
                        <a:effectLst/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GB" sz="2000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effectLst/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GB" sz="2000" b="0" i="1" smtClean="0">
                            <a:effectLst/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endParaRPr lang="en-GB" sz="2000" b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endParaRPr lang="en-GB" sz="2000" b="0" dirty="0"/>
              </a:p>
            </p:txBody>
          </p:sp>
        </mc:Choice>
        <mc:Fallback xmlns="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D20CDB7D-6707-DDFC-AD14-4EDCC5C779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9"/>
              </p:nvPr>
            </p:nvSpPr>
            <p:spPr>
              <a:xfrm>
                <a:off x="644235" y="1573869"/>
                <a:ext cx="11211791" cy="4598331"/>
              </a:xfrm>
              <a:blipFill>
                <a:blip r:embed="rId3"/>
                <a:stretch>
                  <a:fillRect l="-598" t="-15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16691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5C7391D-51B8-A017-78F9-81651152CF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81349" y="6397467"/>
            <a:ext cx="1649666" cy="828258"/>
          </a:xfrm>
        </p:spPr>
        <p:txBody>
          <a:bodyPr/>
          <a:lstStyle/>
          <a:p>
            <a:r>
              <a:rPr lang="de-DE"/>
              <a:t> </a:t>
            </a:r>
            <a:r>
              <a:rPr lang="de-DE" sz="1400"/>
              <a:t>Seite </a:t>
            </a:r>
            <a:fld id="{1009E830-1A31-2046-A084-D1E9F200294C}" type="slidenum">
              <a:rPr lang="de-DE" sz="1400" smtClean="0"/>
              <a:pPr/>
              <a:t>32</a:t>
            </a:fld>
            <a:endParaRPr lang="de-DE" sz="140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AE47B88-0D03-DA75-D5F0-3983FA63C30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EE3BB37-241D-F742-AF57-57B0232CDDCA}" type="datetime1">
              <a:rPr lang="de-DE" sz="1400" smtClean="0"/>
              <a:t>24.06.2024</a:t>
            </a:fld>
            <a:endParaRPr lang="de-DE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F60A87F-7339-4C5B-3B13-30402DE308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>
                <a:latin typeface="Calibri" panose="020F0502020204030204" pitchFamily="34" charset="0"/>
                <a:cs typeface="Calibri" panose="020F0502020204030204" pitchFamily="34" charset="0"/>
              </a:rPr>
              <a:t>Bitte Fußzeile definieren</a:t>
            </a:r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8BABCAB-584D-BF2D-6CD9-08FAB6AE32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8" name="Titel 5">
            <a:extLst>
              <a:ext uri="{FF2B5EF4-FFF2-40B4-BE49-F238E27FC236}">
                <a16:creationId xmlns:a16="http://schemas.microsoft.com/office/drawing/2014/main" id="{F4C5501A-A242-921A-2DF4-30C603F9E7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0400" y="549275"/>
            <a:ext cx="8854614" cy="358775"/>
          </a:xfrm>
        </p:spPr>
        <p:txBody>
          <a:bodyPr/>
          <a:lstStyle/>
          <a:p>
            <a:r>
              <a:rPr lang="en-US" dirty="0"/>
              <a:t>4. 4. Calculation: Transmission heat loss</a:t>
            </a:r>
            <a:endParaRPr lang="de-DE" dirty="0"/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D20CDB7D-6707-DDFC-AD14-4EDCC5C7792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4236" y="1573869"/>
            <a:ext cx="11014364" cy="4598331"/>
          </a:xfrm>
        </p:spPr>
        <p:txBody>
          <a:bodyPr/>
          <a:lstStyle/>
          <a:p>
            <a:r>
              <a:rPr lang="en-GB" sz="2000" b="0" dirty="0"/>
              <a:t>Set Parameters for Calculating Transmission Heat Loss</a:t>
            </a:r>
          </a:p>
          <a:p>
            <a:r>
              <a:rPr lang="en-GB" sz="2000" b="0" dirty="0"/>
              <a:t>Calculate Transmission Heat Lose for every component of a building:</a:t>
            </a:r>
          </a:p>
          <a:p>
            <a:pPr lvl="1"/>
            <a:r>
              <a:rPr lang="en-GB" sz="1600" dirty="0"/>
              <a:t>Roof</a:t>
            </a:r>
          </a:p>
          <a:p>
            <a:pPr lvl="1"/>
            <a:r>
              <a:rPr lang="en-GB" sz="1600" b="0" dirty="0"/>
              <a:t>External Wall</a:t>
            </a:r>
          </a:p>
          <a:p>
            <a:pPr lvl="1"/>
            <a:r>
              <a:rPr lang="en-GB" sz="1600" dirty="0"/>
              <a:t>Top Floor</a:t>
            </a:r>
          </a:p>
          <a:p>
            <a:pPr lvl="1"/>
            <a:r>
              <a:rPr lang="en-GB" sz="1600" b="0" dirty="0"/>
              <a:t>Bottom Floor/Basement </a:t>
            </a:r>
          </a:p>
          <a:p>
            <a:pPr lvl="1"/>
            <a:r>
              <a:rPr lang="en-GB" sz="1600" b="0" dirty="0"/>
              <a:t>External wall against ground</a:t>
            </a:r>
            <a:endParaRPr lang="en-GB" sz="1600" dirty="0"/>
          </a:p>
          <a:p>
            <a:pPr lvl="1"/>
            <a:r>
              <a:rPr lang="en-GB" sz="1600" b="0" dirty="0"/>
              <a:t>Windows</a:t>
            </a:r>
          </a:p>
          <a:p>
            <a:pPr lvl="1"/>
            <a:r>
              <a:rPr lang="en-GB" sz="1600" dirty="0"/>
              <a:t>Thermal bridges losses </a:t>
            </a:r>
          </a:p>
          <a:p>
            <a:pPr marL="457200"/>
            <a:r>
              <a:rPr lang="en-GB" sz="2000" b="0" dirty="0"/>
              <a:t>Calculate Total Transmission heat loss</a:t>
            </a:r>
          </a:p>
        </p:txBody>
      </p:sp>
    </p:spTree>
    <p:extLst>
      <p:ext uri="{BB962C8B-B14F-4D97-AF65-F5344CB8AC3E}">
        <p14:creationId xmlns:p14="http://schemas.microsoft.com/office/powerpoint/2010/main" val="1821332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5C7391D-51B8-A017-78F9-81651152CF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81349" y="6397467"/>
            <a:ext cx="1649666" cy="828258"/>
          </a:xfrm>
        </p:spPr>
        <p:txBody>
          <a:bodyPr/>
          <a:lstStyle/>
          <a:p>
            <a:r>
              <a:rPr lang="de-DE"/>
              <a:t> </a:t>
            </a:r>
            <a:r>
              <a:rPr lang="de-DE" sz="1400"/>
              <a:t>Seite </a:t>
            </a:r>
            <a:fld id="{1009E830-1A31-2046-A084-D1E9F200294C}" type="slidenum">
              <a:rPr lang="de-DE" sz="1400" smtClean="0"/>
              <a:pPr/>
              <a:t>33</a:t>
            </a:fld>
            <a:endParaRPr lang="de-DE" sz="140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AE47B88-0D03-DA75-D5F0-3983FA63C30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EE3BB37-241D-F742-AF57-57B0232CDDCA}" type="datetime1">
              <a:rPr lang="de-DE" sz="1400" smtClean="0"/>
              <a:t>24.06.2024</a:t>
            </a:fld>
            <a:endParaRPr lang="de-DE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F60A87F-7339-4C5B-3B13-30402DE308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>
                <a:latin typeface="Calibri" panose="020F0502020204030204" pitchFamily="34" charset="0"/>
                <a:cs typeface="Calibri" panose="020F0502020204030204" pitchFamily="34" charset="0"/>
              </a:rPr>
              <a:t>Bitte Fußzeile definieren</a:t>
            </a:r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8BABCAB-584D-BF2D-6CD9-08FAB6AE32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sz="2000" b="0" dirty="0"/>
              <a:t>Set Parameters for Calculating Transmission Heat Loss</a:t>
            </a:r>
          </a:p>
          <a:p>
            <a:endParaRPr lang="de-DE" dirty="0"/>
          </a:p>
        </p:txBody>
      </p:sp>
      <p:sp>
        <p:nvSpPr>
          <p:cNvPr id="8" name="Titel 5">
            <a:extLst>
              <a:ext uri="{FF2B5EF4-FFF2-40B4-BE49-F238E27FC236}">
                <a16:creationId xmlns:a16="http://schemas.microsoft.com/office/drawing/2014/main" id="{F4C5501A-A242-921A-2DF4-30C603F9E7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0400" y="549275"/>
            <a:ext cx="8854614" cy="358775"/>
          </a:xfrm>
        </p:spPr>
        <p:txBody>
          <a:bodyPr/>
          <a:lstStyle/>
          <a:p>
            <a:r>
              <a:rPr lang="en-US" dirty="0"/>
              <a:t>4. 4. Calculation: Transmission heat loss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D20CDB7D-6707-DDFC-AD14-4EDCC5C7792A}"/>
                  </a:ext>
                </a:extLst>
              </p:cNvPr>
              <p:cNvSpPr>
                <a:spLocks noGrp="1"/>
              </p:cNvSpPr>
              <p:nvPr>
                <p:ph sz="quarter" idx="19"/>
              </p:nvPr>
            </p:nvSpPr>
            <p:spPr>
              <a:xfrm>
                <a:off x="644236" y="1683327"/>
                <a:ext cx="11014364" cy="4488873"/>
              </a:xfrm>
            </p:spPr>
            <p:txBody>
              <a:bodyPr/>
              <a:lstStyle/>
              <a:p>
                <a:r>
                  <a:rPr lang="en-GB" b="0" dirty="0"/>
                  <a:t>Temperature correction factors:</a:t>
                </a:r>
              </a:p>
              <a:p>
                <a:pPr lvl="1"/>
                <a:r>
                  <a:rPr lang="en-GB" sz="1800" b="0" dirty="0"/>
                  <a:t>Reduction factor for Top floor: </a:t>
                </a:r>
                <a14:m>
                  <m:oMath xmlns:m="http://schemas.openxmlformats.org/officeDocument/2006/math"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𝐹</m:t>
                    </m:r>
                    <m:sSub>
                      <m:sSubPr>
                        <m:ctrlPr>
                          <a:rPr lang="en-GB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GB" sz="1800" b="0" i="1" dirty="0" smtClean="0">
                            <a:latin typeface="Cambria Math" panose="02040503050406030204" pitchFamily="18" charset="0"/>
                          </a:rPr>
                          <m:t>𝑂𝐺</m:t>
                        </m:r>
                      </m:sub>
                    </m:sSub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 = 0.8</m:t>
                    </m:r>
                  </m:oMath>
                </a14:m>
                <a:endParaRPr lang="en-GB" sz="1800" b="0" dirty="0"/>
              </a:p>
              <a:p>
                <a:pPr lvl="1"/>
                <a:r>
                  <a:rPr lang="en-GB" sz="1800" b="0" dirty="0"/>
                  <a:t>Reduction factor for External wall against ground: </a:t>
                </a:r>
                <a14:m>
                  <m:oMath xmlns:m="http://schemas.openxmlformats.org/officeDocument/2006/math"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𝐹</m:t>
                    </m:r>
                    <m:sSub>
                      <m:sSubPr>
                        <m:ctrlPr>
                          <a:rPr lang="en-GB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GB" sz="1800" b="0" i="1" dirty="0" smtClean="0">
                            <a:latin typeface="Cambria Math" panose="02040503050406030204" pitchFamily="18" charset="0"/>
                          </a:rPr>
                          <m:t>𝐴𝑊</m:t>
                        </m:r>
                      </m:sub>
                    </m:sSub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 = 0.6</m:t>
                    </m:r>
                  </m:oMath>
                </a14:m>
                <a:endParaRPr lang="en-GB" sz="1800" b="0" dirty="0"/>
              </a:p>
              <a:p>
                <a:pPr lvl="1"/>
                <a:r>
                  <a:rPr lang="en-GB" sz="1800" b="0" dirty="0"/>
                  <a:t>Reduction factor for Lowest floor: </a:t>
                </a:r>
                <a14:m>
                  <m:oMath xmlns:m="http://schemas.openxmlformats.org/officeDocument/2006/math"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𝐹</m:t>
                    </m:r>
                    <m:sSub>
                      <m:sSubPr>
                        <m:ctrlPr>
                          <a:rPr lang="en-GB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GB" sz="1800" b="0" i="1" dirty="0" smtClean="0">
                            <a:latin typeface="Cambria Math" panose="02040503050406030204" pitchFamily="18" charset="0"/>
                          </a:rPr>
                          <m:t>𝐹𝐵</m:t>
                        </m:r>
                      </m:sub>
                    </m:sSub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 = 0.6</m:t>
                    </m:r>
                  </m:oMath>
                </a14:m>
                <a:endParaRPr lang="en-GB" sz="1800" b="0" dirty="0"/>
              </a:p>
              <a:p>
                <a:pPr marL="457200" lvl="1" indent="0">
                  <a:buNone/>
                </a:pPr>
                <a:endParaRPr lang="en-GB" sz="1800" b="0" dirty="0"/>
              </a:p>
              <a:p>
                <a:r>
                  <a:rPr lang="en-GB" b="0" dirty="0"/>
                  <a:t> U-value thermal bridge allowance (In IWU folder is 0.1):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𝑊𝐵𝑍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 = 0.05</m:t>
                    </m:r>
                  </m:oMath>
                </a14:m>
                <a:endParaRPr lang="en-GB" b="0" dirty="0"/>
              </a:p>
            </p:txBody>
          </p:sp>
        </mc:Choice>
        <mc:Fallback xmlns="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D20CDB7D-6707-DDFC-AD14-4EDCC5C779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9"/>
              </p:nvPr>
            </p:nvSpPr>
            <p:spPr>
              <a:xfrm>
                <a:off x="644236" y="1683327"/>
                <a:ext cx="11014364" cy="4488873"/>
              </a:xfrm>
              <a:blipFill>
                <a:blip r:embed="rId3"/>
                <a:stretch>
                  <a:fillRect l="-830" t="-203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35286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5C7391D-51B8-A017-78F9-81651152CF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81349" y="6397467"/>
            <a:ext cx="1649666" cy="828258"/>
          </a:xfrm>
        </p:spPr>
        <p:txBody>
          <a:bodyPr/>
          <a:lstStyle/>
          <a:p>
            <a:r>
              <a:rPr lang="de-DE"/>
              <a:t> </a:t>
            </a:r>
            <a:r>
              <a:rPr lang="de-DE" sz="1400"/>
              <a:t>Seite </a:t>
            </a:r>
            <a:fld id="{1009E830-1A31-2046-A084-D1E9F200294C}" type="slidenum">
              <a:rPr lang="de-DE" sz="1400" smtClean="0"/>
              <a:pPr/>
              <a:t>34</a:t>
            </a:fld>
            <a:endParaRPr lang="de-DE" sz="140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AE47B88-0D03-DA75-D5F0-3983FA63C30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EE3BB37-241D-F742-AF57-57B0232CDDCA}" type="datetime1">
              <a:rPr lang="de-DE" sz="1400" smtClean="0"/>
              <a:t>24.06.2024</a:t>
            </a:fld>
            <a:endParaRPr lang="de-DE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F60A87F-7339-4C5B-3B13-30402DE308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>
                <a:latin typeface="Calibri" panose="020F0502020204030204" pitchFamily="34" charset="0"/>
                <a:cs typeface="Calibri" panose="020F0502020204030204" pitchFamily="34" charset="0"/>
              </a:rPr>
              <a:t>Bitte Fußzeile definieren</a:t>
            </a:r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8BABCAB-584D-BF2D-6CD9-08FAB6AE32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sz="2000" b="0" dirty="0"/>
              <a:t>Calculate Transmission Heat Lose for every component of a building</a:t>
            </a:r>
          </a:p>
          <a:p>
            <a:endParaRPr lang="de-DE" dirty="0"/>
          </a:p>
        </p:txBody>
      </p:sp>
      <p:sp>
        <p:nvSpPr>
          <p:cNvPr id="8" name="Titel 5">
            <a:extLst>
              <a:ext uri="{FF2B5EF4-FFF2-40B4-BE49-F238E27FC236}">
                <a16:creationId xmlns:a16="http://schemas.microsoft.com/office/drawing/2014/main" id="{F4C5501A-A242-921A-2DF4-30C603F9E7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0400" y="549275"/>
            <a:ext cx="8854614" cy="358775"/>
          </a:xfrm>
        </p:spPr>
        <p:txBody>
          <a:bodyPr/>
          <a:lstStyle/>
          <a:p>
            <a:r>
              <a:rPr lang="en-US" dirty="0"/>
              <a:t>4. 4. Calculation: Transmission heat loss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D20CDB7D-6707-DDFC-AD14-4EDCC5C7792A}"/>
                  </a:ext>
                </a:extLst>
              </p:cNvPr>
              <p:cNvSpPr>
                <a:spLocks noGrp="1"/>
              </p:cNvSpPr>
              <p:nvPr>
                <p:ph sz="quarter" idx="19"/>
              </p:nvPr>
            </p:nvSpPr>
            <p:spPr>
              <a:xfrm>
                <a:off x="0" y="1573869"/>
                <a:ext cx="12396355" cy="4598331"/>
              </a:xfrm>
            </p:spPr>
            <p:txBody>
              <a:bodyPr/>
              <a:lstStyle/>
              <a:p>
                <a:r>
                  <a:rPr lang="en-GB" sz="2000" b="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Roof:</a:t>
                </a:r>
                <a:r>
                  <a:rPr lang="en-GB" sz="2000" b="0" dirty="0"/>
                  <a:t>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𝐷𝑎</m:t>
                        </m:r>
                      </m:sub>
                    </m:sSub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GB" sz="2000" b="0" dirty="0"/>
                  <a:t>U-value Roof * Roof area</a:t>
                </a:r>
              </a:p>
              <a:p>
                <a:r>
                  <a:rPr lang="en-GB" sz="2000" b="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Top floor: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𝑂𝐺</m:t>
                        </m:r>
                      </m:sub>
                    </m:sSub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GB" sz="2000" b="0" dirty="0"/>
                  <a:t>U-value Top Floor * Top Floor area * Correction factor upper floor</a:t>
                </a:r>
              </a:p>
              <a:p>
                <a:r>
                  <a:rPr lang="en-GB" sz="2000" b="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Exterior Wall: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𝐴𝑊</m:t>
                        </m:r>
                      </m:sub>
                    </m:sSub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GB" sz="2000" b="0" dirty="0"/>
                  <a:t>U-value Exterior Wall * Exterior Wall area</a:t>
                </a:r>
              </a:p>
              <a:p>
                <a:r>
                  <a:rPr lang="en-GB" sz="2000" b="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Outer wall against ground</a:t>
                </a:r>
                <a:r>
                  <a:rPr lang="en-GB" sz="2000" b="0" dirty="0"/>
                  <a:t>: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               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𝐴𝑊𝐾</m:t>
                        </m:r>
                      </m:sub>
                    </m:sSub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GB" sz="1800" b="0" dirty="0"/>
                  <a:t>U-value Exterior Wall * Area of outer wall against ground * Correction factor of outer wall against ground </a:t>
                </a:r>
              </a:p>
              <a:p>
                <a:r>
                  <a:rPr lang="en-GB" sz="2000" b="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Basement: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𝐹𝐵</m:t>
                        </m:r>
                      </m:sub>
                    </m:sSub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GB" sz="2000" b="0" dirty="0"/>
                  <a:t>U-value Basement * Area of lowest heated floor * Correction factor basement</a:t>
                </a:r>
              </a:p>
              <a:p>
                <a:r>
                  <a:rPr lang="en-GB" sz="2000" b="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Windows: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𝐹𝑒</m:t>
                        </m:r>
                      </m:sub>
                    </m:sSub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GB" sz="2000" b="0" dirty="0"/>
                  <a:t>U-value Windows * Window area</a:t>
                </a:r>
              </a:p>
              <a:p>
                <a:r>
                  <a:rPr lang="en-GB" sz="2000" b="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Thermal bridges losses: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𝑊𝐵𝑍</m:t>
                        </m:r>
                      </m:sub>
                    </m:sSub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GB" sz="2000" b="0" dirty="0"/>
                  <a:t>U-value thermal bridge * Area of building envelope</a:t>
                </a:r>
              </a:p>
              <a:p>
                <a:endParaRPr lang="en-GB" b="0" dirty="0"/>
              </a:p>
              <a:p>
                <a:pPr marL="0" indent="0">
                  <a:buNone/>
                </a:pPr>
                <a:r>
                  <a:rPr lang="en-GB" b="0" dirty="0"/>
                  <a:t> </a:t>
                </a:r>
                <a:r>
                  <a:rPr lang="en-GB" dirty="0"/>
                  <a:t>Total Transmission heat loss: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𝑯𝑻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𝑯</m:t>
                    </m:r>
                    <m:sSub>
                      <m:sSub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𝑫𝒂</m:t>
                        </m:r>
                      </m:sub>
                    </m:sSub>
                    <m:r>
                      <a:rPr lang="en-GB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𝑯</m:t>
                    </m:r>
                    <m:sSub>
                      <m:sSub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𝑶𝑮</m:t>
                        </m:r>
                      </m:sub>
                    </m:sSub>
                    <m:r>
                      <a:rPr lang="en-GB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𝑯</m:t>
                    </m:r>
                    <m:sSub>
                      <m:sSub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𝑨𝑾</m:t>
                        </m:r>
                      </m:sub>
                    </m:sSub>
                    <m:r>
                      <a:rPr lang="en-GB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𝑯</m:t>
                    </m:r>
                    <m:sSub>
                      <m:sSub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𝑨𝑾𝑲</m:t>
                        </m:r>
                      </m:sub>
                    </m:sSub>
                    <m:r>
                      <a:rPr lang="en-GB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𝑯</m:t>
                    </m:r>
                    <m:sSub>
                      <m:sSub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𝑭𝑩</m:t>
                        </m:r>
                      </m:sub>
                    </m:sSub>
                    <m:r>
                      <a:rPr lang="en-GB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𝑯</m:t>
                    </m:r>
                    <m:sSub>
                      <m:sSub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𝑭𝒆</m:t>
                        </m:r>
                      </m:sub>
                    </m:sSub>
                    <m:r>
                      <a:rPr lang="en-GB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𝑯</m:t>
                    </m:r>
                    <m:sSub>
                      <m:sSub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𝑾𝑩𝒁</m:t>
                        </m:r>
                      </m:sub>
                    </m:sSub>
                  </m:oMath>
                </a14:m>
                <a:endParaRPr lang="en-GB" b="0" dirty="0"/>
              </a:p>
            </p:txBody>
          </p:sp>
        </mc:Choice>
        <mc:Fallback xmlns="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D20CDB7D-6707-DDFC-AD14-4EDCC5C779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9"/>
              </p:nvPr>
            </p:nvSpPr>
            <p:spPr>
              <a:xfrm>
                <a:off x="0" y="1573869"/>
                <a:ext cx="12396355" cy="4598331"/>
              </a:xfrm>
              <a:blipFill>
                <a:blip r:embed="rId3"/>
                <a:stretch>
                  <a:fillRect l="-541" t="-15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67694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5C7391D-51B8-A017-78F9-81651152CF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81349" y="6397467"/>
            <a:ext cx="1649666" cy="828258"/>
          </a:xfrm>
        </p:spPr>
        <p:txBody>
          <a:bodyPr/>
          <a:lstStyle/>
          <a:p>
            <a:r>
              <a:rPr lang="de-DE"/>
              <a:t> </a:t>
            </a:r>
            <a:r>
              <a:rPr lang="de-DE" sz="1400"/>
              <a:t>Seite </a:t>
            </a:r>
            <a:fld id="{1009E830-1A31-2046-A084-D1E9F200294C}" type="slidenum">
              <a:rPr lang="de-DE" sz="1400" smtClean="0"/>
              <a:pPr/>
              <a:t>35</a:t>
            </a:fld>
            <a:endParaRPr lang="de-DE" sz="140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AE47B88-0D03-DA75-D5F0-3983FA63C30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EE3BB37-241D-F742-AF57-57B0232CDDCA}" type="datetime1">
              <a:rPr lang="de-DE" sz="1400" smtClean="0"/>
              <a:t>24.06.2024</a:t>
            </a:fld>
            <a:endParaRPr lang="de-DE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F60A87F-7339-4C5B-3B13-30402DE308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>
                <a:latin typeface="Calibri" panose="020F0502020204030204" pitchFamily="34" charset="0"/>
                <a:cs typeface="Calibri" panose="020F0502020204030204" pitchFamily="34" charset="0"/>
              </a:rPr>
              <a:t>Bitte Fußzeile definieren</a:t>
            </a:r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8BABCAB-584D-BF2D-6CD9-08FAB6AE32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8" name="Titel 5">
            <a:extLst>
              <a:ext uri="{FF2B5EF4-FFF2-40B4-BE49-F238E27FC236}">
                <a16:creationId xmlns:a16="http://schemas.microsoft.com/office/drawing/2014/main" id="{F4C5501A-A242-921A-2DF4-30C603F9E7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0400" y="549275"/>
            <a:ext cx="8854614" cy="358775"/>
          </a:xfrm>
        </p:spPr>
        <p:txBody>
          <a:bodyPr/>
          <a:lstStyle/>
          <a:p>
            <a:r>
              <a:rPr lang="en-US" dirty="0"/>
              <a:t>4. 5. Calculation: Heating demand</a:t>
            </a:r>
            <a:br>
              <a:rPr lang="en-US" dirty="0"/>
            </a:br>
            <a:endParaRPr lang="de-DE" dirty="0"/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D20CDB7D-6707-DDFC-AD14-4EDCC5C7792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774448" y="2088573"/>
            <a:ext cx="9658026" cy="4083627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GB" b="0" dirty="0"/>
          </a:p>
          <a:p>
            <a:pPr marL="457200" indent="-457200">
              <a:buFont typeface="+mj-lt"/>
              <a:buAutoNum type="arabicPeriod"/>
            </a:pPr>
            <a:endParaRPr lang="en-GB" b="0" dirty="0"/>
          </a:p>
          <a:p>
            <a:pPr marL="0" indent="0">
              <a:buNone/>
            </a:pPr>
            <a:r>
              <a:rPr lang="en-GB" dirty="0"/>
              <a:t>1.   </a:t>
            </a:r>
            <a:r>
              <a:rPr lang="en-GB" b="0" dirty="0"/>
              <a:t>Set parameters for Heating demand calculation</a:t>
            </a:r>
          </a:p>
          <a:p>
            <a:pPr marL="0" indent="0">
              <a:buNone/>
            </a:pPr>
            <a:r>
              <a:rPr lang="en-GB" dirty="0"/>
              <a:t>2.   </a:t>
            </a:r>
            <a:r>
              <a:rPr lang="en-GB" b="0" dirty="0"/>
              <a:t>Calculate Ventilation heat loss and Energy-efficient building standard</a:t>
            </a:r>
          </a:p>
          <a:p>
            <a:pPr marL="0" indent="0">
              <a:buNone/>
            </a:pPr>
            <a:r>
              <a:rPr lang="en-GB" dirty="0"/>
              <a:t>3.   </a:t>
            </a:r>
            <a:r>
              <a:rPr lang="en-GB" b="0" dirty="0"/>
              <a:t>Calculation of Heating demand </a:t>
            </a:r>
          </a:p>
          <a:p>
            <a:endParaRPr lang="en-GB" sz="2000" b="0" dirty="0"/>
          </a:p>
        </p:txBody>
      </p:sp>
    </p:spTree>
    <p:extLst>
      <p:ext uri="{BB962C8B-B14F-4D97-AF65-F5344CB8AC3E}">
        <p14:creationId xmlns:p14="http://schemas.microsoft.com/office/powerpoint/2010/main" val="9432191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5C7391D-51B8-A017-78F9-81651152CF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81349" y="6397467"/>
            <a:ext cx="1649666" cy="828258"/>
          </a:xfrm>
        </p:spPr>
        <p:txBody>
          <a:bodyPr/>
          <a:lstStyle/>
          <a:p>
            <a:r>
              <a:rPr lang="de-DE"/>
              <a:t> </a:t>
            </a:r>
            <a:r>
              <a:rPr lang="de-DE" sz="1400"/>
              <a:t>Seite </a:t>
            </a:r>
            <a:fld id="{1009E830-1A31-2046-A084-D1E9F200294C}" type="slidenum">
              <a:rPr lang="de-DE" sz="1400" smtClean="0"/>
              <a:pPr/>
              <a:t>36</a:t>
            </a:fld>
            <a:endParaRPr lang="de-DE" sz="140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AE47B88-0D03-DA75-D5F0-3983FA63C30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EE3BB37-241D-F742-AF57-57B0232CDDCA}" type="datetime1">
              <a:rPr lang="de-DE" sz="1400" smtClean="0"/>
              <a:t>24.06.2024</a:t>
            </a:fld>
            <a:endParaRPr lang="de-DE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F60A87F-7339-4C5B-3B13-30402DE308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>
                <a:latin typeface="Calibri" panose="020F0502020204030204" pitchFamily="34" charset="0"/>
                <a:cs typeface="Calibri" panose="020F0502020204030204" pitchFamily="34" charset="0"/>
              </a:rPr>
              <a:t>Bitte Fußzeile definieren</a:t>
            </a:r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8BABCAB-584D-BF2D-6CD9-08FAB6AE32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1. P</a:t>
            </a:r>
            <a:r>
              <a:rPr lang="en-GB" sz="2000" b="0" dirty="0"/>
              <a:t>arameters for Heating demand calculation</a:t>
            </a:r>
          </a:p>
          <a:p>
            <a:endParaRPr lang="de-DE" dirty="0"/>
          </a:p>
        </p:txBody>
      </p:sp>
      <p:sp>
        <p:nvSpPr>
          <p:cNvPr id="8" name="Titel 5">
            <a:extLst>
              <a:ext uri="{FF2B5EF4-FFF2-40B4-BE49-F238E27FC236}">
                <a16:creationId xmlns:a16="http://schemas.microsoft.com/office/drawing/2014/main" id="{F4C5501A-A242-921A-2DF4-30C603F9E7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0400" y="549275"/>
            <a:ext cx="8854614" cy="358775"/>
          </a:xfrm>
        </p:spPr>
        <p:txBody>
          <a:bodyPr/>
          <a:lstStyle/>
          <a:p>
            <a:r>
              <a:rPr lang="en-US" dirty="0"/>
              <a:t>4. 5. Calculation: Heating demand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D20CDB7D-6707-DDFC-AD14-4EDCC5C7792A}"/>
                  </a:ext>
                </a:extLst>
              </p:cNvPr>
              <p:cNvSpPr>
                <a:spLocks noGrp="1"/>
              </p:cNvSpPr>
              <p:nvPr>
                <p:ph sz="quarter" idx="19"/>
              </p:nvPr>
            </p:nvSpPr>
            <p:spPr>
              <a:xfrm>
                <a:off x="644236" y="1573869"/>
                <a:ext cx="11014364" cy="4598331"/>
              </a:xfrm>
            </p:spPr>
            <p:txBody>
              <a:bodyPr/>
              <a:lstStyle/>
              <a:p>
                <a:r>
                  <a:rPr lang="en-GB" b="0" dirty="0"/>
                  <a:t>Room target temperature: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de-DE" b="0" dirty="0">
                            <a:solidFill>
                              <a:srgbClr val="000000"/>
                            </a:solidFill>
                            <a:latin typeface="Symbol" panose="05050102010706020507" pitchFamily="18" charset="2"/>
                          </a:rPr>
                          <m:t>J</m:t>
                        </m:r>
                      </m:e>
                      <m:sub>
                        <m:r>
                          <a:rPr lang="en-GB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𝑠𝑜𝑙𝑙</m:t>
                        </m:r>
                      </m:sub>
                    </m:sSub>
                    <m:r>
                      <a:rPr lang="en-GB" b="0" i="0" dirty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= 19</m:t>
                    </m:r>
                  </m:oMath>
                </a14:m>
                <a:endParaRPr lang="en-GB" b="0" dirty="0"/>
              </a:p>
              <a:p>
                <a:r>
                  <a:rPr lang="en-GB" b="0" dirty="0"/>
                  <a:t>Reduction factor for temporally restricted heating: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 = 0.95</m:t>
                    </m:r>
                  </m:oMath>
                </a14:m>
                <a:endParaRPr lang="en-GB" b="0" dirty="0"/>
              </a:p>
              <a:p>
                <a:r>
                  <a:rPr lang="en-GB" b="0" dirty="0"/>
                  <a:t>Reduction factor for spatially restricted heating: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 = 1</m:t>
                    </m:r>
                  </m:oMath>
                </a14:m>
                <a:endParaRPr lang="en-GB" b="0" dirty="0"/>
              </a:p>
              <a:p>
                <a:r>
                  <a:rPr lang="en-GB" b="0" dirty="0"/>
                  <a:t>Usage factor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:  </m:t>
                    </m:r>
                    <m:sSub>
                      <m:sSubPr>
                        <m:ctrlPr>
                          <a:rPr lang="en-GB" b="0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err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 = 1</m:t>
                    </m:r>
                  </m:oMath>
                </a14:m>
                <a:endParaRPr lang="en-GB" b="0" dirty="0"/>
              </a:p>
              <a:p>
                <a:r>
                  <a:rPr lang="en-GB" b="0" dirty="0"/>
                  <a:t>Unique factor: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𝑧𝑟𝑛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GB" b="0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err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∗ </m:t>
                    </m:r>
                    <m:sSub>
                      <m:sSubPr>
                        <m:ctrlPr>
                          <a:rPr lang="en-GB" b="0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err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 ∗</m:t>
                    </m:r>
                    <m:sSub>
                      <m:sSubPr>
                        <m:ctrlPr>
                          <a:rPr lang="en-GB" b="0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err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GB" b="0" dirty="0"/>
              </a:p>
              <a:p>
                <a:r>
                  <a:rPr lang="en-GB" b="0" dirty="0"/>
                  <a:t>Efficiency factor for heating: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b="0" i="1" dirty="0" smtClean="0">
                            <a:latin typeface="Cambria Math" panose="02040503050406030204" pitchFamily="18" charset="0"/>
                          </a:rPr>
                          <m:t>η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 = 0.95</m:t>
                    </m:r>
                  </m:oMath>
                </a14:m>
                <a:endParaRPr lang="en-GB" b="0" dirty="0"/>
              </a:p>
            </p:txBody>
          </p:sp>
        </mc:Choice>
        <mc:Fallback xmlns="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D20CDB7D-6707-DDFC-AD14-4EDCC5C779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9"/>
              </p:nvPr>
            </p:nvSpPr>
            <p:spPr>
              <a:xfrm>
                <a:off x="644236" y="1573869"/>
                <a:ext cx="11014364" cy="4598331"/>
              </a:xfrm>
              <a:blipFill>
                <a:blip r:embed="rId3"/>
                <a:stretch>
                  <a:fillRect l="-830" t="-19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2325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5C7391D-51B8-A017-78F9-81651152CF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81349" y="6397467"/>
            <a:ext cx="1649666" cy="828258"/>
          </a:xfrm>
        </p:spPr>
        <p:txBody>
          <a:bodyPr/>
          <a:lstStyle/>
          <a:p>
            <a:r>
              <a:rPr lang="de-DE"/>
              <a:t> </a:t>
            </a:r>
            <a:r>
              <a:rPr lang="de-DE" sz="1400"/>
              <a:t>Seite </a:t>
            </a:r>
            <a:fld id="{1009E830-1A31-2046-A084-D1E9F200294C}" type="slidenum">
              <a:rPr lang="de-DE" sz="1400" smtClean="0"/>
              <a:pPr/>
              <a:t>37</a:t>
            </a:fld>
            <a:endParaRPr lang="de-DE" sz="140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AE47B88-0D03-DA75-D5F0-3983FA63C30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EE3BB37-241D-F742-AF57-57B0232CDDCA}" type="datetime1">
              <a:rPr lang="de-DE" sz="1400" smtClean="0"/>
              <a:t>24.06.2024</a:t>
            </a:fld>
            <a:endParaRPr lang="de-DE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F60A87F-7339-4C5B-3B13-30402DE308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>
                <a:latin typeface="Calibri" panose="020F0502020204030204" pitchFamily="34" charset="0"/>
                <a:cs typeface="Calibri" panose="020F0502020204030204" pitchFamily="34" charset="0"/>
              </a:rPr>
              <a:t>Bitte Fußzeile definieren</a:t>
            </a:r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8BABCAB-584D-BF2D-6CD9-08FAB6AE32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sz="2000" b="0" dirty="0"/>
              <a:t>2. Calculate Ventilation heat loss and Energy-efficient building standard</a:t>
            </a:r>
          </a:p>
          <a:p>
            <a:endParaRPr lang="de-DE" dirty="0"/>
          </a:p>
        </p:txBody>
      </p:sp>
      <p:sp>
        <p:nvSpPr>
          <p:cNvPr id="8" name="Titel 5">
            <a:extLst>
              <a:ext uri="{FF2B5EF4-FFF2-40B4-BE49-F238E27FC236}">
                <a16:creationId xmlns:a16="http://schemas.microsoft.com/office/drawing/2014/main" id="{F4C5501A-A242-921A-2DF4-30C603F9E7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0400" y="549275"/>
            <a:ext cx="8854614" cy="358775"/>
          </a:xfrm>
        </p:spPr>
        <p:txBody>
          <a:bodyPr/>
          <a:lstStyle/>
          <a:p>
            <a:r>
              <a:rPr lang="en-US" dirty="0"/>
              <a:t>4. 5. Calculation: Heating demand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D20CDB7D-6707-DDFC-AD14-4EDCC5C7792A}"/>
                  </a:ext>
                </a:extLst>
              </p:cNvPr>
              <p:cNvSpPr>
                <a:spLocks noGrp="1"/>
              </p:cNvSpPr>
              <p:nvPr>
                <p:ph sz="quarter" idx="19"/>
              </p:nvPr>
            </p:nvSpPr>
            <p:spPr>
              <a:xfrm>
                <a:off x="644236" y="1573869"/>
                <a:ext cx="11014364" cy="4598331"/>
              </a:xfrm>
            </p:spPr>
            <p:txBody>
              <a:bodyPr/>
              <a:lstStyle/>
              <a:p>
                <a:endParaRPr lang="en-GB" b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r>
                  <a:rPr lang="en-GB" b="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Ventilation heat loss: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= 0.34 ∗0.7 ∗ 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𝐴𝑖𝑟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𝑉𝑜𝑙𝑢𝑚𝑒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 (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b="0" dirty="0"/>
              </a:p>
              <a:p>
                <a:endParaRPr lang="en-GB" b="0" dirty="0"/>
              </a:p>
              <a:p>
                <a:r>
                  <a:rPr lang="en-GB" sz="2000" b="0" dirty="0"/>
                  <a:t>With </a:t>
                </a:r>
                <a:r>
                  <a:rPr lang="en-GB" sz="2000" b="0" u="sng" dirty="0"/>
                  <a:t>Transmission heat loss </a:t>
                </a:r>
                <a:r>
                  <a:rPr lang="en-GB" sz="2000" b="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sz="2000" b="0" i="0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000" b="0" dirty="0"/>
                  <a:t>and </a:t>
                </a:r>
                <a:r>
                  <a:rPr lang="en-GB" sz="2000" b="0" u="sng" dirty="0"/>
                  <a:t>Ventilation heat loss</a:t>
                </a:r>
                <a:r>
                  <a:rPr lang="en-GB" sz="2000" b="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a:rPr lang="en-US" sz="2000" b="0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000" b="0" dirty="0"/>
                  <a:t>we can calculate: </a:t>
                </a:r>
              </a:p>
              <a:p>
                <a:endParaRPr lang="en-GB" b="0" dirty="0"/>
              </a:p>
              <a:p>
                <a:pPr marL="457200" lvl="1" indent="0">
                  <a:buNone/>
                </a:pPr>
                <a:r>
                  <a:rPr lang="en-GB" sz="2400" b="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		Energy-efficient building standard</a:t>
                </a:r>
                <a:r>
                  <a:rPr lang="en-GB" sz="2400" b="0" dirty="0"/>
                  <a:t>: </a:t>
                </a:r>
                <a14:m>
                  <m:oMath xmlns:m="http://schemas.openxmlformats.org/officeDocument/2006/math">
                    <m:r>
                      <a:rPr lang="en-GB" sz="2400" b="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GB" sz="2400" b="0" i="1" dirty="0" smtClean="0">
                        <a:latin typeface="Cambria Math" panose="02040503050406030204" pitchFamily="18" charset="0"/>
                      </a:rPr>
                      <m:t> = (</m:t>
                    </m:r>
                    <m:sSub>
                      <m:sSubPr>
                        <m:ctrlPr>
                          <a:rPr lang="en-GB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GB" sz="2400" b="0" i="1" dirty="0" smtClean="0">
                        <a:latin typeface="Cambria Math" panose="02040503050406030204" pitchFamily="18" charset="0"/>
                      </a:rPr>
                      <m:t> + </m:t>
                    </m:r>
                    <m:sSub>
                      <m:sSubPr>
                        <m:ctrlPr>
                          <a:rPr lang="en-GB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a:rPr lang="en-GB" sz="2400" b="0" i="1" dirty="0" smtClean="0">
                        <a:latin typeface="Cambria Math" panose="02040503050406030204" pitchFamily="18" charset="0"/>
                      </a:rPr>
                      <m:t>)/</m:t>
                    </m:r>
                    <m:sSub>
                      <m:sSubPr>
                        <m:ctrlPr>
                          <a:rPr lang="en-GB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sz="2400" b="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GB" sz="24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GB" sz="2400" b="0" dirty="0"/>
              </a:p>
              <a:p>
                <a:pPr marL="457200" lvl="1" indent="0">
                  <a:buNone/>
                </a:pPr>
                <a:endParaRPr lang="en-GB" sz="2400" dirty="0"/>
              </a:p>
              <a:p>
                <a:r>
                  <a:rPr lang="en-GB" sz="2000" b="0" dirty="0"/>
                  <a:t>By  Energy-efficient building standard connect dataset with Climate table from Parameters</a:t>
                </a:r>
                <a:endParaRPr lang="en-GB" sz="2000" dirty="0"/>
              </a:p>
            </p:txBody>
          </p:sp>
        </mc:Choice>
        <mc:Fallback xmlns="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D20CDB7D-6707-DDFC-AD14-4EDCC5C779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9"/>
              </p:nvPr>
            </p:nvSpPr>
            <p:spPr>
              <a:xfrm>
                <a:off x="644236" y="1573869"/>
                <a:ext cx="11014364" cy="4598331"/>
              </a:xfrm>
              <a:blipFill>
                <a:blip r:embed="rId3"/>
                <a:stretch>
                  <a:fillRect l="-8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96095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5C7391D-51B8-A017-78F9-81651152CF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81349" y="6397467"/>
            <a:ext cx="1649666" cy="828258"/>
          </a:xfrm>
        </p:spPr>
        <p:txBody>
          <a:bodyPr/>
          <a:lstStyle/>
          <a:p>
            <a:r>
              <a:rPr lang="de-DE"/>
              <a:t> </a:t>
            </a:r>
            <a:r>
              <a:rPr lang="de-DE" sz="1400"/>
              <a:t>Seite </a:t>
            </a:r>
            <a:fld id="{1009E830-1A31-2046-A084-D1E9F200294C}" type="slidenum">
              <a:rPr lang="de-DE" sz="1400" smtClean="0"/>
              <a:pPr/>
              <a:t>38</a:t>
            </a:fld>
            <a:endParaRPr lang="de-DE" sz="140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AE47B88-0D03-DA75-D5F0-3983FA63C30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EE3BB37-241D-F742-AF57-57B0232CDDCA}" type="datetime1">
              <a:rPr lang="de-DE" sz="1400" smtClean="0"/>
              <a:t>24.06.2024</a:t>
            </a:fld>
            <a:endParaRPr lang="de-DE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F60A87F-7339-4C5B-3B13-30402DE308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>
                <a:latin typeface="Calibri" panose="020F0502020204030204" pitchFamily="34" charset="0"/>
                <a:cs typeface="Calibri" panose="020F0502020204030204" pitchFamily="34" charset="0"/>
              </a:rPr>
              <a:t>Bitte Fußzeile definieren</a:t>
            </a:r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8BABCAB-584D-BF2D-6CD9-08FAB6AE32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3.   </a:t>
            </a:r>
            <a:r>
              <a:rPr lang="en-GB" b="0" dirty="0"/>
              <a:t>Calculation of Heating demand </a:t>
            </a:r>
          </a:p>
        </p:txBody>
      </p:sp>
      <p:sp>
        <p:nvSpPr>
          <p:cNvPr id="8" name="Titel 5">
            <a:extLst>
              <a:ext uri="{FF2B5EF4-FFF2-40B4-BE49-F238E27FC236}">
                <a16:creationId xmlns:a16="http://schemas.microsoft.com/office/drawing/2014/main" id="{F4C5501A-A242-921A-2DF4-30C603F9E7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0400" y="549275"/>
            <a:ext cx="8854614" cy="358775"/>
          </a:xfrm>
        </p:spPr>
        <p:txBody>
          <a:bodyPr/>
          <a:lstStyle/>
          <a:p>
            <a:r>
              <a:rPr lang="en-US" dirty="0"/>
              <a:t>4. 5. Calculation: Heating demand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D20CDB7D-6707-DDFC-AD14-4EDCC5C7792A}"/>
                  </a:ext>
                </a:extLst>
              </p:cNvPr>
              <p:cNvSpPr>
                <a:spLocks noGrp="1"/>
              </p:cNvSpPr>
              <p:nvPr>
                <p:ph sz="quarter" idx="19"/>
              </p:nvPr>
            </p:nvSpPr>
            <p:spPr>
              <a:xfrm>
                <a:off x="644236" y="1573869"/>
                <a:ext cx="11014364" cy="4598331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GB" sz="2000" b="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Calculate degree day factor: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dirty="0" smtClean="0">
                            <a:effectLst/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GB" sz="2000" b="0" i="1" dirty="0" smtClean="0">
                            <a:effectLst/>
                            <a:latin typeface="Cambria Math" panose="02040503050406030204" pitchFamily="18" charset="0"/>
                          </a:rPr>
                          <m:t>𝐺𝑇</m:t>
                        </m:r>
                      </m:sub>
                    </m:sSub>
                    <m:r>
                      <a:rPr lang="en-GB" sz="2000" b="0" i="1" dirty="0" smtClean="0">
                        <a:effectLst/>
                        <a:latin typeface="Cambria Math" panose="02040503050406030204" pitchFamily="18" charset="0"/>
                      </a:rPr>
                      <m:t> = (</m:t>
                    </m:r>
                    <m:sSub>
                      <m:sSubPr>
                        <m:ctrlPr>
                          <a:rPr lang="en-GB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DE" sz="2000" b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ϑ</m:t>
                        </m:r>
                      </m:e>
                      <m:sub>
                        <m:r>
                          <a:rPr lang="en-GB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𝑆𝑜𝑙𝑙</m:t>
                        </m:r>
                      </m:sub>
                    </m:sSub>
                    <m:r>
                      <a:rPr lang="en-GB" sz="2000" b="0" i="1" dirty="0" smtClean="0">
                        <a:effectLst/>
                        <a:latin typeface="Cambria Math" panose="02040503050406030204" pitchFamily="18" charset="0"/>
                      </a:rPr>
                      <m:t>  – </m:t>
                    </m:r>
                    <m:sSub>
                      <m:sSubPr>
                        <m:ctrlPr>
                          <a:rPr lang="en-GB" sz="2000" b="0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DE" sz="2000" b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ϑ</m:t>
                        </m:r>
                      </m:e>
                      <m:sub>
                        <m:r>
                          <a:rPr lang="en-GB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GB" sz="2000" b="0" i="1" dirty="0" smtClean="0">
                        <a:effectLst/>
                        <a:latin typeface="Cambria Math" panose="02040503050406030204" pitchFamily="18" charset="0"/>
                      </a:rPr>
                      <m:t>)∗</m:t>
                    </m:r>
                    <m:sSub>
                      <m:sSubPr>
                        <m:ctrlPr>
                          <a:rPr lang="en-GB" sz="2000" b="0" i="1" dirty="0" err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dirty="0" err="1" smtClean="0">
                            <a:effectLst/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GB" sz="2000" b="0" i="1" dirty="0" err="1" smtClean="0">
                            <a:effectLst/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GB" sz="2000" b="0" i="1" dirty="0" smtClean="0">
                            <a:effectLst/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GB" sz="2000" b="0" i="1" dirty="0" smtClean="0">
                        <a:effectLst/>
                        <a:latin typeface="Cambria Math" panose="02040503050406030204" pitchFamily="18" charset="0"/>
                      </a:rPr>
                      <m:t> ∗ 0.024</m:t>
                    </m:r>
                  </m:oMath>
                </a14:m>
                <a:endParaRPr lang="en-GB" sz="2000" b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GB" sz="2000" b="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Calculate Heat loss: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 = (</m:t>
                    </m:r>
                    <m:sSub>
                      <m:sSubPr>
                        <m:ctrlPr>
                          <a:rPr lang="en-GB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 + </m:t>
                    </m:r>
                    <m:sSub>
                      <m:sSubPr>
                        <m:ctrlPr>
                          <a:rPr lang="en-GB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) ∗ </m:t>
                    </m:r>
                    <m:sSub>
                      <m:sSubPr>
                        <m:ctrlPr>
                          <a:rPr lang="en-GB" sz="2000" b="0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dirty="0" err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GB" sz="2000" b="0" i="1" dirty="0" err="1" smtClean="0">
                            <a:latin typeface="Cambria Math" panose="02040503050406030204" pitchFamily="18" charset="0"/>
                          </a:rPr>
                          <m:t>𝑧𝑟</m:t>
                        </m:r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 ∗</m:t>
                    </m:r>
                    <m:sSub>
                      <m:sSubPr>
                        <m:ctrlPr>
                          <a:rPr lang="en-GB" sz="2000" b="0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dirty="0" err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GB" sz="2000" b="0" i="1" dirty="0" err="1" smtClean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endParaRPr lang="en-GB" sz="2000" b="0" dirty="0"/>
              </a:p>
              <a:p>
                <a:pPr lvl="1">
                  <a:lnSpc>
                    <a:spcPct val="150000"/>
                  </a:lnSpc>
                </a:pPr>
                <a:r>
                  <a:rPr lang="en-GB" sz="1600" b="0" i="1" dirty="0"/>
                  <a:t>(Transmission heat loss + Ventilation heat loss) * Reduction factor * Degree day factor</a:t>
                </a:r>
              </a:p>
              <a:p>
                <a:pPr>
                  <a:lnSpc>
                    <a:spcPct val="150000"/>
                  </a:lnSpc>
                </a:pPr>
                <a:r>
                  <a:rPr lang="en-GB" sz="2000" b="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Calculate Solar heat input (windows):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dirty="0" smtClean="0">
                            <a:effectLst/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GB" sz="2000" b="0" i="1" dirty="0" smtClean="0">
                            <a:effectLst/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GB" sz="2000" b="0" i="1" dirty="0" smtClean="0">
                        <a:effectLst/>
                        <a:latin typeface="Cambria Math" panose="02040503050406030204" pitchFamily="18" charset="0"/>
                      </a:rPr>
                      <m:t> = 0.486 ∗</m:t>
                    </m:r>
                    <m:sSub>
                      <m:sSubPr>
                        <m:ctrlPr>
                          <a:rPr lang="en-GB" sz="2000" b="0" i="1" dirty="0" err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dirty="0" err="1" smtClean="0">
                            <a:effectLst/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GB" sz="2000" b="0" i="1" dirty="0" err="1" smtClean="0">
                            <a:effectLst/>
                            <a:latin typeface="Cambria Math" panose="02040503050406030204" pitchFamily="18" charset="0"/>
                          </a:rPr>
                          <m:t>𝐹𝑒</m:t>
                        </m:r>
                        <m:r>
                          <a:rPr lang="en-GB" sz="2000" b="0" i="1" dirty="0" smtClean="0">
                            <a:effectLst/>
                            <a:latin typeface="Cambria Math" panose="02040503050406030204" pitchFamily="18" charset="0"/>
                          </a:rPr>
                          <m:t>𝑂</m:t>
                        </m:r>
                      </m:sub>
                    </m:sSub>
                    <m:r>
                      <a:rPr lang="en-GB" sz="2000" b="0" i="1" dirty="0"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b="0" i="1" dirty="0" smtClean="0">
                        <a:effectLst/>
                        <a:latin typeface="Cambria Math" panose="02040503050406030204" pitchFamily="18" charset="0"/>
                      </a:rPr>
                      <m:t>∗</m:t>
                    </m:r>
                    <m:r>
                      <a:rPr lang="en-GB" sz="2000" b="0" i="1" dirty="0">
                        <a:effectLst/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GB" sz="2000" b="0" i="1" dirty="0" err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dirty="0" err="1" smtClean="0"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sz="2000" b="0" i="1" dirty="0" err="1" smtClean="0">
                            <a:effectLst/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GB" sz="2000" b="0" i="1" dirty="0" smtClean="0">
                            <a:effectLst/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GB" sz="2000" b="0" i="1" dirty="0"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b="0" i="1" dirty="0" smtClean="0">
                        <a:effectLst/>
                        <a:latin typeface="Cambria Math" panose="02040503050406030204" pitchFamily="18" charset="0"/>
                      </a:rPr>
                      <m:t>∗</m:t>
                    </m:r>
                    <m:r>
                      <a:rPr lang="en-GB" sz="2000" b="0" i="1" dirty="0">
                        <a:effectLst/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GB" sz="2000" b="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DE" sz="2000" b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ϑ</m:t>
                        </m:r>
                      </m:e>
                      <m:sub>
                        <m:r>
                          <a:rPr lang="de-DE" sz="2000" b="0" i="1" baseline="-2500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𝑆𝑡𝑟𝑎h𝑙𝑢𝑛</m:t>
                        </m:r>
                        <m:r>
                          <a:rPr lang="en-GB" sz="2000" b="0" i="1" baseline="-2500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endParaRPr lang="en-GB" sz="2000" b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en-GB" sz="1600" b="0" i="1" dirty="0"/>
                  <a:t>Reduction factors * G-value windows * Windows area(m2) * Global radiation heating period(kWh/m2a)</a:t>
                </a:r>
              </a:p>
              <a:p>
                <a:pPr>
                  <a:lnSpc>
                    <a:spcPct val="150000"/>
                  </a:lnSpc>
                </a:pPr>
                <a:r>
                  <a:rPr lang="en-GB" sz="2000" b="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Internal heat source: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 = 0.024 ∗5 ∗ </m:t>
                    </m:r>
                    <m:sSub>
                      <m:sSubPr>
                        <m:ctrlPr>
                          <a:rPr lang="en-GB" sz="2000" b="0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dirty="0" err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GB" sz="2000" b="0" i="1" dirty="0" err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 ∗ </m:t>
                    </m:r>
                    <m:sSub>
                      <m:sSubPr>
                        <m:ctrlPr>
                          <a:rPr lang="en-GB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𝐸𝐵</m:t>
                        </m:r>
                      </m:sub>
                    </m:sSub>
                  </m:oMath>
                </a14:m>
                <a:endParaRPr lang="en-GB" sz="2000" b="0" dirty="0"/>
              </a:p>
              <a:p>
                <a:pPr lvl="1">
                  <a:lnSpc>
                    <a:spcPct val="150000"/>
                  </a:lnSpc>
                </a:pPr>
                <a:r>
                  <a:rPr lang="en-GB" sz="1600" b="0" i="1" dirty="0"/>
                  <a:t>Transformation factor to kWh/a * 5 * Length of the heating period * Energy reference area</a:t>
                </a:r>
              </a:p>
              <a:p>
                <a:pPr>
                  <a:lnSpc>
                    <a:spcPct val="150000"/>
                  </a:lnSpc>
                </a:pPr>
                <a:r>
                  <a:rPr lang="en-GB" b="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Heating demand for occupied area: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effectLst/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GB" b="0" i="1" dirty="0" smtClean="0">
                            <a:effectLst/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a:rPr lang="en-GB" b="0" i="1" dirty="0" smtClean="0">
                        <a:effectLst/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GB" b="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effectLst/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GB" b="0" i="1" dirty="0" smtClean="0">
                            <a:effectLst/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GB" b="0" i="1" dirty="0" smtClean="0">
                        <a:effectLst/>
                        <a:latin typeface="Cambria Math" panose="02040503050406030204" pitchFamily="18" charset="0"/>
                      </a:rPr>
                      <m:t> –</m:t>
                    </m:r>
                    <m:sSub>
                      <m:sSubPr>
                        <m:ctrlPr>
                          <a:rPr lang="en-GB" b="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b="0" i="1" dirty="0" smtClean="0">
                            <a:effectLst/>
                            <a:latin typeface="Cambria Math" panose="02040503050406030204" pitchFamily="18" charset="0"/>
                          </a:rPr>
                          <m:t>η</m:t>
                        </m:r>
                      </m:e>
                      <m:sub>
                        <m:r>
                          <a:rPr lang="en-GB" b="0" i="1" dirty="0" smtClean="0">
                            <a:effectLst/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GB" b="0" i="1" dirty="0" smtClean="0">
                        <a:effectLst/>
                        <a:latin typeface="Cambria Math" panose="02040503050406030204" pitchFamily="18" charset="0"/>
                      </a:rPr>
                      <m:t> ∗(</m:t>
                    </m:r>
                    <m:f>
                      <m:fPr>
                        <m:ctrlPr>
                          <a:rPr lang="en-GB" b="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b="0" i="1" dirty="0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dirty="0" smtClean="0">
                                <a:effectLst/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GB" b="0" i="1" dirty="0" smtClean="0">
                                <a:effectLst/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  <m:r>
                          <a:rPr lang="en-GB" b="0" i="1" dirty="0" smtClean="0">
                            <a:effectLst/>
                            <a:latin typeface="Cambria Math" panose="02040503050406030204" pitchFamily="18" charset="0"/>
                          </a:rPr>
                          <m:t> + </m:t>
                        </m:r>
                        <m:sSub>
                          <m:sSubPr>
                            <m:ctrlPr>
                              <a:rPr lang="en-GB" b="0" i="1" dirty="0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dirty="0" smtClean="0">
                                <a:effectLst/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GB" b="0" i="1" dirty="0" smtClean="0">
                                <a:effectLst/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GB" b="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GB" b="0" i="1" dirty="0">
                                <a:latin typeface="Cambria Math" panose="02040503050406030204" pitchFamily="18" charset="0"/>
                              </a:rPr>
                              <m:t>𝐸𝐵</m:t>
                            </m:r>
                          </m:sub>
                        </m:sSub>
                      </m:den>
                    </m:f>
                    <m:r>
                      <a:rPr lang="en-GB" b="0" i="1" dirty="0" smtClean="0">
                        <a:effectLst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000" b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D20CDB7D-6707-DDFC-AD14-4EDCC5C779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9"/>
              </p:nvPr>
            </p:nvSpPr>
            <p:spPr>
              <a:xfrm>
                <a:off x="644236" y="1573869"/>
                <a:ext cx="11014364" cy="4598331"/>
              </a:xfrm>
              <a:blipFill>
                <a:blip r:embed="rId3"/>
                <a:stretch>
                  <a:fillRect l="-8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73645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A72EB7-AA5B-1429-00BA-48ED7FB202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5. </a:t>
            </a:r>
            <a:r>
              <a:rPr lang="en-GB" dirty="0"/>
              <a:t>Final energy demand calculation 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US" dirty="0"/>
              <a:t> 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3BC43C2-A869-CE2C-9106-C4E6F49D75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0399" y="1060778"/>
            <a:ext cx="11226970" cy="431200"/>
          </a:xfrm>
        </p:spPr>
        <p:txBody>
          <a:bodyPr/>
          <a:lstStyle/>
          <a:p>
            <a:r>
              <a:rPr lang="en-US" dirty="0"/>
              <a:t>Calculation based on heating parameters 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7188BE9-386B-F9E0-6F1D-D1BE29066199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78628" y="2005460"/>
            <a:ext cx="10579922" cy="3808079"/>
          </a:xfrm>
        </p:spPr>
        <p:txBody>
          <a:bodyPr/>
          <a:lstStyle/>
          <a:p>
            <a:r>
              <a:rPr lang="en-US" dirty="0"/>
              <a:t>1. Hot water parameter</a:t>
            </a:r>
          </a:p>
          <a:p>
            <a:r>
              <a:rPr lang="en-US" dirty="0"/>
              <a:t>2. Heating parameter</a:t>
            </a:r>
          </a:p>
          <a:p>
            <a:r>
              <a:rPr lang="en-US" dirty="0"/>
              <a:t>3. Final energy demand calculation</a:t>
            </a:r>
          </a:p>
          <a:p>
            <a:r>
              <a:rPr lang="en-US" dirty="0"/>
              <a:t>4. Cost calculation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55BB8CA-641A-0B44-F073-2B5426D2D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> </a:t>
            </a:r>
            <a:r>
              <a:rPr lang="de-DE" sz="1400"/>
              <a:t>Seite </a:t>
            </a:r>
            <a:fld id="{1009E830-1A31-2046-A084-D1E9F200294C}" type="slidenum">
              <a:rPr lang="de-DE" sz="1400" smtClean="0"/>
              <a:pPr/>
              <a:t>39</a:t>
            </a:fld>
            <a:endParaRPr lang="de-DE" sz="1400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EFED6B2-634C-7217-4059-22297E5F476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AF834C9-8FDB-D443-8511-FA2B85B454AC}" type="datetime1">
              <a:rPr lang="de-DE" sz="1400" smtClean="0"/>
              <a:t>24.06.2024</a:t>
            </a:fld>
            <a:endParaRPr lang="de-DE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8FFFFE7-117A-4160-812E-E6D8B5BC69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>
                <a:latin typeface="Calibri" panose="020F0502020204030204" pitchFamily="34" charset="0"/>
                <a:cs typeface="Calibri" panose="020F0502020204030204" pitchFamily="34" charset="0"/>
              </a:rPr>
              <a:t>Bitte Fußzeile definieren</a:t>
            </a:r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Inhaltsplatzhalter 3">
            <a:extLst>
              <a:ext uri="{FF2B5EF4-FFF2-40B4-BE49-F238E27FC236}">
                <a16:creationId xmlns:a16="http://schemas.microsoft.com/office/drawing/2014/main" id="{EC017B77-1D08-E35D-E02F-C148B85783F6}"/>
              </a:ext>
            </a:extLst>
          </p:cNvPr>
          <p:cNvSpPr txBox="1">
            <a:spLocks/>
          </p:cNvSpPr>
          <p:nvPr/>
        </p:nvSpPr>
        <p:spPr>
          <a:xfrm>
            <a:off x="5640637" y="1989136"/>
            <a:ext cx="6147411" cy="3808079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Lucida Grande" panose="020B0600040502020204" pitchFamily="34" charset="0"/>
              <a:buChar char="▸"/>
              <a:defRPr sz="2400" b="1" i="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Lucida Grande" panose="020B0600040502020204" pitchFamily="34" charset="0"/>
              <a:buChar char="▸"/>
              <a:defRPr sz="2000" b="0" i="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Lucida Grande" panose="020B0600040502020204" pitchFamily="34" charset="0"/>
              <a:buChar char="▸"/>
              <a:defRPr sz="1600" b="0" i="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Lucida Grande" panose="020B0600040502020204" pitchFamily="34" charset="0"/>
              <a:buChar char="▸"/>
              <a:defRPr sz="1600" b="0" i="0" kern="120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Lucida Grande" panose="020B0600040502020204" pitchFamily="34" charset="0"/>
              <a:buChar char="▸"/>
              <a:defRPr sz="1600" b="0" i="0" kern="120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01400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A72EB7-AA5B-1429-00BA-48ED7FB202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5. </a:t>
            </a:r>
            <a:r>
              <a:rPr lang="en-GB" dirty="0"/>
              <a:t>Final energy demand calculation 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US" dirty="0"/>
              <a:t> 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3BC43C2-A869-CE2C-9106-C4E6F49D75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0399" y="1060778"/>
            <a:ext cx="11226970" cy="431200"/>
          </a:xfrm>
        </p:spPr>
        <p:txBody>
          <a:bodyPr/>
          <a:lstStyle/>
          <a:p>
            <a:r>
              <a:rPr lang="en-US" dirty="0"/>
              <a:t>1. Hot water parameter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7188BE9-386B-F9E0-6F1D-D1BE29066199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78628" y="1828800"/>
            <a:ext cx="10579922" cy="3984739"/>
          </a:xfrm>
        </p:spPr>
        <p:txBody>
          <a:bodyPr/>
          <a:lstStyle/>
          <a:p>
            <a:r>
              <a:rPr lang="en-US" b="0" dirty="0"/>
              <a:t>Define </a:t>
            </a:r>
            <a:r>
              <a:rPr lang="en-US" dirty="0"/>
              <a:t>No. of heated floors </a:t>
            </a:r>
            <a:r>
              <a:rPr lang="en-US" b="0" dirty="0"/>
              <a:t>and </a:t>
            </a:r>
            <a:r>
              <a:rPr lang="en-US" dirty="0"/>
              <a:t>No. of residential units </a:t>
            </a:r>
            <a:r>
              <a:rPr lang="en-US" b="0" dirty="0"/>
              <a:t>for hot water production</a:t>
            </a:r>
          </a:p>
          <a:p>
            <a:r>
              <a:rPr lang="en-US" b="0" dirty="0"/>
              <a:t>And with defined </a:t>
            </a:r>
            <a:r>
              <a:rPr lang="en-GB" b="0" dirty="0"/>
              <a:t>defined </a:t>
            </a:r>
            <a:r>
              <a:rPr lang="en-GB" dirty="0"/>
              <a:t>technology</a:t>
            </a:r>
            <a:r>
              <a:rPr lang="en-GB" b="0" dirty="0"/>
              <a:t> used by HH from script 3</a:t>
            </a:r>
          </a:p>
          <a:p>
            <a:r>
              <a:rPr lang="en-GB" b="0" dirty="0"/>
              <a:t>Get data from Parameters table:</a:t>
            </a:r>
          </a:p>
          <a:p>
            <a:pPr lvl="1"/>
            <a:r>
              <a:rPr lang="en-GB" sz="1800" i="1" dirty="0">
                <a:solidFill>
                  <a:srgbClr val="10A1D1"/>
                </a:solidFill>
              </a:rPr>
              <a:t>Hot water distribution</a:t>
            </a:r>
            <a:r>
              <a:rPr lang="en-GB" sz="1800" i="1" dirty="0"/>
              <a:t>: Heat loss &amp; </a:t>
            </a:r>
            <a:r>
              <a:rPr lang="de-DE" sz="1800" i="1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Auxiliary</a:t>
            </a:r>
            <a:r>
              <a:rPr lang="de-DE" sz="1800" i="1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de-DE" sz="1800" i="1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energy</a:t>
            </a:r>
            <a:r>
              <a:rPr lang="de-DE" sz="1800" i="1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de-DE" sz="1800" i="1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requirement</a:t>
            </a:r>
            <a:endParaRPr lang="en-GB" sz="1800" i="1" dirty="0"/>
          </a:p>
          <a:p>
            <a:pPr lvl="1"/>
            <a:r>
              <a:rPr lang="en-GB" sz="1800" i="1" dirty="0">
                <a:solidFill>
                  <a:srgbClr val="10A1D1"/>
                </a:solidFill>
              </a:rPr>
              <a:t>Hot water storage</a:t>
            </a:r>
            <a:r>
              <a:rPr lang="en-GB" sz="1800" i="1" dirty="0"/>
              <a:t>: Heat loss &amp; </a:t>
            </a:r>
            <a:r>
              <a:rPr lang="de-DE" sz="1800" i="1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Auxiliary</a:t>
            </a:r>
            <a:r>
              <a:rPr lang="de-DE" sz="1800" i="1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de-DE" sz="1800" i="1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energy</a:t>
            </a:r>
            <a:r>
              <a:rPr lang="de-DE" sz="1800" i="1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de-DE" sz="1800" i="1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requirement</a:t>
            </a:r>
            <a:endParaRPr lang="en-GB" sz="1800" i="1" dirty="0"/>
          </a:p>
          <a:p>
            <a:pPr lvl="1"/>
            <a:r>
              <a:rPr lang="en-GB" sz="1800" i="1" dirty="0">
                <a:solidFill>
                  <a:srgbClr val="10A1D1"/>
                </a:solidFill>
              </a:rPr>
              <a:t>Hot water generation</a:t>
            </a:r>
            <a:r>
              <a:rPr lang="en-GB" sz="1800" i="1" dirty="0"/>
              <a:t>: </a:t>
            </a:r>
            <a:r>
              <a:rPr lang="de-DE" sz="1800" i="1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Producer </a:t>
            </a:r>
            <a:r>
              <a:rPr lang="de-DE" sz="1800" i="1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effort</a:t>
            </a:r>
            <a:r>
              <a:rPr lang="de-DE" sz="1800" i="1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de-DE" sz="1800" i="1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figure</a:t>
            </a:r>
            <a:r>
              <a:rPr lang="de-DE" sz="1800" i="1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&amp; </a:t>
            </a:r>
            <a:r>
              <a:rPr lang="de-DE" sz="1800" i="1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Auxiliary</a:t>
            </a:r>
            <a:r>
              <a:rPr lang="de-DE" sz="1800" i="1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de-DE" sz="1800" i="1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energy</a:t>
            </a:r>
            <a:r>
              <a:rPr lang="de-DE" sz="1800" i="1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de-DE" sz="1800" i="1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requirement</a:t>
            </a:r>
            <a:endParaRPr lang="en-US" sz="1800" i="1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55BB8CA-641A-0B44-F073-2B5426D2D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> </a:t>
            </a:r>
            <a:r>
              <a:rPr lang="de-DE" sz="1400"/>
              <a:t>Seite </a:t>
            </a:r>
            <a:fld id="{1009E830-1A31-2046-A084-D1E9F200294C}" type="slidenum">
              <a:rPr lang="de-DE" sz="1400" smtClean="0"/>
              <a:pPr/>
              <a:t>40</a:t>
            </a:fld>
            <a:endParaRPr lang="de-DE" sz="1400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EFED6B2-634C-7217-4059-22297E5F476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AF834C9-8FDB-D443-8511-FA2B85B454AC}" type="datetime1">
              <a:rPr lang="de-DE" sz="1400" smtClean="0"/>
              <a:t>24.06.2024</a:t>
            </a:fld>
            <a:endParaRPr lang="de-DE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8FFFFE7-117A-4160-812E-E6D8B5BC69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>
                <a:latin typeface="Calibri" panose="020F0502020204030204" pitchFamily="34" charset="0"/>
                <a:cs typeface="Calibri" panose="020F0502020204030204" pitchFamily="34" charset="0"/>
              </a:rPr>
              <a:t>Bitte Fußzeile definieren</a:t>
            </a:r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Inhaltsplatzhalter 3">
            <a:extLst>
              <a:ext uri="{FF2B5EF4-FFF2-40B4-BE49-F238E27FC236}">
                <a16:creationId xmlns:a16="http://schemas.microsoft.com/office/drawing/2014/main" id="{EC017B77-1D08-E35D-E02F-C148B85783F6}"/>
              </a:ext>
            </a:extLst>
          </p:cNvPr>
          <p:cNvSpPr txBox="1">
            <a:spLocks/>
          </p:cNvSpPr>
          <p:nvPr/>
        </p:nvSpPr>
        <p:spPr>
          <a:xfrm>
            <a:off x="5640637" y="1989136"/>
            <a:ext cx="6147411" cy="3808079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Lucida Grande" panose="020B0600040502020204" pitchFamily="34" charset="0"/>
              <a:buChar char="▸"/>
              <a:defRPr sz="2400" b="1" i="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Lucida Grande" panose="020B0600040502020204" pitchFamily="34" charset="0"/>
              <a:buChar char="▸"/>
              <a:defRPr sz="2000" b="0" i="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Lucida Grande" panose="020B0600040502020204" pitchFamily="34" charset="0"/>
              <a:buChar char="▸"/>
              <a:defRPr sz="1600" b="0" i="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Lucida Grande" panose="020B0600040502020204" pitchFamily="34" charset="0"/>
              <a:buChar char="▸"/>
              <a:defRPr sz="1600" b="0" i="0" kern="120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Lucida Grande" panose="020B0600040502020204" pitchFamily="34" charset="0"/>
              <a:buChar char="▸"/>
              <a:defRPr sz="1600" b="0" i="0" kern="120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6461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A72EB7-AA5B-1429-00BA-48ED7FB202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5. </a:t>
            </a:r>
            <a:r>
              <a:rPr lang="en-GB" dirty="0"/>
              <a:t>Final energy demand calculation 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US" dirty="0"/>
              <a:t> 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3BC43C2-A869-CE2C-9106-C4E6F49D75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0399" y="1060778"/>
            <a:ext cx="11226970" cy="431200"/>
          </a:xfrm>
        </p:spPr>
        <p:txBody>
          <a:bodyPr/>
          <a:lstStyle/>
          <a:p>
            <a:r>
              <a:rPr lang="en-US" dirty="0"/>
              <a:t>2. Heating parameter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7188BE9-386B-F9E0-6F1D-D1BE29066199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78628" y="1491978"/>
            <a:ext cx="10579922" cy="5085467"/>
          </a:xfrm>
        </p:spPr>
        <p:txBody>
          <a:bodyPr/>
          <a:lstStyle/>
          <a:p>
            <a:r>
              <a:rPr lang="en-US" b="0" dirty="0"/>
              <a:t>Define </a:t>
            </a:r>
            <a:r>
              <a:rPr lang="en-US" dirty="0"/>
              <a:t>No. of heated floors </a:t>
            </a:r>
            <a:r>
              <a:rPr lang="en-US" b="0" dirty="0"/>
              <a:t>and </a:t>
            </a:r>
            <a:r>
              <a:rPr lang="en-US" dirty="0"/>
              <a:t>No. of residential units </a:t>
            </a:r>
            <a:r>
              <a:rPr lang="en-US" b="0" dirty="0"/>
              <a:t>for room heating </a:t>
            </a:r>
          </a:p>
          <a:p>
            <a:r>
              <a:rPr lang="en-US" b="0" dirty="0"/>
              <a:t>And with defined </a:t>
            </a:r>
            <a:r>
              <a:rPr lang="en-GB" b="0" dirty="0"/>
              <a:t>defined </a:t>
            </a:r>
            <a:r>
              <a:rPr lang="en-GB" dirty="0"/>
              <a:t>technology</a:t>
            </a:r>
            <a:r>
              <a:rPr lang="en-GB" b="0" dirty="0"/>
              <a:t> used by HH from script 3</a:t>
            </a:r>
          </a:p>
          <a:p>
            <a:r>
              <a:rPr lang="en-GB" b="0" dirty="0"/>
              <a:t>Get data from Parameters table:</a:t>
            </a:r>
          </a:p>
          <a:p>
            <a:pPr lvl="1"/>
            <a:r>
              <a:rPr lang="en-GB" i="1" dirty="0">
                <a:solidFill>
                  <a:srgbClr val="10A1D1"/>
                </a:solidFill>
              </a:rPr>
              <a:t>Hot water distribution</a:t>
            </a:r>
            <a:r>
              <a:rPr lang="en-GB" i="1" dirty="0"/>
              <a:t>: </a:t>
            </a:r>
            <a:r>
              <a:rPr lang="en-US" i="1" dirty="0"/>
              <a:t>Heating credit</a:t>
            </a:r>
          </a:p>
          <a:p>
            <a:pPr lvl="1"/>
            <a:r>
              <a:rPr lang="en-US" i="1" dirty="0">
                <a:solidFill>
                  <a:srgbClr val="10A1D1"/>
                </a:solidFill>
              </a:rPr>
              <a:t>Hot water storage</a:t>
            </a:r>
            <a:r>
              <a:rPr lang="en-US" i="1" dirty="0"/>
              <a:t>: Heating credit</a:t>
            </a:r>
          </a:p>
          <a:p>
            <a:pPr lvl="1"/>
            <a:r>
              <a:rPr lang="en-GB" i="1" dirty="0">
                <a:solidFill>
                  <a:srgbClr val="C32B0D"/>
                </a:solidFill>
              </a:rPr>
              <a:t>Heating transfer</a:t>
            </a:r>
            <a:r>
              <a:rPr lang="en-US" i="1" dirty="0"/>
              <a:t>: Heat loss &amp; </a:t>
            </a:r>
            <a:r>
              <a:rPr lang="de-DE" i="1" dirty="0" err="1"/>
              <a:t>Auxiliary</a:t>
            </a:r>
            <a:r>
              <a:rPr lang="de-DE" i="1" dirty="0"/>
              <a:t> </a:t>
            </a:r>
            <a:r>
              <a:rPr lang="de-DE" i="1" dirty="0" err="1"/>
              <a:t>energy</a:t>
            </a:r>
            <a:r>
              <a:rPr lang="de-DE" i="1" dirty="0"/>
              <a:t> </a:t>
            </a:r>
            <a:r>
              <a:rPr lang="de-DE" i="1" dirty="0" err="1"/>
              <a:t>requirement</a:t>
            </a:r>
            <a:endParaRPr lang="en-US" i="1" dirty="0"/>
          </a:p>
          <a:p>
            <a:pPr lvl="1"/>
            <a:r>
              <a:rPr lang="en-US" i="1" dirty="0">
                <a:solidFill>
                  <a:srgbClr val="C32B0D"/>
                </a:solidFill>
              </a:rPr>
              <a:t>Heat distribution</a:t>
            </a:r>
            <a:r>
              <a:rPr lang="en-US" i="1" dirty="0"/>
              <a:t>: Heat loss &amp; </a:t>
            </a:r>
            <a:r>
              <a:rPr lang="de-DE" i="1" dirty="0" err="1"/>
              <a:t>Auxiliary</a:t>
            </a:r>
            <a:r>
              <a:rPr lang="de-DE" i="1" dirty="0"/>
              <a:t> </a:t>
            </a:r>
            <a:r>
              <a:rPr lang="de-DE" i="1" dirty="0" err="1"/>
              <a:t>energy</a:t>
            </a:r>
            <a:r>
              <a:rPr lang="de-DE" i="1" dirty="0"/>
              <a:t> </a:t>
            </a:r>
            <a:r>
              <a:rPr lang="de-DE" i="1" dirty="0" err="1"/>
              <a:t>requirement</a:t>
            </a:r>
            <a:endParaRPr lang="en-US" i="1" dirty="0"/>
          </a:p>
          <a:p>
            <a:pPr lvl="1"/>
            <a:r>
              <a:rPr lang="en-US" i="1" dirty="0">
                <a:solidFill>
                  <a:srgbClr val="C32B0D"/>
                </a:solidFill>
              </a:rPr>
              <a:t>Heat storage</a:t>
            </a:r>
            <a:r>
              <a:rPr lang="en-US" i="1" dirty="0"/>
              <a:t>: Heat loss &amp; </a:t>
            </a:r>
            <a:r>
              <a:rPr lang="de-DE" i="1" dirty="0" err="1"/>
              <a:t>Auxiliary</a:t>
            </a:r>
            <a:r>
              <a:rPr lang="de-DE" i="1" dirty="0"/>
              <a:t> </a:t>
            </a:r>
            <a:r>
              <a:rPr lang="de-DE" i="1" dirty="0" err="1"/>
              <a:t>energy</a:t>
            </a:r>
            <a:r>
              <a:rPr lang="de-DE" i="1" dirty="0"/>
              <a:t> </a:t>
            </a:r>
            <a:r>
              <a:rPr lang="de-DE" i="1" dirty="0" err="1"/>
              <a:t>requirement</a:t>
            </a:r>
            <a:endParaRPr lang="en-US" i="1" dirty="0"/>
          </a:p>
          <a:p>
            <a:pPr lvl="1"/>
            <a:r>
              <a:rPr lang="en-US" i="1" dirty="0">
                <a:solidFill>
                  <a:srgbClr val="C32B0D"/>
                </a:solidFill>
              </a:rPr>
              <a:t>Heat generation</a:t>
            </a:r>
            <a:r>
              <a:rPr lang="en-US" i="1" dirty="0"/>
              <a:t>: </a:t>
            </a:r>
            <a:r>
              <a:rPr lang="de-DE" i="1" u="none" strike="noStrike" dirty="0">
                <a:effectLst/>
                <a:latin typeface="Calibri" panose="020F0502020204030204" pitchFamily="34" charset="0"/>
              </a:rPr>
              <a:t>Producer </a:t>
            </a:r>
            <a:r>
              <a:rPr lang="de-DE" i="1" u="none" strike="noStrike" dirty="0" err="1">
                <a:effectLst/>
                <a:latin typeface="Calibri" panose="020F0502020204030204" pitchFamily="34" charset="0"/>
              </a:rPr>
              <a:t>effort</a:t>
            </a:r>
            <a:r>
              <a:rPr lang="de-DE" i="1" u="none" strike="noStrike" dirty="0">
                <a:effectLst/>
                <a:latin typeface="Calibri" panose="020F0502020204030204" pitchFamily="34" charset="0"/>
              </a:rPr>
              <a:t> </a:t>
            </a:r>
            <a:r>
              <a:rPr lang="de-DE" i="1" u="none" strike="noStrike" dirty="0" err="1">
                <a:effectLst/>
                <a:latin typeface="Calibri" panose="020F0502020204030204" pitchFamily="34" charset="0"/>
              </a:rPr>
              <a:t>figure</a:t>
            </a:r>
            <a:r>
              <a:rPr lang="de-DE" i="1" u="none" strike="noStrike" dirty="0">
                <a:effectLst/>
                <a:latin typeface="Calibri" panose="020F0502020204030204" pitchFamily="34" charset="0"/>
              </a:rPr>
              <a:t> &amp; </a:t>
            </a:r>
            <a:r>
              <a:rPr lang="de-DE" i="1" dirty="0" err="1"/>
              <a:t>Auxiliary</a:t>
            </a:r>
            <a:r>
              <a:rPr lang="de-DE" i="1" dirty="0"/>
              <a:t> </a:t>
            </a:r>
            <a:r>
              <a:rPr lang="de-DE" i="1" dirty="0" err="1"/>
              <a:t>energy</a:t>
            </a:r>
            <a:r>
              <a:rPr lang="de-DE" i="1" dirty="0"/>
              <a:t> </a:t>
            </a:r>
            <a:r>
              <a:rPr lang="de-DE" i="1" dirty="0" err="1"/>
              <a:t>requirement</a:t>
            </a:r>
            <a:endParaRPr lang="de-DE" i="1" dirty="0"/>
          </a:p>
          <a:p>
            <a:pPr lvl="1"/>
            <a:r>
              <a:rPr lang="en-US" i="1" dirty="0">
                <a:solidFill>
                  <a:schemeClr val="accent4">
                    <a:lumMod val="75000"/>
                  </a:schemeClr>
                </a:solidFill>
              </a:rPr>
              <a:t>Climate coefficients</a:t>
            </a:r>
            <a:r>
              <a:rPr lang="en-GB" i="1" dirty="0"/>
              <a:t>: Correction factor for heating period</a:t>
            </a:r>
          </a:p>
          <a:p>
            <a:pPr marL="457200" lvl="1" indent="0">
              <a:buNone/>
            </a:pPr>
            <a:endParaRPr lang="en-US" sz="1800" dirty="0"/>
          </a:p>
          <a:p>
            <a:pPr lvl="1"/>
            <a:endParaRPr lang="en-US" b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55BB8CA-641A-0B44-F073-2B5426D2D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> </a:t>
            </a:r>
            <a:r>
              <a:rPr lang="de-DE" sz="1400"/>
              <a:t>Seite </a:t>
            </a:r>
            <a:fld id="{1009E830-1A31-2046-A084-D1E9F200294C}" type="slidenum">
              <a:rPr lang="de-DE" sz="1400" smtClean="0"/>
              <a:pPr/>
              <a:t>41</a:t>
            </a:fld>
            <a:endParaRPr lang="de-DE" sz="1400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EFED6B2-634C-7217-4059-22297E5F476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AF834C9-8FDB-D443-8511-FA2B85B454AC}" type="datetime1">
              <a:rPr lang="de-DE" sz="1400" smtClean="0"/>
              <a:t>24.06.2024</a:t>
            </a:fld>
            <a:endParaRPr lang="de-DE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8FFFFE7-117A-4160-812E-E6D8B5BC69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>
                <a:latin typeface="Calibri" panose="020F0502020204030204" pitchFamily="34" charset="0"/>
                <a:cs typeface="Calibri" panose="020F0502020204030204" pitchFamily="34" charset="0"/>
              </a:rPr>
              <a:t>Bitte Fußzeile definieren</a:t>
            </a:r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Inhaltsplatzhalter 3">
            <a:extLst>
              <a:ext uri="{FF2B5EF4-FFF2-40B4-BE49-F238E27FC236}">
                <a16:creationId xmlns:a16="http://schemas.microsoft.com/office/drawing/2014/main" id="{EC017B77-1D08-E35D-E02F-C148B85783F6}"/>
              </a:ext>
            </a:extLst>
          </p:cNvPr>
          <p:cNvSpPr txBox="1">
            <a:spLocks/>
          </p:cNvSpPr>
          <p:nvPr/>
        </p:nvSpPr>
        <p:spPr>
          <a:xfrm>
            <a:off x="5640637" y="1989136"/>
            <a:ext cx="6147411" cy="3808079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Lucida Grande" panose="020B0600040502020204" pitchFamily="34" charset="0"/>
              <a:buChar char="▸"/>
              <a:defRPr sz="2400" b="1" i="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Lucida Grande" panose="020B0600040502020204" pitchFamily="34" charset="0"/>
              <a:buChar char="▸"/>
              <a:defRPr sz="2000" b="0" i="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Lucida Grande" panose="020B0600040502020204" pitchFamily="34" charset="0"/>
              <a:buChar char="▸"/>
              <a:defRPr sz="1600" b="0" i="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Lucida Grande" panose="020B0600040502020204" pitchFamily="34" charset="0"/>
              <a:buChar char="▸"/>
              <a:defRPr sz="1600" b="0" i="0" kern="120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Lucida Grande" panose="020B0600040502020204" pitchFamily="34" charset="0"/>
              <a:buChar char="▸"/>
              <a:defRPr sz="1600" b="0" i="0" kern="120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6506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A72EB7-AA5B-1429-00BA-48ED7FB202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5. </a:t>
            </a:r>
            <a:r>
              <a:rPr lang="en-GB" dirty="0"/>
              <a:t>Final energy demand calculation 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US" dirty="0"/>
              <a:t> 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3BC43C2-A869-CE2C-9106-C4E6F49D75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0399" y="1060778"/>
            <a:ext cx="11226970" cy="431200"/>
          </a:xfrm>
        </p:spPr>
        <p:txBody>
          <a:bodyPr/>
          <a:lstStyle/>
          <a:p>
            <a:r>
              <a:rPr lang="en-US" dirty="0"/>
              <a:t>3. Final energy demand calculation</a:t>
            </a:r>
          </a:p>
          <a:p>
            <a:endParaRPr lang="en-US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7188BE9-386B-F9E0-6F1D-D1BE29066199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78628" y="1491978"/>
            <a:ext cx="10579922" cy="5085467"/>
          </a:xfrm>
        </p:spPr>
        <p:txBody>
          <a:bodyPr/>
          <a:lstStyle/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r>
              <a:rPr lang="en-US" dirty="0"/>
              <a:t>A) </a:t>
            </a:r>
            <a:r>
              <a:rPr lang="en-US" b="0" dirty="0"/>
              <a:t>Final energy demand calculation for </a:t>
            </a:r>
            <a:r>
              <a:rPr lang="en-US" b="0" dirty="0">
                <a:solidFill>
                  <a:srgbClr val="10A1D1"/>
                </a:solidFill>
              </a:rPr>
              <a:t>hot water</a:t>
            </a:r>
          </a:p>
          <a:p>
            <a:r>
              <a:rPr lang="en-US" dirty="0"/>
              <a:t>B) </a:t>
            </a:r>
            <a:r>
              <a:rPr lang="en-US" b="0" dirty="0"/>
              <a:t>Final energy demand calculation for </a:t>
            </a:r>
            <a:r>
              <a:rPr lang="en-US" b="0" dirty="0">
                <a:solidFill>
                  <a:srgbClr val="C32B0D"/>
                </a:solidFill>
              </a:rPr>
              <a:t>heating</a:t>
            </a:r>
          </a:p>
          <a:p>
            <a:r>
              <a:rPr lang="en-US" dirty="0"/>
              <a:t>C) </a:t>
            </a:r>
            <a:r>
              <a:rPr lang="en-US" b="0" dirty="0"/>
              <a:t>Final energy demand</a:t>
            </a:r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55BB8CA-641A-0B44-F073-2B5426D2D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> </a:t>
            </a:r>
            <a:r>
              <a:rPr lang="de-DE" sz="1400"/>
              <a:t>Seite </a:t>
            </a:r>
            <a:fld id="{1009E830-1A31-2046-A084-D1E9F200294C}" type="slidenum">
              <a:rPr lang="de-DE" sz="1400" smtClean="0"/>
              <a:pPr/>
              <a:t>42</a:t>
            </a:fld>
            <a:endParaRPr lang="de-DE" sz="1400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EFED6B2-634C-7217-4059-22297E5F476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AF834C9-8FDB-D443-8511-FA2B85B454AC}" type="datetime1">
              <a:rPr lang="de-DE" sz="1400" smtClean="0"/>
              <a:t>24.06.2024</a:t>
            </a:fld>
            <a:endParaRPr lang="de-DE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8FFFFE7-117A-4160-812E-E6D8B5BC69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>
                <a:latin typeface="Calibri" panose="020F0502020204030204" pitchFamily="34" charset="0"/>
                <a:cs typeface="Calibri" panose="020F0502020204030204" pitchFamily="34" charset="0"/>
              </a:rPr>
              <a:t>Bitte Fußzeile definieren</a:t>
            </a:r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Inhaltsplatzhalter 3">
            <a:extLst>
              <a:ext uri="{FF2B5EF4-FFF2-40B4-BE49-F238E27FC236}">
                <a16:creationId xmlns:a16="http://schemas.microsoft.com/office/drawing/2014/main" id="{EC017B77-1D08-E35D-E02F-C148B85783F6}"/>
              </a:ext>
            </a:extLst>
          </p:cNvPr>
          <p:cNvSpPr txBox="1">
            <a:spLocks/>
          </p:cNvSpPr>
          <p:nvPr/>
        </p:nvSpPr>
        <p:spPr>
          <a:xfrm>
            <a:off x="5640637" y="1989136"/>
            <a:ext cx="6147411" cy="3808079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Lucida Grande" panose="020B0600040502020204" pitchFamily="34" charset="0"/>
              <a:buChar char="▸"/>
              <a:defRPr sz="2400" b="1" i="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Lucida Grande" panose="020B0600040502020204" pitchFamily="34" charset="0"/>
              <a:buChar char="▸"/>
              <a:defRPr sz="2000" b="0" i="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Lucida Grande" panose="020B0600040502020204" pitchFamily="34" charset="0"/>
              <a:buChar char="▸"/>
              <a:defRPr sz="1600" b="0" i="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Lucida Grande" panose="020B0600040502020204" pitchFamily="34" charset="0"/>
              <a:buChar char="▸"/>
              <a:defRPr sz="1600" b="0" i="0" kern="120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Lucida Grande" panose="020B0600040502020204" pitchFamily="34" charset="0"/>
              <a:buChar char="▸"/>
              <a:defRPr sz="1600" b="0" i="0" kern="120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94177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A72EB7-AA5B-1429-00BA-48ED7FB202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5. </a:t>
            </a:r>
            <a:r>
              <a:rPr lang="en-GB" dirty="0"/>
              <a:t>Final energy demand calculation 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US" dirty="0"/>
              <a:t> 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3BC43C2-A869-CE2C-9106-C4E6F49D75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0399" y="1060778"/>
            <a:ext cx="11226970" cy="431200"/>
          </a:xfrm>
        </p:spPr>
        <p:txBody>
          <a:bodyPr/>
          <a:lstStyle/>
          <a:p>
            <a:r>
              <a:rPr lang="en-US" dirty="0"/>
              <a:t>3. Final energy demand calculation - A) </a:t>
            </a:r>
            <a:r>
              <a:rPr lang="en-US" b="0" dirty="0"/>
              <a:t>Final energy demand calculation for </a:t>
            </a:r>
            <a:r>
              <a:rPr lang="en-US" b="0" dirty="0">
                <a:solidFill>
                  <a:srgbClr val="10A1D1"/>
                </a:solidFill>
              </a:rPr>
              <a:t>hot water</a:t>
            </a:r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07188BE9-386B-F9E0-6F1D-D1BE29066199}"/>
                  </a:ext>
                </a:extLst>
              </p:cNvPr>
              <p:cNvSpPr>
                <a:spLocks noGrp="1"/>
              </p:cNvSpPr>
              <p:nvPr>
                <p:ph sz="quarter" idx="20"/>
              </p:nvPr>
            </p:nvSpPr>
            <p:spPr>
              <a:xfrm>
                <a:off x="403952" y="1491978"/>
                <a:ext cx="11384096" cy="4482795"/>
              </a:xfrm>
            </p:spPr>
            <p:txBody>
              <a:bodyPr/>
              <a:lstStyle/>
              <a:p>
                <a:r>
                  <a:rPr lang="en-GB" sz="1800" b="0" dirty="0"/>
                  <a:t>Total heat demand for hot water: </a:t>
                </a:r>
                <a:endParaRPr lang="en-GB" sz="18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1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18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GB" sz="1800" b="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  <m:sup>
                          <m:r>
                            <a:rPr lang="en-GB" sz="1800" b="0" i="1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 12.5+ 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𝐻𝑒𝑎𝑡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𝑙𝑜𝑠𝑠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𝑑𝑖𝑠𝑡𝑟𝑖𝑏𝑢𝑡𝑖𝑜𝑛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𝐻𝑒𝑎𝑡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𝑙𝑜𝑠𝑠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𝑠𝑡𝑜𝑟𝑎𝑔𝑒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	</m:t>
                      </m:r>
                    </m:oMath>
                  </m:oMathPara>
                </a14:m>
                <a:endParaRPr lang="en-GB" b="0" dirty="0"/>
              </a:p>
              <a:p>
                <a:endParaRPr lang="en-GB" sz="1800" b="0" dirty="0"/>
              </a:p>
              <a:p>
                <a:r>
                  <a:rPr lang="en-GB" sz="1800" b="0" dirty="0"/>
                  <a:t>Final energy demand for hot water generator 1/2 without auxiliary energy demand: </a:t>
                </a:r>
                <a:endParaRPr lang="en-GB" sz="18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GB" sz="1800" b="0" i="1" dirty="0" smtClean="0">
                              <a:latin typeface="Cambria Math" panose="02040503050406030204" pitchFamily="18" charset="0"/>
                            </a:rPr>
                            <m:t>𝑒𝑤</m:t>
                          </m:r>
                          <m:r>
                            <a:rPr lang="en-GB" sz="1800" b="0" i="1" dirty="0" smtClean="0">
                              <a:latin typeface="Cambria Math" panose="02040503050406030204" pitchFamily="18" charset="0"/>
                            </a:rPr>
                            <m:t>1/2</m:t>
                          </m:r>
                        </m:sub>
                      </m:sSub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sSubSup>
                        <m:sSubSupPr>
                          <m:ctrlPr>
                            <a:rPr lang="en-GB" sz="1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1800" b="0" i="1" dirty="0" err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GB" sz="1800" b="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  <m:sup>
                          <m:r>
                            <a:rPr lang="en-GB" sz="1800" b="0" i="1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 ∗ (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𝐻𝑜𝑡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𝑤𝑎𝑡𝑒𝑟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𝑔𝑒𝑛𝑒𝑟𝑎𝑡𝑖𝑜𝑛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𝑃𝑟𝑜𝑑𝑢𝑐𝑒𝑟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𝑒𝑓𝑓𝑜𝑟𝑡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𝑓𝑖𝑔𝑢𝑟𝑒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 1/2 ∗</m:t>
                      </m:r>
                      <m:sSub>
                        <m:sSubPr>
                          <m:ctrlPr>
                            <a:rPr lang="en-GB" sz="1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800" b="0" i="1" dirty="0" smtClean="0">
                              <a:latin typeface="Cambria Math" panose="02040503050406030204" pitchFamily="18" charset="0"/>
                            </a:rPr>
                            <m:t>α</m:t>
                          </m:r>
                        </m:e>
                        <m:sub>
                          <m:r>
                            <a:rPr lang="en-GB" sz="1800" b="0" i="1" dirty="0" smtClean="0">
                              <a:latin typeface="Cambria Math" panose="02040503050406030204" pitchFamily="18" charset="0"/>
                            </a:rPr>
                            <m:t>𝑤𝑔</m:t>
                          </m:r>
                          <m:r>
                            <a:rPr lang="en-GB" sz="1800" b="0" i="1" dirty="0" smtClean="0">
                              <a:latin typeface="Cambria Math" panose="02040503050406030204" pitchFamily="18" charset="0"/>
                            </a:rPr>
                            <m:t>1/2</m:t>
                          </m:r>
                        </m:sub>
                      </m:sSub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b="0" dirty="0"/>
              </a:p>
              <a:p>
                <a:endParaRPr lang="en-US" sz="1800" b="0" dirty="0"/>
              </a:p>
              <a:p>
                <a:r>
                  <a:rPr lang="en-US" sz="1800" b="0" dirty="0"/>
                  <a:t>Final energy demand for hot water auxiliary energy: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h𝑒</m:t>
                          </m:r>
                          <m:r>
                            <a:rPr lang="en-GB" sz="1800" b="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𝐻𝑜𝑡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𝑤𝑎𝑡𝑒𝑟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𝑑𝑖𝑠𝑡𝑟𝑖𝑏𝑢𝑡𝑖𝑜𝑛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𝐴𝑢𝑥𝑖𝑙𝑖𝑎𝑟𝑦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𝑒𝑛𝑒𝑟𝑔𝑦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𝑟𝑒𝑞𝑢𝑖𝑟𝑒𝑚𝑒𝑛𝑡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𝐻𝑜𝑡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𝑤𝑎𝑡𝑒𝑟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𝑠𝑡𝑜𝑟𝑎𝑔𝑒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:  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𝐴𝑢𝑥𝑖𝑙𝑖𝑎𝑟𝑦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𝑒𝑛𝑒𝑟𝑔𝑦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𝑟𝑒𝑞𝑢𝑖𝑟𝑒𝑚𝑒𝑛𝑡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 + (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𝐻𝑜𝑡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𝑤𝑎𝑡𝑒𝑟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𝑔𝑒𝑛𝑒𝑟𝑎𝑡𝑖𝑜𝑛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:  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𝐴𝑢𝑥𝑖𝑙𝑖𝑎𝑟𝑦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𝑒𝑛𝑒𝑟𝑔𝑦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𝑟𝑒𝑞𝑢𝑖𝑟𝑒𝑚𝑒𝑛𝑡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 1 ∗ </m:t>
                      </m:r>
                      <m:sSub>
                        <m:sSubPr>
                          <m:ctrlPr>
                            <a:rPr lang="en-GB" sz="1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GB" sz="1800" b="0" i="1" dirty="0" smtClean="0">
                              <a:latin typeface="Cambria Math" panose="02040503050406030204" pitchFamily="18" charset="0"/>
                            </a:rPr>
                            <m:t>𝑤𝑔</m:t>
                          </m:r>
                          <m:r>
                            <a:rPr lang="en-GB" sz="1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𝐻𝑜𝑡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𝑤𝑎𝑡𝑒𝑟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𝑔𝑒𝑛𝑒𝑟𝑎𝑡𝑖𝑜𝑛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:  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𝐴𝑢𝑥𝑖𝑙𝑖𝑎𝑟𝑦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𝑒𝑛𝑒𝑟𝑔𝑦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𝑟𝑒𝑞𝑢𝑖𝑟𝑒𝑚𝑒𝑛𝑡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 2 ∗ </m:t>
                      </m:r>
                      <m:sSub>
                        <m:sSubPr>
                          <m:ctrlPr>
                            <a:rPr lang="en-GB" sz="1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GB" sz="1800" b="0" i="1" dirty="0" smtClean="0">
                              <a:latin typeface="Cambria Math" panose="02040503050406030204" pitchFamily="18" charset="0"/>
                            </a:rPr>
                            <m:t>𝑤𝑔</m:t>
                          </m:r>
                          <m:r>
                            <a:rPr lang="en-GB" sz="1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b="0" dirty="0"/>
              </a:p>
              <a:p>
                <a:endParaRPr lang="en-GB" sz="1800" b="0" dirty="0"/>
              </a:p>
              <a:p>
                <a:r>
                  <a:rPr lang="en-GB" sz="1800" b="0" dirty="0"/>
                  <a:t>Final energy demand for hot water: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1" i="1" dirty="0" smtClean="0"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GB" sz="1800" b="1" i="1" dirty="0" smtClean="0">
                            <a:latin typeface="Cambria Math" panose="02040503050406030204" pitchFamily="18" charset="0"/>
                          </a:rPr>
                          <m:t>𝒘𝒘</m:t>
                        </m:r>
                      </m:sub>
                    </m:sSub>
                    <m:r>
                      <a:rPr lang="en-GB" sz="1800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GB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GB" sz="1800" b="0" i="1" dirty="0" smtClean="0">
                            <a:latin typeface="Cambria Math" panose="02040503050406030204" pitchFamily="18" charset="0"/>
                          </a:rPr>
                          <m:t>𝑒𝑤</m:t>
                        </m:r>
                        <m:r>
                          <a:rPr lang="en-GB" sz="1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 + </m:t>
                    </m:r>
                    <m:sSub>
                      <m:sSubPr>
                        <m:ctrlPr>
                          <a:rPr lang="en-GB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GB" sz="1800" b="0" i="1" dirty="0" smtClean="0">
                            <a:latin typeface="Cambria Math" panose="02040503050406030204" pitchFamily="18" charset="0"/>
                          </a:rPr>
                          <m:t>𝑒𝑤</m:t>
                        </m:r>
                        <m:r>
                          <a:rPr lang="en-GB" sz="1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 + </m:t>
                    </m:r>
                    <m:sSub>
                      <m:sSubPr>
                        <m:ctrlPr>
                          <a:rPr lang="en-GB" sz="1800" b="0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0" i="1" dirty="0" err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GB" sz="1800" b="0" i="1" dirty="0" err="1" smtClean="0">
                            <a:latin typeface="Cambria Math" panose="02040503050406030204" pitchFamily="18" charset="0"/>
                          </a:rPr>
                          <m:t>h𝑒</m:t>
                        </m:r>
                        <m:r>
                          <a:rPr lang="en-GB" sz="18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endParaRPr lang="en-US" sz="1800" b="0" dirty="0"/>
              </a:p>
            </p:txBody>
          </p:sp>
        </mc:Choice>
        <mc:Fallback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07188BE9-386B-F9E0-6F1D-D1BE290661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20"/>
              </p:nvPr>
            </p:nvSpPr>
            <p:spPr>
              <a:xfrm>
                <a:off x="403952" y="1491978"/>
                <a:ext cx="11384096" cy="4482795"/>
              </a:xfrm>
              <a:blipFill>
                <a:blip r:embed="rId3"/>
                <a:stretch>
                  <a:fillRect l="-375" t="-1361" b="-1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55BB8CA-641A-0B44-F073-2B5426D2D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> </a:t>
            </a:r>
            <a:r>
              <a:rPr lang="de-DE" sz="1400"/>
              <a:t>Seite </a:t>
            </a:r>
            <a:fld id="{1009E830-1A31-2046-A084-D1E9F200294C}" type="slidenum">
              <a:rPr lang="de-DE" sz="1400" smtClean="0"/>
              <a:pPr/>
              <a:t>43</a:t>
            </a:fld>
            <a:endParaRPr lang="de-DE" sz="1400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EFED6B2-634C-7217-4059-22297E5F476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AF834C9-8FDB-D443-8511-FA2B85B454AC}" type="datetime1">
              <a:rPr lang="de-DE" sz="1400" smtClean="0"/>
              <a:t>24.06.2024</a:t>
            </a:fld>
            <a:endParaRPr lang="de-DE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8FFFFE7-117A-4160-812E-E6D8B5BC69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>
                <a:latin typeface="Calibri" panose="020F0502020204030204" pitchFamily="34" charset="0"/>
                <a:cs typeface="Calibri" panose="020F0502020204030204" pitchFamily="34" charset="0"/>
              </a:rPr>
              <a:t>Bitte Fußzeile definieren</a:t>
            </a:r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Inhaltsplatzhalter 3">
            <a:extLst>
              <a:ext uri="{FF2B5EF4-FFF2-40B4-BE49-F238E27FC236}">
                <a16:creationId xmlns:a16="http://schemas.microsoft.com/office/drawing/2014/main" id="{EC017B77-1D08-E35D-E02F-C148B85783F6}"/>
              </a:ext>
            </a:extLst>
          </p:cNvPr>
          <p:cNvSpPr txBox="1">
            <a:spLocks/>
          </p:cNvSpPr>
          <p:nvPr/>
        </p:nvSpPr>
        <p:spPr>
          <a:xfrm>
            <a:off x="5640637" y="1989136"/>
            <a:ext cx="6147411" cy="3808079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Lucida Grande" panose="020B0600040502020204" pitchFamily="34" charset="0"/>
              <a:buChar char="▸"/>
              <a:defRPr sz="2400" b="1" i="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Lucida Grande" panose="020B0600040502020204" pitchFamily="34" charset="0"/>
              <a:buChar char="▸"/>
              <a:defRPr sz="2000" b="0" i="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Lucida Grande" panose="020B0600040502020204" pitchFamily="34" charset="0"/>
              <a:buChar char="▸"/>
              <a:defRPr sz="1600" b="0" i="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Lucida Grande" panose="020B0600040502020204" pitchFamily="34" charset="0"/>
              <a:buChar char="▸"/>
              <a:defRPr sz="1600" b="0" i="0" kern="120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Lucida Grande" panose="020B0600040502020204" pitchFamily="34" charset="0"/>
              <a:buChar char="▸"/>
              <a:defRPr sz="1600" b="0" i="0" kern="120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308562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A72EB7-AA5B-1429-00BA-48ED7FB202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5. </a:t>
            </a:r>
            <a:r>
              <a:rPr lang="en-GB" dirty="0"/>
              <a:t>Final energy demand calculation 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US" dirty="0"/>
              <a:t> 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3BC43C2-A869-CE2C-9106-C4E6F49D75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0399" y="1060778"/>
            <a:ext cx="11226970" cy="431200"/>
          </a:xfrm>
        </p:spPr>
        <p:txBody>
          <a:bodyPr/>
          <a:lstStyle/>
          <a:p>
            <a:r>
              <a:rPr lang="en-US" dirty="0"/>
              <a:t>3. Final energy demand calculation - B) </a:t>
            </a:r>
            <a:r>
              <a:rPr lang="en-US" b="0" dirty="0"/>
              <a:t>Final energy demand calculation </a:t>
            </a:r>
            <a:r>
              <a:rPr lang="en-US" dirty="0"/>
              <a:t>for heating</a:t>
            </a:r>
          </a:p>
          <a:p>
            <a:endParaRPr lang="en-US" b="0" dirty="0">
              <a:solidFill>
                <a:srgbClr val="10A1D1"/>
              </a:solidFill>
            </a:endParaRPr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07188BE9-386B-F9E0-6F1D-D1BE29066199}"/>
                  </a:ext>
                </a:extLst>
              </p:cNvPr>
              <p:cNvSpPr>
                <a:spLocks noGrp="1"/>
              </p:cNvSpPr>
              <p:nvPr>
                <p:ph sz="quarter" idx="20"/>
              </p:nvPr>
            </p:nvSpPr>
            <p:spPr>
              <a:xfrm>
                <a:off x="403952" y="1491978"/>
                <a:ext cx="11384096" cy="4482795"/>
              </a:xfrm>
            </p:spPr>
            <p:txBody>
              <a:bodyPr/>
              <a:lstStyle/>
              <a:p>
                <a:r>
                  <a:rPr lang="en-US" sz="1800" b="0" dirty="0"/>
                  <a:t>Heating credit: </a:t>
                </a:r>
                <a:endParaRPr lang="en-GB" sz="18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GB" sz="1800" b="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𝐻𝑜𝑡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𝑤𝑎𝑡𝑒𝑟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𝑑𝑖𝑠𝑡𝑟𝑖𝑏𝑢𝑡𝑖𝑜𝑛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𝐻𝑒𝑎𝑡𝑖𝑛𝑔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𝑐𝑟𝑒𝑑𝑖𝑡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𝐻𝑜𝑡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𝑤𝑎𝑡𝑒𝑟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𝑠𝑡𝑜𝑟𝑎𝑔𝑒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𝐻𝑒𝑎𝑡𝑖𝑛𝑔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𝑐𝑟𝑒𝑑𝑖𝑡</m:t>
                      </m:r>
                    </m:oMath>
                  </m:oMathPara>
                </a14:m>
                <a:endParaRPr lang="en-US" sz="1800" b="0" dirty="0"/>
              </a:p>
              <a:p>
                <a:pPr marL="0" indent="0">
                  <a:buNone/>
                </a:pPr>
                <a:endParaRPr lang="en-US" sz="1200" b="0" dirty="0"/>
              </a:p>
              <a:p>
                <a:r>
                  <a:rPr lang="en-US" sz="1800" b="0" dirty="0"/>
                  <a:t>Total heat demand for heating: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GB" sz="18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  <m:sup>
                          <m:r>
                            <a:rPr lang="en-GB" sz="1800" b="0" i="1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sz="1800" b="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dirty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sz="1800" b="0" i="1" dirty="0" err="1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dirty="0" err="1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GB" sz="1800" b="0" i="1" dirty="0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lang="en-GB" sz="1800" b="0" i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sz="1800" b="0" i="1" dirty="0" err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dirty="0" err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800" b="0" i="1" dirty="0" err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GB" sz="1800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 ∗ (−</m:t>
                      </m:r>
                      <m:sSub>
                        <m:sSubPr>
                          <m:ctrlPr>
                            <a:rPr lang="en-US" sz="1800" b="0" i="1" dirty="0" err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dirty="0" err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800" b="0" i="1" dirty="0" err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GB" sz="1800" b="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𝐻𝑒𝑎𝑡𝑖𝑛𝑔</m:t>
                      </m:r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𝑡𝑟𝑎𝑛𝑠𝑓𝑒𝑟</m:t>
                      </m:r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𝐻𝐿</m:t>
                      </m:r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𝐻𝑒𝑎𝑡</m:t>
                      </m:r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𝑑𝑖𝑠𝑡𝑟𝑖𝑏𝑢𝑡𝑖𝑜𝑛</m:t>
                      </m:r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𝐻𝐿</m:t>
                      </m:r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𝐻𝑒𝑎𝑡</m:t>
                      </m:r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𝑠𝑡𝑜𝑟𝑎𝑔𝑒</m:t>
                      </m:r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𝐻𝐿</m:t>
                      </m:r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b="0" dirty="0"/>
              </a:p>
              <a:p>
                <a:pPr marL="0" indent="0">
                  <a:buNone/>
                </a:pPr>
                <a:endParaRPr lang="en-US" sz="1200" b="0" dirty="0"/>
              </a:p>
              <a:p>
                <a:r>
                  <a:rPr lang="en-GB" sz="1800" b="0" dirty="0"/>
                  <a:t>Final energy demand RH generator 1/2 without auxiliary energy demand:</a:t>
                </a:r>
                <a:r>
                  <a:rPr lang="en-US" sz="1800" b="0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𝑒h</m:t>
                          </m:r>
                          <m:r>
                            <a:rPr lang="en-GB" sz="1800" b="0" i="1" dirty="0" smtClean="0">
                              <a:latin typeface="Cambria Math" panose="02040503050406030204" pitchFamily="18" charset="0"/>
                            </a:rPr>
                            <m:t>1/2</m:t>
                          </m:r>
                        </m:sub>
                      </m:sSub>
                      <m:r>
                        <a:rPr lang="en-US" sz="1800" b="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dirty="0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err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GB" sz="18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  <m:sup>
                          <m:r>
                            <a:rPr lang="en-GB" sz="1800" b="0" i="1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 + (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𝐻𝑒𝑎𝑡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𝑔𝑒𝑛𝑒𝑟𝑎𝑡𝑖𝑜𝑛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𝑃𝑟𝑜𝑑𝑢𝑐𝑒𝑟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𝑒𝑓𝑓𝑜𝑟𝑡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𝑓𝑖𝑔𝑢𝑟𝑒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  1 /	2 ∗ </m:t>
                      </m:r>
                      <m:sSub>
                        <m:sSub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800" b="0" i="1" dirty="0" smtClean="0">
                              <a:latin typeface="Cambria Math" panose="02040503050406030204" pitchFamily="18" charset="0"/>
                            </a:rPr>
                            <m:t>α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h𝑔</m:t>
                          </m:r>
                          <m:r>
                            <a:rPr lang="en-GB" sz="1800" b="0" i="1" dirty="0" smtClean="0">
                              <a:latin typeface="Cambria Math" panose="02040503050406030204" pitchFamily="18" charset="0"/>
                            </a:rPr>
                            <m:t>1/2</m:t>
                          </m:r>
                        </m:sub>
                      </m:sSub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800" b="0" dirty="0"/>
              </a:p>
              <a:p>
                <a:pPr marL="0" indent="0">
                  <a:buNone/>
                </a:pPr>
                <a:endParaRPr lang="en-GB" sz="1200" b="0" dirty="0"/>
              </a:p>
              <a:p>
                <a:r>
                  <a:rPr lang="en-GB" sz="1800" b="0" dirty="0"/>
                  <a:t>Final energy demand for heating auxiliary energy: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GB" sz="1800" b="0" i="1" dirty="0" smtClean="0">
                              <a:latin typeface="Cambria Math" panose="02040503050406030204" pitchFamily="18" charset="0"/>
                            </a:rPr>
                            <m:t>h𝑒h</m:t>
                          </m:r>
                        </m:sub>
                      </m:sSub>
                      <m:r>
                        <a:rPr lang="en-GB" sz="1800" b="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800" b="0" i="1" dirty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sz="1800" b="0" i="1" dirty="0" err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dirty="0" err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1800" b="0" i="1" dirty="0" err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GB" sz="1800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n-GB" sz="1800" b="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∗(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𝐻𝑒𝑎𝑡𝑖𝑛𝑔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𝑡𝑟𝑎𝑛𝑠𝑓𝑒𝑟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𝐴𝐸𝑅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𝐻𝑒𝑎𝑡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𝑑𝑖𝑠𝑡𝑟𝑖𝑏𝑢𝑡𝑖𝑜𝑛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𝐴𝐸𝑅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𝐻𝑒𝑎𝑡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𝑠𝑡𝑜𝑟𝑎𝑔𝑒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𝐴𝐸𝑅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+   (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𝐻𝑒𝑎𝑡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𝑔𝑒𝑛𝑒𝑟𝑎𝑡𝑖𝑜𝑛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𝐴𝐸𝑅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 1 ∗</m:t>
                      </m:r>
                      <m:sSub>
                        <m:sSubPr>
                          <m:ctrlPr>
                            <a:rPr lang="en-US" sz="1800" b="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800" b="0" i="1" dirty="0">
                              <a:latin typeface="Cambria Math" panose="02040503050406030204" pitchFamily="18" charset="0"/>
                            </a:rPr>
                            <m:t>α</m:t>
                          </m:r>
                        </m:e>
                        <m:sub>
                          <m:r>
                            <a:rPr lang="en-US" sz="1800" b="0" i="1" dirty="0">
                              <a:latin typeface="Cambria Math" panose="02040503050406030204" pitchFamily="18" charset="0"/>
                            </a:rPr>
                            <m:t>h𝑔</m:t>
                          </m:r>
                          <m:r>
                            <a:rPr lang="en-GB" sz="1800" b="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b="0" i="1" dirty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+ (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𝐻𝑒𝑎𝑡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𝑔𝑒𝑛𝑒𝑟𝑎𝑡𝑖𝑜𝑛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𝐴𝐸𝑅</m:t>
                      </m:r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 2 ∗</m:t>
                      </m:r>
                      <m:sSub>
                        <m:sSubPr>
                          <m:ctrlPr>
                            <a:rPr lang="en-US" sz="1800" b="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800" b="0" i="1" dirty="0">
                              <a:latin typeface="Cambria Math" panose="02040503050406030204" pitchFamily="18" charset="0"/>
                            </a:rPr>
                            <m:t>α</m:t>
                          </m:r>
                        </m:e>
                        <m:sub>
                          <m:r>
                            <a:rPr lang="en-US" sz="1800" b="0" i="1" dirty="0">
                              <a:latin typeface="Cambria Math" panose="02040503050406030204" pitchFamily="18" charset="0"/>
                            </a:rPr>
                            <m:t>h𝑔</m:t>
                          </m:r>
                          <m:r>
                            <a:rPr lang="en-GB" sz="1800" b="0" i="1" dirty="0" smtClean="0">
                              <a:latin typeface="Cambria Math" panose="02040503050406030204" pitchFamily="18" charset="0"/>
                            </a:rPr>
                            <m:t>"</m:t>
                          </m:r>
                        </m:sub>
                      </m:sSub>
                      <m:r>
                        <a:rPr lang="en-GB" sz="1800" b="0" i="1" dirty="0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GB" sz="1800" b="0" dirty="0"/>
              </a:p>
              <a:p>
                <a:pPr marL="0" indent="0">
                  <a:buNone/>
                </a:pPr>
                <a:endParaRPr lang="en-GB" sz="1200" b="0" dirty="0"/>
              </a:p>
              <a:p>
                <a:r>
                  <a:rPr lang="en-GB" sz="1800" b="0" dirty="0"/>
                  <a:t>Final energy demand heating: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1" i="1" dirty="0" smtClean="0"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GB" sz="1800" b="1" i="1" dirty="0" smtClean="0">
                            <a:latin typeface="Cambria Math" panose="02040503050406030204" pitchFamily="18" charset="0"/>
                          </a:rPr>
                          <m:t>𝒓𝒉</m:t>
                        </m:r>
                      </m:sub>
                    </m:sSub>
                    <m:r>
                      <a:rPr lang="en-GB" sz="1800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GB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GB" sz="1800" b="0" i="1" dirty="0" smtClean="0">
                            <a:latin typeface="Cambria Math" panose="02040503050406030204" pitchFamily="18" charset="0"/>
                          </a:rPr>
                          <m:t>𝑒h</m:t>
                        </m:r>
                        <m:r>
                          <a:rPr lang="en-GB" sz="1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 + </m:t>
                    </m:r>
                    <m:sSub>
                      <m:sSubPr>
                        <m:ctrlPr>
                          <a:rPr lang="en-GB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GB" sz="1800" b="0" i="1" dirty="0" smtClean="0">
                            <a:latin typeface="Cambria Math" panose="02040503050406030204" pitchFamily="18" charset="0"/>
                          </a:rPr>
                          <m:t>𝑒h</m:t>
                        </m:r>
                        <m:r>
                          <a:rPr lang="en-GB" sz="1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 + </m:t>
                    </m:r>
                    <m:sSub>
                      <m:sSubPr>
                        <m:ctrlPr>
                          <a:rPr lang="en-GB" sz="1800" b="0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0" i="1" dirty="0" err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GB" sz="1800" b="0" i="1" dirty="0" err="1" smtClean="0">
                            <a:latin typeface="Cambria Math" panose="02040503050406030204" pitchFamily="18" charset="0"/>
                          </a:rPr>
                          <m:t>h𝑒</m:t>
                        </m:r>
                        <m:r>
                          <a:rPr lang="en-GB" sz="1800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endParaRPr lang="en-GB" sz="1800" b="0" dirty="0"/>
              </a:p>
            </p:txBody>
          </p:sp>
        </mc:Choice>
        <mc:Fallback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07188BE9-386B-F9E0-6F1D-D1BE290661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20"/>
              </p:nvPr>
            </p:nvSpPr>
            <p:spPr>
              <a:xfrm>
                <a:off x="403952" y="1491978"/>
                <a:ext cx="11384096" cy="4482795"/>
              </a:xfrm>
              <a:blipFill>
                <a:blip r:embed="rId3"/>
                <a:stretch>
                  <a:fillRect l="-375" t="-1361" b="-28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55BB8CA-641A-0B44-F073-2B5426D2D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> </a:t>
            </a:r>
            <a:r>
              <a:rPr lang="de-DE" sz="1400"/>
              <a:t>Seite </a:t>
            </a:r>
            <a:fld id="{1009E830-1A31-2046-A084-D1E9F200294C}" type="slidenum">
              <a:rPr lang="de-DE" sz="1400" smtClean="0"/>
              <a:pPr/>
              <a:t>44</a:t>
            </a:fld>
            <a:endParaRPr lang="de-DE" sz="1400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EFED6B2-634C-7217-4059-22297E5F476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AF834C9-8FDB-D443-8511-FA2B85B454AC}" type="datetime1">
              <a:rPr lang="de-DE" sz="1400" smtClean="0"/>
              <a:t>24.06.2024</a:t>
            </a:fld>
            <a:endParaRPr lang="de-DE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8FFFFE7-117A-4160-812E-E6D8B5BC69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>
                <a:latin typeface="Calibri" panose="020F0502020204030204" pitchFamily="34" charset="0"/>
                <a:cs typeface="Calibri" panose="020F0502020204030204" pitchFamily="34" charset="0"/>
              </a:rPr>
              <a:t>Bitte Fußzeile definieren</a:t>
            </a:r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Inhaltsplatzhalter 3">
            <a:extLst>
              <a:ext uri="{FF2B5EF4-FFF2-40B4-BE49-F238E27FC236}">
                <a16:creationId xmlns:a16="http://schemas.microsoft.com/office/drawing/2014/main" id="{EC017B77-1D08-E35D-E02F-C148B85783F6}"/>
              </a:ext>
            </a:extLst>
          </p:cNvPr>
          <p:cNvSpPr txBox="1">
            <a:spLocks/>
          </p:cNvSpPr>
          <p:nvPr/>
        </p:nvSpPr>
        <p:spPr>
          <a:xfrm>
            <a:off x="5640637" y="1989136"/>
            <a:ext cx="6147411" cy="3808079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Lucida Grande" panose="020B0600040502020204" pitchFamily="34" charset="0"/>
              <a:buChar char="▸"/>
              <a:defRPr sz="2400" b="1" i="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Lucida Grande" panose="020B0600040502020204" pitchFamily="34" charset="0"/>
              <a:buChar char="▸"/>
              <a:defRPr sz="2000" b="0" i="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Lucida Grande" panose="020B0600040502020204" pitchFamily="34" charset="0"/>
              <a:buChar char="▸"/>
              <a:defRPr sz="1600" b="0" i="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Lucida Grande" panose="020B0600040502020204" pitchFamily="34" charset="0"/>
              <a:buChar char="▸"/>
              <a:defRPr sz="1600" b="0" i="0" kern="120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Lucida Grande" panose="020B0600040502020204" pitchFamily="34" charset="0"/>
              <a:buChar char="▸"/>
              <a:defRPr sz="1600" b="0" i="0" kern="120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90475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A72EB7-AA5B-1429-00BA-48ED7FB202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5. </a:t>
            </a:r>
            <a:r>
              <a:rPr lang="en-GB" dirty="0"/>
              <a:t>Final energy demand calculation 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US" dirty="0"/>
              <a:t> 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3BC43C2-A869-CE2C-9106-C4E6F49D75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0399" y="1060778"/>
            <a:ext cx="11226970" cy="431200"/>
          </a:xfrm>
        </p:spPr>
        <p:txBody>
          <a:bodyPr/>
          <a:lstStyle/>
          <a:p>
            <a:r>
              <a:rPr lang="en-US" dirty="0"/>
              <a:t>3. Final energy demand calculation - C) </a:t>
            </a:r>
            <a:r>
              <a:rPr lang="en-US" b="0" dirty="0"/>
              <a:t>Final energy demand</a:t>
            </a:r>
            <a:endParaRPr lang="en-US" dirty="0"/>
          </a:p>
          <a:p>
            <a:endParaRPr lang="en-US" b="0" dirty="0">
              <a:solidFill>
                <a:srgbClr val="10A1D1"/>
              </a:solidFill>
            </a:endParaRPr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07188BE9-386B-F9E0-6F1D-D1BE29066199}"/>
                  </a:ext>
                </a:extLst>
              </p:cNvPr>
              <p:cNvSpPr>
                <a:spLocks noGrp="1"/>
              </p:cNvSpPr>
              <p:nvPr>
                <p:ph sz="quarter" idx="20"/>
              </p:nvPr>
            </p:nvSpPr>
            <p:spPr>
              <a:xfrm>
                <a:off x="403952" y="1491978"/>
                <a:ext cx="11384096" cy="4482795"/>
              </a:xfrm>
            </p:spPr>
            <p:txBody>
              <a:bodyPr/>
              <a:lstStyle/>
              <a:p>
                <a:endParaRPr lang="en-GB" b="0" dirty="0"/>
              </a:p>
              <a:p>
                <a:endParaRPr lang="en-GB" b="0" dirty="0"/>
              </a:p>
              <a:p>
                <a:r>
                  <a:rPr lang="en-GB" b="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Final energy demand calculation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GB" b="0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</a:endParaRPr>
              </a:p>
              <a:p>
                <a:endParaRPr lang="en-GB" sz="3200" b="0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b="1" i="1" dirty="0" smtClean="0">
                          <a:latin typeface="Cambria Math" panose="02040503050406030204" pitchFamily="18" charset="0"/>
                        </a:rPr>
                        <m:t>𝑬𝑩𝑱</m:t>
                      </m:r>
                      <m:r>
                        <a:rPr lang="en-GB" sz="2800" b="1" i="1" dirty="0" smtClean="0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GB" sz="2800" b="1" i="1" dirty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sz="2800" b="1" i="1" dirty="0" err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1" i="1" dirty="0" err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GB" sz="2800" b="1" i="1" dirty="0" err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sub>
                      </m:sSub>
                      <m:r>
                        <a:rPr lang="en-GB" sz="2800" b="1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b="1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800" b="1" i="1" dirty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sz="2800" b="1" i="1" dirty="0" err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1" i="1" dirty="0" err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  <m:t>𝒓𝒉</m:t>
                          </m:r>
                        </m:sub>
                      </m:sSub>
                    </m:oMath>
                  </m:oMathPara>
                </a14:m>
                <a:endParaRPr lang="en-GB" sz="2800" b="1" dirty="0"/>
              </a:p>
            </p:txBody>
          </p:sp>
        </mc:Choice>
        <mc:Fallback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07188BE9-386B-F9E0-6F1D-D1BE290661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20"/>
              </p:nvPr>
            </p:nvSpPr>
            <p:spPr>
              <a:xfrm>
                <a:off x="403952" y="1491978"/>
                <a:ext cx="11384096" cy="4482795"/>
              </a:xfrm>
              <a:blipFill>
                <a:blip r:embed="rId3"/>
                <a:stretch>
                  <a:fillRect l="-8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55BB8CA-641A-0B44-F073-2B5426D2D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> </a:t>
            </a:r>
            <a:r>
              <a:rPr lang="de-DE" sz="1400"/>
              <a:t>Seite </a:t>
            </a:r>
            <a:fld id="{1009E830-1A31-2046-A084-D1E9F200294C}" type="slidenum">
              <a:rPr lang="de-DE" sz="1400" smtClean="0"/>
              <a:pPr/>
              <a:t>45</a:t>
            </a:fld>
            <a:endParaRPr lang="de-DE" sz="1400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EFED6B2-634C-7217-4059-22297E5F476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AF834C9-8FDB-D443-8511-FA2B85B454AC}" type="datetime1">
              <a:rPr lang="de-DE" sz="1400" smtClean="0"/>
              <a:t>24.06.2024</a:t>
            </a:fld>
            <a:endParaRPr lang="de-DE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8FFFFE7-117A-4160-812E-E6D8B5BC69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>
                <a:latin typeface="Calibri" panose="020F0502020204030204" pitchFamily="34" charset="0"/>
                <a:cs typeface="Calibri" panose="020F0502020204030204" pitchFamily="34" charset="0"/>
              </a:rPr>
              <a:t>Bitte Fußzeile definieren</a:t>
            </a:r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Inhaltsplatzhalter 3">
            <a:extLst>
              <a:ext uri="{FF2B5EF4-FFF2-40B4-BE49-F238E27FC236}">
                <a16:creationId xmlns:a16="http://schemas.microsoft.com/office/drawing/2014/main" id="{EC017B77-1D08-E35D-E02F-C148B85783F6}"/>
              </a:ext>
            </a:extLst>
          </p:cNvPr>
          <p:cNvSpPr txBox="1">
            <a:spLocks/>
          </p:cNvSpPr>
          <p:nvPr/>
        </p:nvSpPr>
        <p:spPr>
          <a:xfrm>
            <a:off x="5640637" y="1989136"/>
            <a:ext cx="6147411" cy="3808079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Lucida Grande" panose="020B0600040502020204" pitchFamily="34" charset="0"/>
              <a:buChar char="▸"/>
              <a:defRPr sz="2400" b="1" i="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Lucida Grande" panose="020B0600040502020204" pitchFamily="34" charset="0"/>
              <a:buChar char="▸"/>
              <a:defRPr sz="2000" b="0" i="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Lucida Grande" panose="020B0600040502020204" pitchFamily="34" charset="0"/>
              <a:buChar char="▸"/>
              <a:defRPr sz="1600" b="0" i="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Lucida Grande" panose="020B0600040502020204" pitchFamily="34" charset="0"/>
              <a:buChar char="▸"/>
              <a:defRPr sz="1600" b="0" i="0" kern="120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Lucida Grande" panose="020B0600040502020204" pitchFamily="34" charset="0"/>
              <a:buChar char="▸"/>
              <a:defRPr sz="1600" b="0" i="0" kern="120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90117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A72EB7-AA5B-1429-00BA-48ED7FB202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5. </a:t>
            </a:r>
            <a:r>
              <a:rPr lang="en-GB" dirty="0"/>
              <a:t>Final energy demand calculation 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US" dirty="0"/>
              <a:t> 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3BC43C2-A869-CE2C-9106-C4E6F49D75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0399" y="1060778"/>
            <a:ext cx="11226970" cy="431200"/>
          </a:xfrm>
        </p:spPr>
        <p:txBody>
          <a:bodyPr/>
          <a:lstStyle/>
          <a:p>
            <a:r>
              <a:rPr lang="en-US" dirty="0"/>
              <a:t>4. Cost calculation</a:t>
            </a:r>
          </a:p>
          <a:p>
            <a:endParaRPr lang="en-US" b="0" dirty="0">
              <a:solidFill>
                <a:srgbClr val="10A1D1"/>
              </a:solidFill>
            </a:endParaRPr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07188BE9-386B-F9E0-6F1D-D1BE29066199}"/>
                  </a:ext>
                </a:extLst>
              </p:cNvPr>
              <p:cNvSpPr>
                <a:spLocks noGrp="1"/>
              </p:cNvSpPr>
              <p:nvPr>
                <p:ph sz="quarter" idx="20"/>
              </p:nvPr>
            </p:nvSpPr>
            <p:spPr>
              <a:xfrm>
                <a:off x="403952" y="1491978"/>
                <a:ext cx="11384096" cy="4482795"/>
              </a:xfrm>
            </p:spPr>
            <p:txBody>
              <a:bodyPr/>
              <a:lstStyle/>
              <a:p>
                <a:r>
                  <a:rPr lang="en-GB" b="0" dirty="0"/>
                  <a:t>Import cost data from </a:t>
                </a:r>
                <a:r>
                  <a:rPr lang="en-GB" dirty="0"/>
                  <a:t>Parameters</a:t>
                </a:r>
                <a:r>
                  <a:rPr lang="en-GB" b="0" dirty="0"/>
                  <a:t> table on </a:t>
                </a:r>
                <a:r>
                  <a:rPr lang="en-GB" b="0" dirty="0">
                    <a:solidFill>
                      <a:srgbClr val="10A1D1"/>
                    </a:solidFill>
                  </a:rPr>
                  <a:t>hot water </a:t>
                </a:r>
                <a:r>
                  <a:rPr lang="en-GB" b="0" dirty="0"/>
                  <a:t>and </a:t>
                </a:r>
                <a:r>
                  <a:rPr lang="en-GB" b="0" dirty="0">
                    <a:solidFill>
                      <a:srgbClr val="C32B0D"/>
                    </a:solidFill>
                  </a:rPr>
                  <a:t>heating</a:t>
                </a:r>
                <a:r>
                  <a:rPr lang="en-GB" b="0" dirty="0"/>
                  <a:t> prices</a:t>
                </a:r>
              </a:p>
              <a:p>
                <a:endParaRPr lang="en-GB" b="0" dirty="0"/>
              </a:p>
              <a:p>
                <a:r>
                  <a:rPr lang="en-GB" b="0" dirty="0"/>
                  <a:t>Calculation of total cost of hot water: </a:t>
                </a:r>
                <a:endParaRPr lang="en-GB" b="0" i="1" dirty="0">
                  <a:solidFill>
                    <a:srgbClr val="10A1D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dirty="0" smtClean="0">
                              <a:solidFill>
                                <a:srgbClr val="10A1D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solidFill>
                                <a:srgbClr val="10A1D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GB" b="0" i="1" dirty="0" smtClean="0">
                              <a:solidFill>
                                <a:srgbClr val="10A1D1"/>
                              </a:solidFill>
                              <a:latin typeface="Cambria Math" panose="02040503050406030204" pitchFamily="18" charset="0"/>
                            </a:rPr>
                            <m:t>𝑤𝑤</m:t>
                          </m:r>
                        </m:sub>
                      </m:sSub>
                      <m:r>
                        <a:rPr lang="en-GB" b="0" i="1" dirty="0" smtClean="0">
                          <a:solidFill>
                            <a:srgbClr val="10A1D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𝑤𝑤𝑒𝑡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∗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𝑒𝑤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∗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h𝑒𝑎𝑡𝑖𝑛𝑔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𝑠𝑝𝑎𝑐𝑒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∗1.28/100</m:t>
                      </m:r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:endParaRPr lang="en-GB" b="0" dirty="0"/>
              </a:p>
              <a:p>
                <a:r>
                  <a:rPr lang="en-GB" b="0" dirty="0"/>
                  <a:t>Calculation of total cost of heating: </a:t>
                </a:r>
                <a:endParaRPr lang="en-GB" b="0" i="1" dirty="0">
                  <a:solidFill>
                    <a:srgbClr val="C32B0D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dirty="0" smtClean="0">
                              <a:solidFill>
                                <a:srgbClr val="C32B0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solidFill>
                                <a:srgbClr val="C32B0D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GB" b="0" i="1" dirty="0" err="1" smtClean="0">
                              <a:solidFill>
                                <a:srgbClr val="C32B0D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GB" b="0" i="1" dirty="0" smtClean="0">
                              <a:solidFill>
                                <a:srgbClr val="C32B0D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GB" b="0" i="1" dirty="0" smtClean="0">
                          <a:solidFill>
                            <a:srgbClr val="C32B0D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𝑟h𝑒𝑡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∗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𝑒h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∗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h𝑒𝑎𝑡𝑖𝑛𝑔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𝑠𝑝𝑎𝑐𝑒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∗1.28/100</m:t>
                      </m:r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:endParaRPr lang="en-GB" b="0" dirty="0"/>
              </a:p>
              <a:p>
                <a:r>
                  <a:rPr lang="en-GB" b="0" dirty="0"/>
                  <a:t>Absolute costs (EUR)/year:  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𝑲𝑫𝑱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GB" b="0" i="1" dirty="0" err="1" smtClean="0">
                            <a:solidFill>
                              <a:srgbClr val="10A1D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err="1" smtClean="0">
                            <a:solidFill>
                              <a:srgbClr val="10A1D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GB" b="0" i="1" dirty="0" err="1" smtClean="0">
                            <a:solidFill>
                              <a:srgbClr val="10A1D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GB" b="0" i="1" dirty="0" smtClean="0">
                            <a:solidFill>
                              <a:srgbClr val="10A1D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GB" b="0" i="1" dirty="0" smtClean="0">
                        <a:solidFill>
                          <a:srgbClr val="10A1D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GB" b="0" i="1" dirty="0" err="1" smtClean="0">
                            <a:solidFill>
                              <a:srgbClr val="C32B0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err="1" smtClean="0">
                            <a:solidFill>
                              <a:srgbClr val="C32B0D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GB" b="0" i="1" dirty="0" err="1" smtClean="0">
                            <a:solidFill>
                              <a:srgbClr val="C32B0D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GB" b="0" i="1" dirty="0" smtClean="0">
                            <a:solidFill>
                              <a:srgbClr val="C32B0D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endParaRPr lang="en-GB" sz="2000" b="0" dirty="0">
                  <a:solidFill>
                    <a:srgbClr val="C32B0D"/>
                  </a:solidFill>
                </a:endParaRPr>
              </a:p>
              <a:p>
                <a:endParaRPr lang="en-GB" sz="2000" b="0" dirty="0"/>
              </a:p>
            </p:txBody>
          </p:sp>
        </mc:Choice>
        <mc:Fallback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07188BE9-386B-F9E0-6F1D-D1BE290661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20"/>
              </p:nvPr>
            </p:nvSpPr>
            <p:spPr>
              <a:xfrm>
                <a:off x="403952" y="1491978"/>
                <a:ext cx="11384096" cy="4482795"/>
              </a:xfrm>
              <a:blipFill>
                <a:blip r:embed="rId3"/>
                <a:stretch>
                  <a:fillRect l="-803" t="-20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55BB8CA-641A-0B44-F073-2B5426D2D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> </a:t>
            </a:r>
            <a:r>
              <a:rPr lang="de-DE" sz="1400"/>
              <a:t>Seite </a:t>
            </a:r>
            <a:fld id="{1009E830-1A31-2046-A084-D1E9F200294C}" type="slidenum">
              <a:rPr lang="de-DE" sz="1400" smtClean="0"/>
              <a:pPr/>
              <a:t>46</a:t>
            </a:fld>
            <a:endParaRPr lang="de-DE" sz="1400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EFED6B2-634C-7217-4059-22297E5F476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AF834C9-8FDB-D443-8511-FA2B85B454AC}" type="datetime1">
              <a:rPr lang="de-DE" sz="1400" smtClean="0"/>
              <a:t>24.06.2024</a:t>
            </a:fld>
            <a:endParaRPr lang="de-DE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8FFFFE7-117A-4160-812E-E6D8B5BC69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>
                <a:latin typeface="Calibri" panose="020F0502020204030204" pitchFamily="34" charset="0"/>
                <a:cs typeface="Calibri" panose="020F0502020204030204" pitchFamily="34" charset="0"/>
              </a:rPr>
              <a:t>Bitte Fußzeile definieren</a:t>
            </a:r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Inhaltsplatzhalter 3">
            <a:extLst>
              <a:ext uri="{FF2B5EF4-FFF2-40B4-BE49-F238E27FC236}">
                <a16:creationId xmlns:a16="http://schemas.microsoft.com/office/drawing/2014/main" id="{EC017B77-1D08-E35D-E02F-C148B85783F6}"/>
              </a:ext>
            </a:extLst>
          </p:cNvPr>
          <p:cNvSpPr txBox="1">
            <a:spLocks/>
          </p:cNvSpPr>
          <p:nvPr/>
        </p:nvSpPr>
        <p:spPr>
          <a:xfrm>
            <a:off x="5640637" y="1989136"/>
            <a:ext cx="6147411" cy="3808079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Lucida Grande" panose="020B0600040502020204" pitchFamily="34" charset="0"/>
              <a:buChar char="▸"/>
              <a:defRPr sz="2400" b="1" i="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Lucida Grande" panose="020B0600040502020204" pitchFamily="34" charset="0"/>
              <a:buChar char="▸"/>
              <a:defRPr sz="2000" b="0" i="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Lucida Grande" panose="020B0600040502020204" pitchFamily="34" charset="0"/>
              <a:buChar char="▸"/>
              <a:defRPr sz="1600" b="0" i="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Lucida Grande" panose="020B0600040502020204" pitchFamily="34" charset="0"/>
              <a:buChar char="▸"/>
              <a:defRPr sz="1600" b="0" i="0" kern="120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Lucida Grande" panose="020B0600040502020204" pitchFamily="34" charset="0"/>
              <a:buChar char="▸"/>
              <a:defRPr sz="1600" b="0" i="0" kern="120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227135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7A86BFA-978A-764C-B5AF-9DED2F346C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3467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2BF76E1-0A38-5547-A653-80A3AFB3E41D}" type="datetime1">
              <a:rPr lang="en-US"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pPr defTabSz="914400">
                <a:spcAft>
                  <a:spcPts val="600"/>
                </a:spcAft>
              </a:pPr>
              <a:t>6/24/2024</a:t>
            </a:fld>
            <a:endParaRPr lang="en-US" sz="1200" dirty="0">
              <a:solidFill>
                <a:schemeClr val="tx1">
                  <a:tint val="75000"/>
                </a:schemeClr>
              </a:solidFill>
              <a:latin typeface="+mn-lt"/>
              <a:cs typeface="+mn-cs"/>
            </a:endParaRP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8FADBF7-226F-634C-874B-39F16B9FC6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05333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dirty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 </a:t>
            </a:r>
            <a:r>
              <a:rPr lang="en-US" dirty="0" err="1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Seite</a:t>
            </a:r>
            <a:r>
              <a:rPr lang="en-US" dirty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 </a:t>
            </a:r>
            <a:fld id="{1009E830-1A31-2046-A084-D1E9F200294C}" type="slidenum">
              <a:rPr lang="en-US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pPr defTabSz="914400">
                <a:spcAft>
                  <a:spcPts val="600"/>
                </a:spcAft>
              </a:pPr>
              <a:t>47</a:t>
            </a:fld>
            <a:endParaRPr lang="en-US" dirty="0">
              <a:solidFill>
                <a:schemeClr val="tx1">
                  <a:tint val="75000"/>
                </a:schemeClr>
              </a:solidFill>
              <a:latin typeface="+mn-lt"/>
              <a:cs typeface="+mn-cs"/>
            </a:endParaRPr>
          </a:p>
        </p:txBody>
      </p:sp>
      <p:sp>
        <p:nvSpPr>
          <p:cNvPr id="70" name="Isosceles Triangle 6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Isosceles Triangle 7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 descr="A graph of energy demand&#10;&#10;Description automatically generated">
            <a:extLst>
              <a:ext uri="{FF2B5EF4-FFF2-40B4-BE49-F238E27FC236}">
                <a16:creationId xmlns:a16="http://schemas.microsoft.com/office/drawing/2014/main" id="{0E87BC05-C5B0-E4FB-380E-E92AC4D10C09}"/>
              </a:ext>
            </a:extLst>
          </p:cNvPr>
          <p:cNvPicPr>
            <a:picLocks noGrp="1" noChangeAspect="1"/>
          </p:cNvPicPr>
          <p:nvPr>
            <p:ph sz="quarter" idx="19"/>
          </p:nvPr>
        </p:nvPicPr>
        <p:blipFill>
          <a:blip r:embed="rId2"/>
          <a:stretch>
            <a:fillRect/>
          </a:stretch>
        </p:blipFill>
        <p:spPr>
          <a:xfrm>
            <a:off x="1385769" y="778326"/>
            <a:ext cx="8932403" cy="5359442"/>
          </a:xfrm>
        </p:spPr>
      </p:pic>
    </p:spTree>
    <p:extLst>
      <p:ext uri="{BB962C8B-B14F-4D97-AF65-F5344CB8AC3E}">
        <p14:creationId xmlns:p14="http://schemas.microsoft.com/office/powerpoint/2010/main" val="30055692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7A86BFA-978A-764C-B5AF-9DED2F346C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3467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2BF76E1-0A38-5547-A653-80A3AFB3E41D}" type="datetime1">
              <a:rPr lang="en-US"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pPr defTabSz="914400">
                <a:spcAft>
                  <a:spcPts val="600"/>
                </a:spcAft>
              </a:pPr>
              <a:t>6/24/2024</a:t>
            </a:fld>
            <a:endParaRPr lang="en-US" sz="1200" dirty="0">
              <a:solidFill>
                <a:schemeClr val="tx1">
                  <a:tint val="75000"/>
                </a:schemeClr>
              </a:solidFill>
              <a:latin typeface="+mn-lt"/>
              <a:cs typeface="+mn-cs"/>
            </a:endParaRP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8FADBF7-226F-634C-874B-39F16B9FC6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05333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dirty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 </a:t>
            </a:r>
            <a:r>
              <a:rPr lang="en-US" dirty="0" err="1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Seite</a:t>
            </a:r>
            <a:r>
              <a:rPr lang="en-US" dirty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 </a:t>
            </a:r>
            <a:fld id="{1009E830-1A31-2046-A084-D1E9F200294C}" type="slidenum">
              <a:rPr lang="en-US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pPr defTabSz="914400">
                <a:spcAft>
                  <a:spcPts val="600"/>
                </a:spcAft>
              </a:pPr>
              <a:t>48</a:t>
            </a:fld>
            <a:endParaRPr lang="en-US" dirty="0">
              <a:solidFill>
                <a:schemeClr val="tx1">
                  <a:tint val="75000"/>
                </a:schemeClr>
              </a:solidFill>
              <a:latin typeface="+mn-lt"/>
              <a:cs typeface="+mn-cs"/>
            </a:endParaRPr>
          </a:p>
        </p:txBody>
      </p:sp>
      <p:sp>
        <p:nvSpPr>
          <p:cNvPr id="70" name="Isosceles Triangle 6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Isosceles Triangle 7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Content Placeholder 7" descr="A map of germany with different colored areas&#10;&#10;Description automatically generated">
            <a:extLst>
              <a:ext uri="{FF2B5EF4-FFF2-40B4-BE49-F238E27FC236}">
                <a16:creationId xmlns:a16="http://schemas.microsoft.com/office/drawing/2014/main" id="{F1CF868E-F638-59AD-177A-DF31DA8CBDD6}"/>
              </a:ext>
            </a:extLst>
          </p:cNvPr>
          <p:cNvPicPr>
            <a:picLocks noGrp="1" noChangeAspect="1"/>
          </p:cNvPicPr>
          <p:nvPr>
            <p:ph sz="quarter" idx="19"/>
          </p:nvPr>
        </p:nvPicPr>
        <p:blipFill rotWithShape="1">
          <a:blip r:embed="rId2"/>
          <a:srcRect l="14982" t="20592" b="23820"/>
          <a:stretch/>
        </p:blipFill>
        <p:spPr>
          <a:xfrm>
            <a:off x="2593941" y="922796"/>
            <a:ext cx="6211392" cy="5744048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77BE304-D430-1734-0037-A5CF2BA868FF}"/>
              </a:ext>
            </a:extLst>
          </p:cNvPr>
          <p:cNvSpPr txBox="1"/>
          <p:nvPr/>
        </p:nvSpPr>
        <p:spPr>
          <a:xfrm>
            <a:off x="1850964" y="499788"/>
            <a:ext cx="9456015" cy="36933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2400" b="1" dirty="0">
                <a:latin typeface="InfoOTDisp Semibold" panose="02000506040000020004" pitchFamily="2" charset="77"/>
              </a:rPr>
              <a:t>Weighted average </a:t>
            </a:r>
            <a:r>
              <a:rPr lang="en-GB" sz="2400" b="1" i="0" dirty="0">
                <a:latin typeface="InfoOTDisp Semibold" panose="02000506040000020004" pitchFamily="2" charset="77"/>
              </a:rPr>
              <a:t>Final energy demand across Germany states</a:t>
            </a:r>
          </a:p>
        </p:txBody>
      </p:sp>
    </p:spTree>
    <p:extLst>
      <p:ext uri="{BB962C8B-B14F-4D97-AF65-F5344CB8AC3E}">
        <p14:creationId xmlns:p14="http://schemas.microsoft.com/office/powerpoint/2010/main" val="371145841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rapez 4">
            <a:extLst>
              <a:ext uri="{FF2B5EF4-FFF2-40B4-BE49-F238E27FC236}">
                <a16:creationId xmlns:a16="http://schemas.microsoft.com/office/drawing/2014/main" id="{F7F0E96D-AB54-BB45-8DFC-DC4E9232F946}"/>
              </a:ext>
            </a:extLst>
          </p:cNvPr>
          <p:cNvSpPr>
            <a:spLocks noChangeAspect="1"/>
          </p:cNvSpPr>
          <p:nvPr/>
        </p:nvSpPr>
        <p:spPr>
          <a:xfrm>
            <a:off x="6008638" y="980"/>
            <a:ext cx="6184800" cy="6858509"/>
          </a:xfrm>
          <a:custGeom>
            <a:avLst/>
            <a:gdLst>
              <a:gd name="connsiteX0" fmla="*/ 0 w 3570514"/>
              <a:gd name="connsiteY0" fmla="*/ 6858000 h 6858000"/>
              <a:gd name="connsiteX1" fmla="*/ 892629 w 3570514"/>
              <a:gd name="connsiteY1" fmla="*/ 0 h 6858000"/>
              <a:gd name="connsiteX2" fmla="*/ 2677886 w 3570514"/>
              <a:gd name="connsiteY2" fmla="*/ 0 h 6858000"/>
              <a:gd name="connsiteX3" fmla="*/ 3570514 w 3570514"/>
              <a:gd name="connsiteY3" fmla="*/ 6858000 h 6858000"/>
              <a:gd name="connsiteX4" fmla="*/ 0 w 3570514"/>
              <a:gd name="connsiteY4" fmla="*/ 6858000 h 6858000"/>
              <a:gd name="connsiteX0" fmla="*/ 0 w 3570514"/>
              <a:gd name="connsiteY0" fmla="*/ 6858000 h 6858000"/>
              <a:gd name="connsiteX1" fmla="*/ 892629 w 3570514"/>
              <a:gd name="connsiteY1" fmla="*/ 0 h 6858000"/>
              <a:gd name="connsiteX2" fmla="*/ 3268825 w 3570514"/>
              <a:gd name="connsiteY2" fmla="*/ 0 h 6858000"/>
              <a:gd name="connsiteX3" fmla="*/ 3570514 w 3570514"/>
              <a:gd name="connsiteY3" fmla="*/ 6858000 h 6858000"/>
              <a:gd name="connsiteX4" fmla="*/ 0 w 3570514"/>
              <a:gd name="connsiteY4" fmla="*/ 6858000 h 6858000"/>
              <a:gd name="connsiteX0" fmla="*/ 0 w 3579846"/>
              <a:gd name="connsiteY0" fmla="*/ 6858000 h 6858000"/>
              <a:gd name="connsiteX1" fmla="*/ 892629 w 3579846"/>
              <a:gd name="connsiteY1" fmla="*/ 0 h 6858000"/>
              <a:gd name="connsiteX2" fmla="*/ 3579846 w 3579846"/>
              <a:gd name="connsiteY2" fmla="*/ 0 h 6858000"/>
              <a:gd name="connsiteX3" fmla="*/ 3570514 w 3579846"/>
              <a:gd name="connsiteY3" fmla="*/ 6858000 h 6858000"/>
              <a:gd name="connsiteX4" fmla="*/ 0 w 3579846"/>
              <a:gd name="connsiteY4" fmla="*/ 6858000 h 6858000"/>
              <a:gd name="connsiteX0" fmla="*/ 0 w 5427307"/>
              <a:gd name="connsiteY0" fmla="*/ 6864221 h 6864221"/>
              <a:gd name="connsiteX1" fmla="*/ 2740090 w 5427307"/>
              <a:gd name="connsiteY1" fmla="*/ 0 h 6864221"/>
              <a:gd name="connsiteX2" fmla="*/ 5427307 w 5427307"/>
              <a:gd name="connsiteY2" fmla="*/ 0 h 6864221"/>
              <a:gd name="connsiteX3" fmla="*/ 5417975 w 5427307"/>
              <a:gd name="connsiteY3" fmla="*/ 6858000 h 6864221"/>
              <a:gd name="connsiteX4" fmla="*/ 0 w 5427307"/>
              <a:gd name="connsiteY4" fmla="*/ 6864221 h 6864221"/>
              <a:gd name="connsiteX0" fmla="*/ 0 w 6189315"/>
              <a:gd name="connsiteY0" fmla="*/ 6864221 h 6864221"/>
              <a:gd name="connsiteX1" fmla="*/ 2740090 w 6189315"/>
              <a:gd name="connsiteY1" fmla="*/ 0 h 6864221"/>
              <a:gd name="connsiteX2" fmla="*/ 5427307 w 6189315"/>
              <a:gd name="connsiteY2" fmla="*/ 0 h 6864221"/>
              <a:gd name="connsiteX3" fmla="*/ 6189306 w 6189315"/>
              <a:gd name="connsiteY3" fmla="*/ 6858000 h 6864221"/>
              <a:gd name="connsiteX4" fmla="*/ 0 w 6189315"/>
              <a:gd name="connsiteY4" fmla="*/ 6864221 h 6864221"/>
              <a:gd name="connsiteX0" fmla="*/ 0 w 6192417"/>
              <a:gd name="connsiteY0" fmla="*/ 6864221 h 6864221"/>
              <a:gd name="connsiteX1" fmla="*/ 2740090 w 6192417"/>
              <a:gd name="connsiteY1" fmla="*/ 0 h 6864221"/>
              <a:gd name="connsiteX2" fmla="*/ 6192417 w 6192417"/>
              <a:gd name="connsiteY2" fmla="*/ 6221 h 6864221"/>
              <a:gd name="connsiteX3" fmla="*/ 6189306 w 6192417"/>
              <a:gd name="connsiteY3" fmla="*/ 6858000 h 6864221"/>
              <a:gd name="connsiteX4" fmla="*/ 0 w 6192417"/>
              <a:gd name="connsiteY4" fmla="*/ 6864221 h 6864221"/>
              <a:gd name="connsiteX0" fmla="*/ 0 w 6192417"/>
              <a:gd name="connsiteY0" fmla="*/ 6864730 h 6864730"/>
              <a:gd name="connsiteX1" fmla="*/ 2740090 w 6192417"/>
              <a:gd name="connsiteY1" fmla="*/ 509 h 6864730"/>
              <a:gd name="connsiteX2" fmla="*/ 6192417 w 6192417"/>
              <a:gd name="connsiteY2" fmla="*/ 0 h 6864730"/>
              <a:gd name="connsiteX3" fmla="*/ 6189306 w 6192417"/>
              <a:gd name="connsiteY3" fmla="*/ 6858509 h 6864730"/>
              <a:gd name="connsiteX4" fmla="*/ 0 w 6192417"/>
              <a:gd name="connsiteY4" fmla="*/ 6864730 h 6864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92417" h="6864730">
                <a:moveTo>
                  <a:pt x="0" y="6864730"/>
                </a:moveTo>
                <a:lnTo>
                  <a:pt x="2740090" y="509"/>
                </a:lnTo>
                <a:lnTo>
                  <a:pt x="6192417" y="0"/>
                </a:lnTo>
                <a:cubicBezTo>
                  <a:pt x="6189306" y="2286000"/>
                  <a:pt x="6192417" y="4572509"/>
                  <a:pt x="6189306" y="6858509"/>
                </a:cubicBezTo>
                <a:lnTo>
                  <a:pt x="0" y="6864730"/>
                </a:lnTo>
                <a:close/>
              </a:path>
            </a:pathLst>
          </a:custGeom>
          <a:blipFill>
            <a:blip r:embed="rId2"/>
            <a:srcRect/>
            <a:stretch>
              <a:fillRect l="-33211" r="-33211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u="sng" dirty="0"/>
          </a:p>
        </p:txBody>
      </p:sp>
      <p:sp>
        <p:nvSpPr>
          <p:cNvPr id="4" name="Rechtwinkliges Dreieck 3">
            <a:extLst>
              <a:ext uri="{FF2B5EF4-FFF2-40B4-BE49-F238E27FC236}">
                <a16:creationId xmlns:a16="http://schemas.microsoft.com/office/drawing/2014/main" id="{67B66A8B-EC2C-424F-A76D-9B30074849AB}"/>
              </a:ext>
            </a:extLst>
          </p:cNvPr>
          <p:cNvSpPr/>
          <p:nvPr/>
        </p:nvSpPr>
        <p:spPr>
          <a:xfrm>
            <a:off x="0" y="3070127"/>
            <a:ext cx="9319214" cy="3789362"/>
          </a:xfrm>
          <a:prstGeom prst="rtTriangle">
            <a:avLst/>
          </a:prstGeom>
          <a:gradFill>
            <a:gsLst>
              <a:gs pos="0">
                <a:schemeClr val="tx2">
                  <a:alpha val="23000"/>
                </a:schemeClr>
              </a:gs>
              <a:gs pos="100000">
                <a:schemeClr val="bg2">
                  <a:alpha val="63000"/>
                  <a:lumMod val="80000"/>
                  <a:lumOff val="2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63B15A9-AA88-8242-AFC7-396ADF5A3F44}"/>
              </a:ext>
            </a:extLst>
          </p:cNvPr>
          <p:cNvSpPr txBox="1">
            <a:spLocks/>
          </p:cNvSpPr>
          <p:nvPr/>
        </p:nvSpPr>
        <p:spPr>
          <a:xfrm>
            <a:off x="770400" y="1989138"/>
            <a:ext cx="7054388" cy="927682"/>
          </a:xfrm>
          <a:prstGeom prst="rect">
            <a:avLst/>
          </a:prstGeom>
        </p:spPr>
        <p:txBody>
          <a:bodyPr vert="horz" lIns="0" tIns="0" rIns="0" bIns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tabLst/>
              <a:defRPr sz="3200" b="1" i="0" kern="1200" cap="all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DE" dirty="0" err="1"/>
              <a:t>Thank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!</a:t>
            </a:r>
            <a:br>
              <a:rPr lang="de-DE" dirty="0"/>
            </a:br>
            <a:endParaRPr lang="en-US" dirty="0"/>
          </a:p>
        </p:txBody>
      </p:sp>
      <p:sp>
        <p:nvSpPr>
          <p:cNvPr id="6" name="Textplatzhalter 8">
            <a:extLst>
              <a:ext uri="{FF2B5EF4-FFF2-40B4-BE49-F238E27FC236}">
                <a16:creationId xmlns:a16="http://schemas.microsoft.com/office/drawing/2014/main" id="{344B7616-494D-7543-BE91-C4436531DC6E}"/>
              </a:ext>
            </a:extLst>
          </p:cNvPr>
          <p:cNvSpPr txBox="1">
            <a:spLocks/>
          </p:cNvSpPr>
          <p:nvPr/>
        </p:nvSpPr>
        <p:spPr>
          <a:xfrm>
            <a:off x="770400" y="3078862"/>
            <a:ext cx="7040909" cy="1439862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lIns="0" tIns="0" rIns="0" bIns="0" rtlCol="0" anchor="t" anchorCtr="0"/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2400" b="0" i="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RWI</a:t>
            </a:r>
          </a:p>
        </p:txBody>
      </p:sp>
      <p:sp>
        <p:nvSpPr>
          <p:cNvPr id="7" name="Textplatzhalter 30">
            <a:extLst>
              <a:ext uri="{FF2B5EF4-FFF2-40B4-BE49-F238E27FC236}">
                <a16:creationId xmlns:a16="http://schemas.microsoft.com/office/drawing/2014/main" id="{BF45584A-8C22-1441-88F3-C66FB3E1CDA5}"/>
              </a:ext>
            </a:extLst>
          </p:cNvPr>
          <p:cNvSpPr txBox="1">
            <a:spLocks/>
          </p:cNvSpPr>
          <p:nvPr/>
        </p:nvSpPr>
        <p:spPr>
          <a:xfrm>
            <a:off x="769938" y="4868863"/>
            <a:ext cx="3454400" cy="1439862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ts val="16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0" i="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InfoOTText" panose="02000506030000020004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InfoOTText" panose="02000506030000020004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InfoOTText" panose="02000506030000020004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InfoOTText" panose="02000506030000020004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Martin Milcetic</a:t>
            </a:r>
          </a:p>
        </p:txBody>
      </p:sp>
    </p:spTree>
    <p:extLst>
      <p:ext uri="{BB962C8B-B14F-4D97-AF65-F5344CB8AC3E}">
        <p14:creationId xmlns:p14="http://schemas.microsoft.com/office/powerpoint/2010/main" val="3544140845"/>
      </p:ext>
    </p:extLst>
  </p:cSld>
  <p:clrMapOvr>
    <a:masterClrMapping/>
  </p:clrMapOvr>
</p:sld>
</file>

<file path=ppt/theme/theme1.xml><?xml version="1.0" encoding="utf-8"?>
<a:theme xmlns:a="http://schemas.openxmlformats.org/drawingml/2006/main" name="1_Titelfolie Allgemein">
  <a:themeElements>
    <a:clrScheme name="RWI">
      <a:dk1>
        <a:srgbClr val="000000"/>
      </a:dk1>
      <a:lt1>
        <a:srgbClr val="FFFFFF"/>
      </a:lt1>
      <a:dk2>
        <a:srgbClr val="009DD0"/>
      </a:dk2>
      <a:lt2>
        <a:srgbClr val="B3AD12"/>
      </a:lt2>
      <a:accent1>
        <a:srgbClr val="B3AD12"/>
      </a:accent1>
      <a:accent2>
        <a:srgbClr val="009DD0"/>
      </a:accent2>
      <a:accent3>
        <a:srgbClr val="183051"/>
      </a:accent3>
      <a:accent4>
        <a:srgbClr val="007858"/>
      </a:accent4>
      <a:accent5>
        <a:srgbClr val="E8E100"/>
      </a:accent5>
      <a:accent6>
        <a:srgbClr val="005871"/>
      </a:accent6>
      <a:hlink>
        <a:srgbClr val="10A0D0"/>
      </a:hlink>
      <a:folHlink>
        <a:srgbClr val="B6B81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 anchor="t" anchorCtr="0">
        <a:spAutoFit/>
      </a:bodyPr>
      <a:lstStyle>
        <a:defPPr marL="0" marR="0" indent="0" algn="l" defTabSz="4572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sz="2400" b="1" i="0" dirty="0" err="1" smtClean="0">
            <a:solidFill>
              <a:schemeClr val="tx2"/>
            </a:solidFill>
            <a:latin typeface="InfoOTDisp Semibold" panose="02000506040000020004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Kapiteltrenner mit Illustration">
  <a:themeElements>
    <a:clrScheme name="RWI">
      <a:dk1>
        <a:srgbClr val="000000"/>
      </a:dk1>
      <a:lt1>
        <a:srgbClr val="FFFFFF"/>
      </a:lt1>
      <a:dk2>
        <a:srgbClr val="009DD0"/>
      </a:dk2>
      <a:lt2>
        <a:srgbClr val="B3AD12"/>
      </a:lt2>
      <a:accent1>
        <a:srgbClr val="B3AD12"/>
      </a:accent1>
      <a:accent2>
        <a:srgbClr val="009DD0"/>
      </a:accent2>
      <a:accent3>
        <a:srgbClr val="183051"/>
      </a:accent3>
      <a:accent4>
        <a:srgbClr val="007858"/>
      </a:accent4>
      <a:accent5>
        <a:srgbClr val="E8E100"/>
      </a:accent5>
      <a:accent6>
        <a:srgbClr val="005871"/>
      </a:accent6>
      <a:hlink>
        <a:srgbClr val="10A0D0"/>
      </a:hlink>
      <a:folHlink>
        <a:srgbClr val="B6B81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 anchor="t" anchorCtr="0">
        <a:spAutoFit/>
      </a:bodyPr>
      <a:lstStyle>
        <a:defPPr marL="0" marR="0" indent="0" algn="l" defTabSz="4572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sz="2400" b="1" i="0" dirty="0" err="1" smtClean="0">
            <a:solidFill>
              <a:schemeClr val="tx2"/>
            </a:solidFill>
            <a:latin typeface="InfoOTDisp Semibold" panose="02000506040000020004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Kapitel KB-Bild">
  <a:themeElements>
    <a:clrScheme name="RWI">
      <a:dk1>
        <a:srgbClr val="000000"/>
      </a:dk1>
      <a:lt1>
        <a:srgbClr val="FFFFFF"/>
      </a:lt1>
      <a:dk2>
        <a:srgbClr val="009DD0"/>
      </a:dk2>
      <a:lt2>
        <a:srgbClr val="B3AD12"/>
      </a:lt2>
      <a:accent1>
        <a:srgbClr val="B3AD12"/>
      </a:accent1>
      <a:accent2>
        <a:srgbClr val="009DD0"/>
      </a:accent2>
      <a:accent3>
        <a:srgbClr val="183051"/>
      </a:accent3>
      <a:accent4>
        <a:srgbClr val="007858"/>
      </a:accent4>
      <a:accent5>
        <a:srgbClr val="E8E100"/>
      </a:accent5>
      <a:accent6>
        <a:srgbClr val="005871"/>
      </a:accent6>
      <a:hlink>
        <a:srgbClr val="10A0D0"/>
      </a:hlink>
      <a:folHlink>
        <a:srgbClr val="B6B81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 anchor="t" anchorCtr="0">
        <a:spAutoFit/>
      </a:bodyPr>
      <a:lstStyle>
        <a:defPPr marL="0" marR="0" indent="0" algn="l" defTabSz="4572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sz="2400" b="1" i="0" dirty="0" err="1" smtClean="0">
            <a:solidFill>
              <a:schemeClr val="tx2"/>
            </a:solidFill>
            <a:latin typeface="InfoOTDisp Semibold" panose="02000506040000020004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Inhalt">
  <a:themeElements>
    <a:clrScheme name="Farben RWI 2020_10">
      <a:dk1>
        <a:srgbClr val="000000"/>
      </a:dk1>
      <a:lt1>
        <a:srgbClr val="FFFFFF"/>
      </a:lt1>
      <a:dk2>
        <a:srgbClr val="009DD0"/>
      </a:dk2>
      <a:lt2>
        <a:srgbClr val="B3AD12"/>
      </a:lt2>
      <a:accent1>
        <a:srgbClr val="B3AD12"/>
      </a:accent1>
      <a:accent2>
        <a:srgbClr val="009DD0"/>
      </a:accent2>
      <a:accent3>
        <a:srgbClr val="183051"/>
      </a:accent3>
      <a:accent4>
        <a:srgbClr val="007858"/>
      </a:accent4>
      <a:accent5>
        <a:srgbClr val="E8E100"/>
      </a:accent5>
      <a:accent6>
        <a:srgbClr val="005871"/>
      </a:accent6>
      <a:hlink>
        <a:srgbClr val="009DD0"/>
      </a:hlink>
      <a:folHlink>
        <a:srgbClr val="B3AD1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 anchor="t" anchorCtr="0">
        <a:spAutoFit/>
      </a:bodyPr>
      <a:lstStyle>
        <a:defPPr marL="0" marR="0" indent="0" algn="l" defTabSz="4572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sz="2400" b="1" i="0" dirty="0" err="1" smtClean="0">
            <a:solidFill>
              <a:schemeClr val="tx2"/>
            </a:solidFill>
            <a:latin typeface="InfoOTDisp Semibold" panose="02000506040000020004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26D8D3F35263B418304A996E102FEB0" ma:contentTypeVersion="11" ma:contentTypeDescription="Ein neues Dokument erstellen." ma:contentTypeScope="" ma:versionID="c0b0ae54207850d9874171917dac895f">
  <xsd:schema xmlns:xsd="http://www.w3.org/2001/XMLSchema" xmlns:xs="http://www.w3.org/2001/XMLSchema" xmlns:p="http://schemas.microsoft.com/office/2006/metadata/properties" xmlns:ns2="d4119795-8c58-4daf-b8ef-4f05caab01c0" xmlns:ns3="00c94d55-020a-4563-a133-66e3c4276e7d" targetNamespace="http://schemas.microsoft.com/office/2006/metadata/properties" ma:root="true" ma:fieldsID="5871c9b434294b0bea55b9e00a38bd07" ns2:_="" ns3:_="">
    <xsd:import namespace="d4119795-8c58-4daf-b8ef-4f05caab01c0"/>
    <xsd:import namespace="00c94d55-020a-4563-a133-66e3c4276e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119795-8c58-4daf-b8ef-4f05caab01c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6fd43f81-236b-4232-b21d-d76ad57b8a0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c94d55-020a-4563-a133-66e3c4276e7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c10a471-6445-4b8f-ae2a-b56bcb741049}" ma:internalName="TaxCatchAll" ma:showField="CatchAllData" ma:web="00c94d55-020a-4563-a133-66e3c4276e7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0c94d55-020a-4563-a133-66e3c4276e7d" xsi:nil="true"/>
    <lcf76f155ced4ddcb4097134ff3c332f xmlns="d4119795-8c58-4daf-b8ef-4f05caab01c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5B9DCBE-997E-4523-9700-8DDC7B05529C}"/>
</file>

<file path=customXml/itemProps2.xml><?xml version="1.0" encoding="utf-8"?>
<ds:datastoreItem xmlns:ds="http://schemas.openxmlformats.org/officeDocument/2006/customXml" ds:itemID="{18AB40E8-4B94-40A6-8AE0-A412304CA40D}"/>
</file>

<file path=customXml/itemProps3.xml><?xml version="1.0" encoding="utf-8"?>
<ds:datastoreItem xmlns:ds="http://schemas.openxmlformats.org/officeDocument/2006/customXml" ds:itemID="{0C807EA9-E641-4EFA-BEA4-AC0B9A89BAA5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5535</Words>
  <Application>Microsoft Office PowerPoint</Application>
  <PresentationFormat>Widescreen</PresentationFormat>
  <Paragraphs>1699</Paragraphs>
  <Slides>49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49</vt:i4>
      </vt:variant>
    </vt:vector>
  </HeadingPairs>
  <TitlesOfParts>
    <vt:vector size="65" baseType="lpstr">
      <vt:lpstr>Arial</vt:lpstr>
      <vt:lpstr>Arial Narrow</vt:lpstr>
      <vt:lpstr>Calibri</vt:lpstr>
      <vt:lpstr>Calibri (Body)</vt:lpstr>
      <vt:lpstr>Cambria</vt:lpstr>
      <vt:lpstr>Cambria Math</vt:lpstr>
      <vt:lpstr>Consolas</vt:lpstr>
      <vt:lpstr>InfoOTDisp Semibold</vt:lpstr>
      <vt:lpstr>InfoOTText</vt:lpstr>
      <vt:lpstr>InfoOTText Semibold</vt:lpstr>
      <vt:lpstr>Lucida Grande</vt:lpstr>
      <vt:lpstr>Symbol</vt:lpstr>
      <vt:lpstr>1_Titelfolie Allgemein</vt:lpstr>
      <vt:lpstr>2_Kapiteltrenner mit Illustration</vt:lpstr>
      <vt:lpstr>3_Kapitel KB-Bild</vt:lpstr>
      <vt:lpstr>4_Inhalt</vt:lpstr>
      <vt:lpstr>Final Energy Demand Calculation</vt:lpstr>
      <vt:lpstr>Summary</vt:lpstr>
      <vt:lpstr>0. Master file</vt:lpstr>
      <vt:lpstr>0. Master file</vt:lpstr>
      <vt:lpstr>1. Wärme- &amp; Wohnen-Panel (WUW) Data </vt:lpstr>
      <vt:lpstr>2. Load parameters </vt:lpstr>
      <vt:lpstr>1. Load U-values: Roof, Top Floor, Walls &amp; Floor</vt:lpstr>
      <vt:lpstr>1. Load U-values and G-VALUES WINDOWS</vt:lpstr>
      <vt:lpstr>2. Climate coefficients</vt:lpstr>
      <vt:lpstr>3. Costs per energy source </vt:lpstr>
      <vt:lpstr>4. Hot water distribution: Wd  </vt:lpstr>
      <vt:lpstr>5. Hot water storage: Ws   </vt:lpstr>
      <vt:lpstr>6. Hot water generation: Wg    </vt:lpstr>
      <vt:lpstr>7. Heating transfer: Hce     </vt:lpstr>
      <vt:lpstr>8. Heat distribution: Hd      </vt:lpstr>
      <vt:lpstr>9. Heat storage: Hs       </vt:lpstr>
      <vt:lpstr>10. Heat generation: Hg        </vt:lpstr>
      <vt:lpstr>3. Defining technology USED BY HH in the dataset</vt:lpstr>
      <vt:lpstr>4. energy balance of a building   </vt:lpstr>
      <vt:lpstr>4. 1. Setting the parameters </vt:lpstr>
      <vt:lpstr>4. 2. Selection of U values</vt:lpstr>
      <vt:lpstr>4. 2. Selection of U values</vt:lpstr>
      <vt:lpstr>4. 2. Selection of U values</vt:lpstr>
      <vt:lpstr>4. 2. Selection of U values</vt:lpstr>
      <vt:lpstr>4. 2. Selection of U values</vt:lpstr>
      <vt:lpstr>4. 2. Selection of U values</vt:lpstr>
      <vt:lpstr>4. 2. Selection of U values</vt:lpstr>
      <vt:lpstr>4. 2. Selection of U values</vt:lpstr>
      <vt:lpstr>4. 2. Selection of U values</vt:lpstr>
      <vt:lpstr>4. 2. Selection of U values</vt:lpstr>
      <vt:lpstr>4. 3. Pre - calculations of the building</vt:lpstr>
      <vt:lpstr>4. 4. Calculation: Transmission heat loss</vt:lpstr>
      <vt:lpstr>4. 4. Calculation: Transmission heat loss</vt:lpstr>
      <vt:lpstr>4. 4. Calculation: Transmission heat loss</vt:lpstr>
      <vt:lpstr>4. 5. Calculation: Heating demand </vt:lpstr>
      <vt:lpstr>4. 5. Calculation: Heating demand</vt:lpstr>
      <vt:lpstr>4. 5. Calculation: Heating demand</vt:lpstr>
      <vt:lpstr>4. 5. Calculation: Heating demand</vt:lpstr>
      <vt:lpstr>5. Final energy demand calculation     </vt:lpstr>
      <vt:lpstr>5. Final energy demand calculation     </vt:lpstr>
      <vt:lpstr>5. Final energy demand calculation     </vt:lpstr>
      <vt:lpstr>5. Final energy demand calculation     </vt:lpstr>
      <vt:lpstr>5. Final energy demand calculation     </vt:lpstr>
      <vt:lpstr>5. Final energy demand calculation     </vt:lpstr>
      <vt:lpstr>5. Final energy demand calculation     </vt:lpstr>
      <vt:lpstr>5. Final energy demand calculation    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Franke, Magdalena</dc:creator>
  <cp:lastModifiedBy>Milcetic, Martina</cp:lastModifiedBy>
  <cp:revision>584</cp:revision>
  <dcterms:created xsi:type="dcterms:W3CDTF">2020-06-25T07:42:47Z</dcterms:created>
  <dcterms:modified xsi:type="dcterms:W3CDTF">2024-06-24T17:14:50Z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854b9cd-2ce7-4de9-b239-edf358d6fc2e_Enabled">
    <vt:lpwstr>true</vt:lpwstr>
  </property>
  <property fmtid="{D5CDD505-2E9C-101B-9397-08002B2CF9AE}" pid="3" name="MSIP_Label_3854b9cd-2ce7-4de9-b239-edf358d6fc2e_SetDate">
    <vt:lpwstr>2024-05-13T06:01:30Z</vt:lpwstr>
  </property>
  <property fmtid="{D5CDD505-2E9C-101B-9397-08002B2CF9AE}" pid="4" name="MSIP_Label_3854b9cd-2ce7-4de9-b239-edf358d6fc2e_Method">
    <vt:lpwstr>Standard</vt:lpwstr>
  </property>
  <property fmtid="{D5CDD505-2E9C-101B-9397-08002B2CF9AE}" pid="5" name="MSIP_Label_3854b9cd-2ce7-4de9-b239-edf358d6fc2e_Name">
    <vt:lpwstr>defa4170-0d19-0005-0004-bc88714345d2</vt:lpwstr>
  </property>
  <property fmtid="{D5CDD505-2E9C-101B-9397-08002B2CF9AE}" pid="6" name="MSIP_Label_3854b9cd-2ce7-4de9-b239-edf358d6fc2e_SiteId">
    <vt:lpwstr>e2d2f81b-8f0e-457b-8c0f-16d7308ff6d9</vt:lpwstr>
  </property>
  <property fmtid="{D5CDD505-2E9C-101B-9397-08002B2CF9AE}" pid="7" name="MSIP_Label_3854b9cd-2ce7-4de9-b239-edf358d6fc2e_ActionId">
    <vt:lpwstr>ee0af518-f4d8-48e4-8581-a6398c564510</vt:lpwstr>
  </property>
  <property fmtid="{D5CDD505-2E9C-101B-9397-08002B2CF9AE}" pid="8" name="MSIP_Label_3854b9cd-2ce7-4de9-b239-edf358d6fc2e_ContentBits">
    <vt:lpwstr>0</vt:lpwstr>
  </property>
  <property fmtid="{D5CDD505-2E9C-101B-9397-08002B2CF9AE}" pid="9" name="ContentTypeId">
    <vt:lpwstr>0x010100726D8D3F35263B418304A996E102FEB0</vt:lpwstr>
  </property>
</Properties>
</file>